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chart2.xml" ContentType="application/vnd.openxmlformats-officedocument.drawingml.chart+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3.xml" ContentType="application/vnd.openxmlformats-officedocument.drawingml.chart+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66" r:id="rId4"/>
    <p:sldId id="268" r:id="rId5"/>
    <p:sldId id="267" r:id="rId6"/>
    <p:sldId id="284" r:id="rId7"/>
    <p:sldId id="269" r:id="rId8"/>
    <p:sldId id="272" r:id="rId9"/>
    <p:sldId id="274" r:id="rId10"/>
    <p:sldId id="285" r:id="rId11"/>
    <p:sldId id="270" r:id="rId12"/>
    <p:sldId id="276" r:id="rId13"/>
    <p:sldId id="278" r:id="rId14"/>
    <p:sldId id="286" r:id="rId15"/>
    <p:sldId id="265" r:id="rId16"/>
    <p:sldId id="261" r:id="rId17"/>
    <p:sldId id="280" r:id="rId18"/>
    <p:sldId id="262" r:id="rId19"/>
    <p:sldId id="282" r:id="rId20"/>
    <p:sldId id="283" r:id="rId21"/>
    <p:sldId id="263" r:id="rId22"/>
    <p:sldId id="287" r:id="rId2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7706"/>
    <a:srgbClr val="0D9488"/>
    <a:srgbClr val="059669"/>
    <a:srgbClr val="E39B47"/>
    <a:srgbClr val="E05252"/>
    <a:srgbClr val="C026D3"/>
    <a:srgbClr val="569CE2"/>
    <a:srgbClr val="66A5E5"/>
    <a:srgbClr val="E7F1FB"/>
    <a:srgbClr val="00B4D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38" d="100"/>
          <a:sy n="138" d="100"/>
        </p:scale>
        <p:origin x="834" y="120"/>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Betweenness Centrality</c:v>
                </c:pt>
              </c:strCache>
            </c:strRef>
          </c:tx>
          <c:spPr>
            <a:solidFill>
              <a:srgbClr val="0D9488"/>
            </a:solidFill>
            <a:effectLst/>
          </c:spPr>
          <c:invertIfNegative val="0"/>
          <c:dPt>
            <c:idx val="0"/>
            <c:invertIfNegative val="0"/>
            <c:bubble3D val="0"/>
            <c:extLst>
              <c:ext xmlns:c16="http://schemas.microsoft.com/office/drawing/2014/chart" uri="{C3380CC4-5D6E-409C-BE32-E72D297353CC}">
                <c16:uniqueId val="{00000000-F779-482B-937E-B371662BF6E7}"/>
              </c:ext>
            </c:extLst>
          </c:dPt>
          <c:dPt>
            <c:idx val="1"/>
            <c:invertIfNegative val="0"/>
            <c:bubble3D val="0"/>
            <c:extLst>
              <c:ext xmlns:c16="http://schemas.microsoft.com/office/drawing/2014/chart" uri="{C3380CC4-5D6E-409C-BE32-E72D297353CC}">
                <c16:uniqueId val="{00000001-F779-482B-937E-B371662BF6E7}"/>
              </c:ext>
            </c:extLst>
          </c:dPt>
          <c:dPt>
            <c:idx val="2"/>
            <c:invertIfNegative val="0"/>
            <c:bubble3D val="0"/>
            <c:extLst>
              <c:ext xmlns:c16="http://schemas.microsoft.com/office/drawing/2014/chart" uri="{C3380CC4-5D6E-409C-BE32-E72D297353CC}">
                <c16:uniqueId val="{00000002-F779-482B-937E-B371662BF6E7}"/>
              </c:ext>
            </c:extLst>
          </c:dPt>
          <c:dPt>
            <c:idx val="3"/>
            <c:invertIfNegative val="0"/>
            <c:bubble3D val="0"/>
            <c:spPr>
              <a:solidFill>
                <a:srgbClr val="14B8A6"/>
              </a:solidFill>
              <a:effectLst/>
            </c:spPr>
            <c:extLst>
              <c:ext xmlns:c16="http://schemas.microsoft.com/office/drawing/2014/chart" uri="{C3380CC4-5D6E-409C-BE32-E72D297353CC}">
                <c16:uniqueId val="{00000004-F779-482B-937E-B371662BF6E7}"/>
              </c:ext>
            </c:extLst>
          </c:dPt>
          <c:dPt>
            <c:idx val="4"/>
            <c:invertIfNegative val="0"/>
            <c:bubble3D val="0"/>
            <c:spPr>
              <a:solidFill>
                <a:srgbClr val="14B8A6"/>
              </a:solidFill>
              <a:effectLst/>
            </c:spPr>
            <c:extLst>
              <c:ext xmlns:c16="http://schemas.microsoft.com/office/drawing/2014/chart" uri="{C3380CC4-5D6E-409C-BE32-E72D297353CC}">
                <c16:uniqueId val="{00000006-F779-482B-937E-B371662BF6E7}"/>
              </c:ext>
            </c:extLst>
          </c:dPt>
          <c:dPt>
            <c:idx val="5"/>
            <c:invertIfNegative val="0"/>
            <c:bubble3D val="0"/>
            <c:spPr>
              <a:solidFill>
                <a:srgbClr val="14B8A6"/>
              </a:solidFill>
              <a:effectLst/>
            </c:spPr>
            <c:extLst>
              <c:ext xmlns:c16="http://schemas.microsoft.com/office/drawing/2014/chart" uri="{C3380CC4-5D6E-409C-BE32-E72D297353CC}">
                <c16:uniqueId val="{00000008-F779-482B-937E-B371662BF6E7}"/>
              </c:ext>
            </c:extLst>
          </c:dPt>
          <c:dPt>
            <c:idx val="6"/>
            <c:invertIfNegative val="0"/>
            <c:bubble3D val="0"/>
            <c:spPr>
              <a:solidFill>
                <a:srgbClr val="2DD4BF"/>
              </a:solidFill>
              <a:effectLst/>
            </c:spPr>
            <c:extLst>
              <c:ext xmlns:c16="http://schemas.microsoft.com/office/drawing/2014/chart" uri="{C3380CC4-5D6E-409C-BE32-E72D297353CC}">
                <c16:uniqueId val="{0000000A-F779-482B-937E-B371662BF6E7}"/>
              </c:ext>
            </c:extLst>
          </c:dPt>
          <c:dPt>
            <c:idx val="7"/>
            <c:invertIfNegative val="0"/>
            <c:bubble3D val="0"/>
            <c:spPr>
              <a:solidFill>
                <a:srgbClr val="2DD4BF"/>
              </a:solidFill>
              <a:effectLst/>
            </c:spPr>
            <c:extLst>
              <c:ext xmlns:c16="http://schemas.microsoft.com/office/drawing/2014/chart" uri="{C3380CC4-5D6E-409C-BE32-E72D297353CC}">
                <c16:uniqueId val="{0000000C-F779-482B-937E-B371662BF6E7}"/>
              </c:ext>
            </c:extLst>
          </c:dPt>
          <c:dPt>
            <c:idx val="8"/>
            <c:invertIfNegative val="0"/>
            <c:bubble3D val="0"/>
            <c:spPr>
              <a:solidFill>
                <a:srgbClr val="2DD4BF"/>
              </a:solidFill>
              <a:effectLst/>
            </c:spPr>
            <c:extLst>
              <c:ext xmlns:c16="http://schemas.microsoft.com/office/drawing/2014/chart" uri="{C3380CC4-5D6E-409C-BE32-E72D297353CC}">
                <c16:uniqueId val="{0000000E-F779-482B-937E-B371662BF6E7}"/>
              </c:ext>
            </c:extLst>
          </c:dPt>
          <c:dPt>
            <c:idx val="9"/>
            <c:invertIfNegative val="0"/>
            <c:bubble3D val="0"/>
            <c:spPr>
              <a:solidFill>
                <a:srgbClr val="5EEAD4"/>
              </a:solidFill>
              <a:effectLst/>
            </c:spPr>
            <c:extLst>
              <c:ext xmlns:c16="http://schemas.microsoft.com/office/drawing/2014/chart" uri="{C3380CC4-5D6E-409C-BE32-E72D297353CC}">
                <c16:uniqueId val="{00000010-F779-482B-937E-B371662BF6E7}"/>
              </c:ext>
            </c:extLst>
          </c:dPt>
          <c:dPt>
            <c:idx val="10"/>
            <c:invertIfNegative val="0"/>
            <c:bubble3D val="0"/>
            <c:spPr>
              <a:solidFill>
                <a:srgbClr val="5EEAD4"/>
              </a:solidFill>
              <a:effectLst/>
            </c:spPr>
            <c:extLst>
              <c:ext xmlns:c16="http://schemas.microsoft.com/office/drawing/2014/chart" uri="{C3380CC4-5D6E-409C-BE32-E72D297353CC}">
                <c16:uniqueId val="{00000012-F779-482B-937E-B371662BF6E7}"/>
              </c:ext>
            </c:extLst>
          </c:dPt>
          <c:dPt>
            <c:idx val="11"/>
            <c:invertIfNegative val="0"/>
            <c:bubble3D val="0"/>
            <c:spPr>
              <a:solidFill>
                <a:srgbClr val="E05252"/>
              </a:solidFill>
              <a:effectLst/>
            </c:spPr>
            <c:extLst>
              <c:ext xmlns:c16="http://schemas.microsoft.com/office/drawing/2014/chart" uri="{C3380CC4-5D6E-409C-BE32-E72D297353CC}">
                <c16:uniqueId val="{00000014-F779-482B-937E-B371662BF6E7}"/>
              </c:ext>
            </c:extLst>
          </c:dPt>
          <c:cat>
            <c:strRef>
              <c:f>Sheet1!$A$2:$A$13</c:f>
              <c:strCache>
                <c:ptCount val="12"/>
                <c:pt idx="0">
                  <c:v>Breast Cancer</c:v>
                </c:pt>
                <c:pt idx="1">
                  <c:v>Pain</c:v>
                </c:pt>
                <c:pt idx="2">
                  <c:v>Obesity</c:v>
                </c:pt>
                <c:pt idx="3">
                  <c:v>Knee Osteoarthritis</c:v>
                </c:pt>
                <c:pt idx="4">
                  <c:v>Stroke</c:v>
                </c:pt>
                <c:pt idx="5">
                  <c:v>Hypertension</c:v>
                </c:pt>
                <c:pt idx="6">
                  <c:v>Heart Failure</c:v>
                </c:pt>
                <c:pt idx="7">
                  <c:v>Cardiovascular Dis.</c:v>
                </c:pt>
                <c:pt idx="8">
                  <c:v>Prostate Cancer</c:v>
                </c:pt>
                <c:pt idx="9">
                  <c:v>Infertility</c:v>
                </c:pt>
                <c:pt idx="10">
                  <c:v>Depression</c:v>
                </c:pt>
                <c:pt idx="11">
                  <c:v>Dexamethasone</c:v>
                </c:pt>
              </c:strCache>
            </c:strRef>
          </c:cat>
          <c:val>
            <c:numRef>
              <c:f>Sheet1!$B$2:$B$13</c:f>
              <c:numCache>
                <c:formatCode>General</c:formatCode>
                <c:ptCount val="12"/>
                <c:pt idx="0">
                  <c:v>2.2270000000000002E-2</c:v>
                </c:pt>
                <c:pt idx="1">
                  <c:v>2.222E-2</c:v>
                </c:pt>
                <c:pt idx="2">
                  <c:v>2.198E-2</c:v>
                </c:pt>
                <c:pt idx="3">
                  <c:v>2.0140000000000002E-2</c:v>
                </c:pt>
                <c:pt idx="4">
                  <c:v>1.6979999999999999E-2</c:v>
                </c:pt>
                <c:pt idx="5">
                  <c:v>1.627E-2</c:v>
                </c:pt>
                <c:pt idx="6">
                  <c:v>1.455E-2</c:v>
                </c:pt>
                <c:pt idx="7">
                  <c:v>1.2880000000000001E-2</c:v>
                </c:pt>
                <c:pt idx="8">
                  <c:v>1.2630000000000001E-2</c:v>
                </c:pt>
                <c:pt idx="9">
                  <c:v>1.167E-2</c:v>
                </c:pt>
                <c:pt idx="10">
                  <c:v>1.1299999999999999E-2</c:v>
                </c:pt>
                <c:pt idx="11">
                  <c:v>8.9300000000000004E-3</c:v>
                </c:pt>
              </c:numCache>
            </c:numRef>
          </c:val>
          <c:extLst>
            <c:ext xmlns:c16="http://schemas.microsoft.com/office/drawing/2014/chart" uri="{C3380CC4-5D6E-409C-BE32-E72D297353CC}">
              <c16:uniqueId val="{00000015-F779-482B-937E-B371662BF6E7}"/>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Degree Centrality</c:v>
                </c:pt>
              </c:strCache>
            </c:strRef>
          </c:tx>
          <c:spPr>
            <a:solidFill>
              <a:srgbClr val="5B4FCF"/>
            </a:solidFill>
            <a:effectLst/>
          </c:spPr>
          <c:invertIfNegative val="0"/>
          <c:dPt>
            <c:idx val="0"/>
            <c:invertIfNegative val="0"/>
            <c:bubble3D val="0"/>
            <c:extLst>
              <c:ext xmlns:c16="http://schemas.microsoft.com/office/drawing/2014/chart" uri="{C3380CC4-5D6E-409C-BE32-E72D297353CC}">
                <c16:uniqueId val="{00000000-97A8-4F7D-A712-FE0BEADB012F}"/>
              </c:ext>
            </c:extLst>
          </c:dPt>
          <c:dPt>
            <c:idx val="1"/>
            <c:invertIfNegative val="0"/>
            <c:bubble3D val="0"/>
            <c:extLst>
              <c:ext xmlns:c16="http://schemas.microsoft.com/office/drawing/2014/chart" uri="{C3380CC4-5D6E-409C-BE32-E72D297353CC}">
                <c16:uniqueId val="{00000001-97A8-4F7D-A712-FE0BEADB012F}"/>
              </c:ext>
            </c:extLst>
          </c:dPt>
          <c:dPt>
            <c:idx val="2"/>
            <c:invertIfNegative val="0"/>
            <c:bubble3D val="0"/>
            <c:spPr>
              <a:solidFill>
                <a:srgbClr val="7B6FDF"/>
              </a:solidFill>
              <a:effectLst/>
            </c:spPr>
            <c:extLst>
              <c:ext xmlns:c16="http://schemas.microsoft.com/office/drawing/2014/chart" uri="{C3380CC4-5D6E-409C-BE32-E72D297353CC}">
                <c16:uniqueId val="{00000003-97A8-4F7D-A712-FE0BEADB012F}"/>
              </c:ext>
            </c:extLst>
          </c:dPt>
          <c:dPt>
            <c:idx val="3"/>
            <c:invertIfNegative val="0"/>
            <c:bubble3D val="0"/>
            <c:spPr>
              <a:solidFill>
                <a:srgbClr val="7B6FDF"/>
              </a:solidFill>
              <a:effectLst/>
            </c:spPr>
            <c:extLst>
              <c:ext xmlns:c16="http://schemas.microsoft.com/office/drawing/2014/chart" uri="{C3380CC4-5D6E-409C-BE32-E72D297353CC}">
                <c16:uniqueId val="{00000005-97A8-4F7D-A712-FE0BEADB012F}"/>
              </c:ext>
            </c:extLst>
          </c:dPt>
          <c:dPt>
            <c:idx val="4"/>
            <c:invertIfNegative val="0"/>
            <c:bubble3D val="0"/>
            <c:spPr>
              <a:solidFill>
                <a:srgbClr val="8B80E0"/>
              </a:solidFill>
              <a:effectLst/>
            </c:spPr>
            <c:extLst>
              <c:ext xmlns:c16="http://schemas.microsoft.com/office/drawing/2014/chart" uri="{C3380CC4-5D6E-409C-BE32-E72D297353CC}">
                <c16:uniqueId val="{00000007-97A8-4F7D-A712-FE0BEADB012F}"/>
              </c:ext>
            </c:extLst>
          </c:dPt>
          <c:dPt>
            <c:idx val="5"/>
            <c:invertIfNegative val="0"/>
            <c:bubble3D val="0"/>
            <c:spPr>
              <a:solidFill>
                <a:srgbClr val="8B80E0"/>
              </a:solidFill>
              <a:effectLst/>
            </c:spPr>
            <c:extLst>
              <c:ext xmlns:c16="http://schemas.microsoft.com/office/drawing/2014/chart" uri="{C3380CC4-5D6E-409C-BE32-E72D297353CC}">
                <c16:uniqueId val="{00000009-97A8-4F7D-A712-FE0BEADB012F}"/>
              </c:ext>
            </c:extLst>
          </c:dPt>
          <c:dPt>
            <c:idx val="6"/>
            <c:invertIfNegative val="0"/>
            <c:bubble3D val="0"/>
            <c:spPr>
              <a:solidFill>
                <a:srgbClr val="9B90E4"/>
              </a:solidFill>
              <a:effectLst/>
            </c:spPr>
            <c:extLst>
              <c:ext xmlns:c16="http://schemas.microsoft.com/office/drawing/2014/chart" uri="{C3380CC4-5D6E-409C-BE32-E72D297353CC}">
                <c16:uniqueId val="{0000000B-97A8-4F7D-A712-FE0BEADB012F}"/>
              </c:ext>
            </c:extLst>
          </c:dPt>
          <c:dPt>
            <c:idx val="7"/>
            <c:invertIfNegative val="0"/>
            <c:bubble3D val="0"/>
            <c:spPr>
              <a:solidFill>
                <a:srgbClr val="9B90E4"/>
              </a:solidFill>
              <a:effectLst/>
            </c:spPr>
            <c:extLst>
              <c:ext xmlns:c16="http://schemas.microsoft.com/office/drawing/2014/chart" uri="{C3380CC4-5D6E-409C-BE32-E72D297353CC}">
                <c16:uniqueId val="{0000000D-97A8-4F7D-A712-FE0BEADB012F}"/>
              </c:ext>
            </c:extLst>
          </c:dPt>
          <c:dPt>
            <c:idx val="8"/>
            <c:invertIfNegative val="0"/>
            <c:bubble3D val="0"/>
            <c:spPr>
              <a:solidFill>
                <a:srgbClr val="ABA0E8"/>
              </a:solidFill>
              <a:effectLst/>
            </c:spPr>
            <c:extLst>
              <c:ext xmlns:c16="http://schemas.microsoft.com/office/drawing/2014/chart" uri="{C3380CC4-5D6E-409C-BE32-E72D297353CC}">
                <c16:uniqueId val="{0000000F-97A8-4F7D-A712-FE0BEADB012F}"/>
              </c:ext>
            </c:extLst>
          </c:dPt>
          <c:dPt>
            <c:idx val="9"/>
            <c:invertIfNegative val="0"/>
            <c:bubble3D val="0"/>
            <c:spPr>
              <a:solidFill>
                <a:srgbClr val="ABA0E8"/>
              </a:solidFill>
              <a:effectLst/>
            </c:spPr>
            <c:extLst>
              <c:ext xmlns:c16="http://schemas.microsoft.com/office/drawing/2014/chart" uri="{C3380CC4-5D6E-409C-BE32-E72D297353CC}">
                <c16:uniqueId val="{00000011-97A8-4F7D-A712-FE0BEADB012F}"/>
              </c:ext>
            </c:extLst>
          </c:dPt>
          <c:cat>
            <c:strRef>
              <c:f>Sheet1!$A$2:$A$11</c:f>
              <c:strCache>
                <c:ptCount val="10"/>
                <c:pt idx="0">
                  <c:v>Obesity</c:v>
                </c:pt>
                <c:pt idx="1">
                  <c:v>Breast Cancer</c:v>
                </c:pt>
                <c:pt idx="2">
                  <c:v>Stroke</c:v>
                </c:pt>
                <c:pt idx="3">
                  <c:v>Pain</c:v>
                </c:pt>
                <c:pt idx="4">
                  <c:v>Hypertension</c:v>
                </c:pt>
                <c:pt idx="5">
                  <c:v>Depression</c:v>
                </c:pt>
                <c:pt idx="6">
                  <c:v>Prostate Cancer</c:v>
                </c:pt>
                <c:pt idx="7">
                  <c:v>Asthma</c:v>
                </c:pt>
                <c:pt idx="8">
                  <c:v>HIV Infections</c:v>
                </c:pt>
                <c:pt idx="9">
                  <c:v>Heart Failure</c:v>
                </c:pt>
              </c:strCache>
            </c:strRef>
          </c:cat>
          <c:val>
            <c:numRef>
              <c:f>Sheet1!$B$2:$B$11</c:f>
              <c:numCache>
                <c:formatCode>General</c:formatCode>
                <c:ptCount val="10"/>
                <c:pt idx="0">
                  <c:v>1.504E-2</c:v>
                </c:pt>
                <c:pt idx="1">
                  <c:v>1.4319999999999999E-2</c:v>
                </c:pt>
                <c:pt idx="2">
                  <c:v>1.044E-2</c:v>
                </c:pt>
                <c:pt idx="3">
                  <c:v>9.1299999999999992E-3</c:v>
                </c:pt>
                <c:pt idx="4">
                  <c:v>8.9800000000000001E-3</c:v>
                </c:pt>
                <c:pt idx="5">
                  <c:v>8.8599999999999998E-3</c:v>
                </c:pt>
                <c:pt idx="6">
                  <c:v>7.7400000000000004E-3</c:v>
                </c:pt>
                <c:pt idx="7">
                  <c:v>7.1700000000000002E-3</c:v>
                </c:pt>
                <c:pt idx="8">
                  <c:v>6.4200000000000004E-3</c:v>
                </c:pt>
                <c:pt idx="9">
                  <c:v>6.1999999999999998E-3</c:v>
                </c:pt>
              </c:numCache>
            </c:numRef>
          </c:val>
          <c:extLst>
            <c:ext xmlns:c16="http://schemas.microsoft.com/office/drawing/2014/chart" uri="{C3380CC4-5D6E-409C-BE32-E72D297353CC}">
              <c16:uniqueId val="{00000012-97A8-4F7D-A712-FE0BEADB012F}"/>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415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Cytotoxic</c:v>
                </c:pt>
              </c:strCache>
            </c:strRef>
          </c:tx>
          <c:spPr>
            <a:solidFill>
              <a:srgbClr val="E05252"/>
            </a:solidFill>
            <a:effectLst/>
          </c:spPr>
          <c:invertIfNegative val="0"/>
          <c:cat>
            <c:strRef>
              <c:f>Sheet1!$A$2:$A$20</c:f>
              <c:strCache>
                <c:ptCount val="19"/>
                <c:pt idx="0">
                  <c:v>Cyclophosphamide</c:v>
                </c:pt>
                <c:pt idx="1">
                  <c:v>Pembrolizumab</c:v>
                </c:pt>
                <c:pt idx="2">
                  <c:v>Nivolumab</c:v>
                </c:pt>
                <c:pt idx="3">
                  <c:v>Carboplatin</c:v>
                </c:pt>
                <c:pt idx="4">
                  <c:v>Cisplatin</c:v>
                </c:pt>
                <c:pt idx="5">
                  <c:v>Paclitaxel</c:v>
                </c:pt>
                <c:pt idx="6">
                  <c:v>Dexamethasone</c:v>
                </c:pt>
                <c:pt idx="7">
                  <c:v>Bevacizumab</c:v>
                </c:pt>
                <c:pt idx="8">
                  <c:v>Fludarabine</c:v>
                </c:pt>
                <c:pt idx="9">
                  <c:v>Ipilimumab</c:v>
                </c:pt>
                <c:pt idx="10">
                  <c:v>Rituximab</c:v>
                </c:pt>
                <c:pt idx="11">
                  <c:v>Docetaxel</c:v>
                </c:pt>
                <c:pt idx="12">
                  <c:v>Etoposide</c:v>
                </c:pt>
                <c:pt idx="13">
                  <c:v>Gemcitabine</c:v>
                </c:pt>
                <c:pt idx="14">
                  <c:v>Prednisone</c:v>
                </c:pt>
                <c:pt idx="15">
                  <c:v>Durvalumab</c:v>
                </c:pt>
                <c:pt idx="16">
                  <c:v>Dexmedetomidine</c:v>
                </c:pt>
                <c:pt idx="17">
                  <c:v>Capecitabine</c:v>
                </c:pt>
                <c:pt idx="18">
                  <c:v>Atezolizumab</c:v>
                </c:pt>
              </c:strCache>
            </c:strRef>
          </c:cat>
          <c:val>
            <c:numRef>
              <c:f>Sheet1!$B$2:$B$20</c:f>
              <c:numCache>
                <c:formatCode>General</c:formatCode>
                <c:ptCount val="19"/>
                <c:pt idx="0">
                  <c:v>2340</c:v>
                </c:pt>
                <c:pt idx="1">
                  <c:v>0</c:v>
                </c:pt>
                <c:pt idx="2">
                  <c:v>0</c:v>
                </c:pt>
                <c:pt idx="3">
                  <c:v>1958</c:v>
                </c:pt>
                <c:pt idx="4">
                  <c:v>1764</c:v>
                </c:pt>
                <c:pt idx="5">
                  <c:v>1543</c:v>
                </c:pt>
                <c:pt idx="6">
                  <c:v>0</c:v>
                </c:pt>
                <c:pt idx="7">
                  <c:v>0</c:v>
                </c:pt>
                <c:pt idx="8">
                  <c:v>1260</c:v>
                </c:pt>
                <c:pt idx="9">
                  <c:v>0</c:v>
                </c:pt>
                <c:pt idx="10">
                  <c:v>0</c:v>
                </c:pt>
                <c:pt idx="11">
                  <c:v>1047</c:v>
                </c:pt>
                <c:pt idx="12">
                  <c:v>984</c:v>
                </c:pt>
                <c:pt idx="13">
                  <c:v>969</c:v>
                </c:pt>
                <c:pt idx="14">
                  <c:v>0</c:v>
                </c:pt>
                <c:pt idx="15">
                  <c:v>0</c:v>
                </c:pt>
                <c:pt idx="16">
                  <c:v>0</c:v>
                </c:pt>
                <c:pt idx="17">
                  <c:v>881</c:v>
                </c:pt>
                <c:pt idx="18">
                  <c:v>0</c:v>
                </c:pt>
              </c:numCache>
            </c:numRef>
          </c:val>
          <c:extLst>
            <c:ext xmlns:c16="http://schemas.microsoft.com/office/drawing/2014/chart" uri="{C3380CC4-5D6E-409C-BE32-E72D297353CC}">
              <c16:uniqueId val="{00000000-2EEF-414C-8884-9503417C1DF3}"/>
            </c:ext>
          </c:extLst>
        </c:ser>
        <c:ser>
          <c:idx val="1"/>
          <c:order val="1"/>
          <c:tx>
            <c:strRef>
              <c:f>Sheet1!$C$1</c:f>
              <c:strCache>
                <c:ptCount val="1"/>
                <c:pt idx="0">
                  <c:v>Checkpoint Inhibitor</c:v>
                </c:pt>
              </c:strCache>
            </c:strRef>
          </c:tx>
          <c:spPr>
            <a:solidFill>
              <a:srgbClr val="5B4FCF"/>
            </a:solidFill>
            <a:effectLst/>
          </c:spPr>
          <c:invertIfNegative val="0"/>
          <c:cat>
            <c:strRef>
              <c:f>Sheet1!$A$2:$A$20</c:f>
              <c:strCache>
                <c:ptCount val="19"/>
                <c:pt idx="0">
                  <c:v>Cyclophosphamide</c:v>
                </c:pt>
                <c:pt idx="1">
                  <c:v>Pembrolizumab</c:v>
                </c:pt>
                <c:pt idx="2">
                  <c:v>Nivolumab</c:v>
                </c:pt>
                <c:pt idx="3">
                  <c:v>Carboplatin</c:v>
                </c:pt>
                <c:pt idx="4">
                  <c:v>Cisplatin</c:v>
                </c:pt>
                <c:pt idx="5">
                  <c:v>Paclitaxel</c:v>
                </c:pt>
                <c:pt idx="6">
                  <c:v>Dexamethasone</c:v>
                </c:pt>
                <c:pt idx="7">
                  <c:v>Bevacizumab</c:v>
                </c:pt>
                <c:pt idx="8">
                  <c:v>Fludarabine</c:v>
                </c:pt>
                <c:pt idx="9">
                  <c:v>Ipilimumab</c:v>
                </c:pt>
                <c:pt idx="10">
                  <c:v>Rituximab</c:v>
                </c:pt>
                <c:pt idx="11">
                  <c:v>Docetaxel</c:v>
                </c:pt>
                <c:pt idx="12">
                  <c:v>Etoposide</c:v>
                </c:pt>
                <c:pt idx="13">
                  <c:v>Gemcitabine</c:v>
                </c:pt>
                <c:pt idx="14">
                  <c:v>Prednisone</c:v>
                </c:pt>
                <c:pt idx="15">
                  <c:v>Durvalumab</c:v>
                </c:pt>
                <c:pt idx="16">
                  <c:v>Dexmedetomidine</c:v>
                </c:pt>
                <c:pt idx="17">
                  <c:v>Capecitabine</c:v>
                </c:pt>
                <c:pt idx="18">
                  <c:v>Atezolizumab</c:v>
                </c:pt>
              </c:strCache>
            </c:strRef>
          </c:cat>
          <c:val>
            <c:numRef>
              <c:f>Sheet1!$C$2:$C$20</c:f>
              <c:numCache>
                <c:formatCode>General</c:formatCode>
                <c:ptCount val="19"/>
                <c:pt idx="0">
                  <c:v>0</c:v>
                </c:pt>
                <c:pt idx="1">
                  <c:v>2223</c:v>
                </c:pt>
                <c:pt idx="2">
                  <c:v>2079</c:v>
                </c:pt>
                <c:pt idx="3">
                  <c:v>0</c:v>
                </c:pt>
                <c:pt idx="4">
                  <c:v>0</c:v>
                </c:pt>
                <c:pt idx="5">
                  <c:v>0</c:v>
                </c:pt>
                <c:pt idx="6">
                  <c:v>0</c:v>
                </c:pt>
                <c:pt idx="7">
                  <c:v>1408</c:v>
                </c:pt>
                <c:pt idx="8">
                  <c:v>0</c:v>
                </c:pt>
                <c:pt idx="9">
                  <c:v>1110</c:v>
                </c:pt>
                <c:pt idx="10">
                  <c:v>1102</c:v>
                </c:pt>
                <c:pt idx="11">
                  <c:v>0</c:v>
                </c:pt>
                <c:pt idx="12">
                  <c:v>0</c:v>
                </c:pt>
                <c:pt idx="13">
                  <c:v>0</c:v>
                </c:pt>
                <c:pt idx="14">
                  <c:v>0</c:v>
                </c:pt>
                <c:pt idx="15">
                  <c:v>920</c:v>
                </c:pt>
                <c:pt idx="16">
                  <c:v>0</c:v>
                </c:pt>
                <c:pt idx="17">
                  <c:v>0</c:v>
                </c:pt>
                <c:pt idx="18">
                  <c:v>834</c:v>
                </c:pt>
              </c:numCache>
            </c:numRef>
          </c:val>
          <c:extLst>
            <c:ext xmlns:c16="http://schemas.microsoft.com/office/drawing/2014/chart" uri="{C3380CC4-5D6E-409C-BE32-E72D297353CC}">
              <c16:uniqueId val="{00000001-2EEF-414C-8884-9503417C1DF3}"/>
            </c:ext>
          </c:extLst>
        </c:ser>
        <c:ser>
          <c:idx val="2"/>
          <c:order val="2"/>
          <c:tx>
            <c:strRef>
              <c:f>Sheet1!$D$1</c:f>
              <c:strCache>
                <c:ptCount val="1"/>
                <c:pt idx="0">
                  <c:v>Corticosteroid / Other</c:v>
                </c:pt>
              </c:strCache>
            </c:strRef>
          </c:tx>
          <c:spPr>
            <a:solidFill>
              <a:srgbClr val="0D9488"/>
            </a:solidFill>
            <a:effectLst/>
          </c:spPr>
          <c:invertIfNegative val="0"/>
          <c:cat>
            <c:strRef>
              <c:f>Sheet1!$A$2:$A$20</c:f>
              <c:strCache>
                <c:ptCount val="19"/>
                <c:pt idx="0">
                  <c:v>Cyclophosphamide</c:v>
                </c:pt>
                <c:pt idx="1">
                  <c:v>Pembrolizumab</c:v>
                </c:pt>
                <c:pt idx="2">
                  <c:v>Nivolumab</c:v>
                </c:pt>
                <c:pt idx="3">
                  <c:v>Carboplatin</c:v>
                </c:pt>
                <c:pt idx="4">
                  <c:v>Cisplatin</c:v>
                </c:pt>
                <c:pt idx="5">
                  <c:v>Paclitaxel</c:v>
                </c:pt>
                <c:pt idx="6">
                  <c:v>Dexamethasone</c:v>
                </c:pt>
                <c:pt idx="7">
                  <c:v>Bevacizumab</c:v>
                </c:pt>
                <c:pt idx="8">
                  <c:v>Fludarabine</c:v>
                </c:pt>
                <c:pt idx="9">
                  <c:v>Ipilimumab</c:v>
                </c:pt>
                <c:pt idx="10">
                  <c:v>Rituximab</c:v>
                </c:pt>
                <c:pt idx="11">
                  <c:v>Docetaxel</c:v>
                </c:pt>
                <c:pt idx="12">
                  <c:v>Etoposide</c:v>
                </c:pt>
                <c:pt idx="13">
                  <c:v>Gemcitabine</c:v>
                </c:pt>
                <c:pt idx="14">
                  <c:v>Prednisone</c:v>
                </c:pt>
                <c:pt idx="15">
                  <c:v>Durvalumab</c:v>
                </c:pt>
                <c:pt idx="16">
                  <c:v>Dexmedetomidine</c:v>
                </c:pt>
                <c:pt idx="17">
                  <c:v>Capecitabine</c:v>
                </c:pt>
                <c:pt idx="18">
                  <c:v>Atezolizumab</c:v>
                </c:pt>
              </c:strCache>
            </c:strRef>
          </c:cat>
          <c:val>
            <c:numRef>
              <c:f>Sheet1!$D$2:$D$20</c:f>
              <c:numCache>
                <c:formatCode>General</c:formatCode>
                <c:ptCount val="19"/>
                <c:pt idx="0">
                  <c:v>0</c:v>
                </c:pt>
                <c:pt idx="1">
                  <c:v>0</c:v>
                </c:pt>
                <c:pt idx="2">
                  <c:v>0</c:v>
                </c:pt>
                <c:pt idx="3">
                  <c:v>0</c:v>
                </c:pt>
                <c:pt idx="4">
                  <c:v>0</c:v>
                </c:pt>
                <c:pt idx="5">
                  <c:v>0</c:v>
                </c:pt>
                <c:pt idx="6">
                  <c:v>1433</c:v>
                </c:pt>
                <c:pt idx="7">
                  <c:v>0</c:v>
                </c:pt>
                <c:pt idx="8">
                  <c:v>0</c:v>
                </c:pt>
                <c:pt idx="9">
                  <c:v>0</c:v>
                </c:pt>
                <c:pt idx="10">
                  <c:v>0</c:v>
                </c:pt>
                <c:pt idx="11">
                  <c:v>0</c:v>
                </c:pt>
                <c:pt idx="12">
                  <c:v>0</c:v>
                </c:pt>
                <c:pt idx="13">
                  <c:v>0</c:v>
                </c:pt>
                <c:pt idx="14">
                  <c:v>962</c:v>
                </c:pt>
                <c:pt idx="15">
                  <c:v>0</c:v>
                </c:pt>
                <c:pt idx="16">
                  <c:v>882</c:v>
                </c:pt>
                <c:pt idx="17">
                  <c:v>0</c:v>
                </c:pt>
                <c:pt idx="18">
                  <c:v>0</c:v>
                </c:pt>
              </c:numCache>
            </c:numRef>
          </c:val>
          <c:extLst>
            <c:ext xmlns:c16="http://schemas.microsoft.com/office/drawing/2014/chart" uri="{C3380CC4-5D6E-409C-BE32-E72D297353CC}">
              <c16:uniqueId val="{00000002-2EEF-414C-8884-9503417C1DF3}"/>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6350" cap="flat">
              <a:solidFill>
                <a:srgbClr val="E2E8F0"/>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legend>
      <c:legendPos val="r"/>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D8BFFD-A85B-4C2E-B34B-5DAF0D9434DC}" type="doc">
      <dgm:prSet loTypeId="urn:microsoft.com/office/officeart/2005/8/layout/radial6" loCatId="cycle" qsTypeId="urn:microsoft.com/office/officeart/2005/8/quickstyle/3d3" qsCatId="3D" csTypeId="urn:microsoft.com/office/officeart/2005/8/colors/colorful1" csCatId="colorful" phldr="1"/>
      <dgm:spPr/>
      <dgm:t>
        <a:bodyPr/>
        <a:lstStyle/>
        <a:p>
          <a:endParaRPr lang="en-IN"/>
        </a:p>
      </dgm:t>
    </dgm:pt>
    <dgm:pt modelId="{8F389E58-2D4D-4DB1-ABDB-0DA0291DC54D}">
      <dgm:prSet phldrT="[Text]" phldr="0" custT="1"/>
      <dgm:spPr/>
      <dgm:t>
        <a:bodyPr/>
        <a:lstStyle/>
        <a:p>
          <a:r>
            <a:rPr lang="en-IN" sz="1200" b="1" dirty="0">
              <a:solidFill>
                <a:schemeClr val="bg1"/>
              </a:solidFill>
              <a:latin typeface="+mn-lt"/>
            </a:rPr>
            <a:t>Clinical applications</a:t>
          </a:r>
        </a:p>
      </dgm:t>
    </dgm:pt>
    <dgm:pt modelId="{B5ABC04A-6B87-4D99-8F49-516E255F1EAB}" type="parTrans" cxnId="{06B10CA4-7744-4AC6-BF70-D700F47759BB}">
      <dgm:prSet/>
      <dgm:spPr/>
      <dgm:t>
        <a:bodyPr/>
        <a:lstStyle/>
        <a:p>
          <a:endParaRPr lang="en-IN"/>
        </a:p>
      </dgm:t>
    </dgm:pt>
    <dgm:pt modelId="{8D4EDFAE-2FFF-48F9-8B1A-44F2BA5DFC98}" type="sibTrans" cxnId="{06B10CA4-7744-4AC6-BF70-D700F47759BB}">
      <dgm:prSet/>
      <dgm:spPr/>
      <dgm:t>
        <a:bodyPr/>
        <a:lstStyle/>
        <a:p>
          <a:endParaRPr lang="en-IN"/>
        </a:p>
      </dgm:t>
    </dgm:pt>
    <dgm:pt modelId="{F824C780-23E8-4449-A805-D1EC2F3E7142}">
      <dgm:prSet phldrT="[Text]" custT="1"/>
      <dgm:spPr/>
      <dgm:t>
        <a:bodyPr/>
        <a:lstStyle/>
        <a:p>
          <a:r>
            <a:rPr lang="en-IN" sz="900" b="1" i="0" dirty="0">
              <a:solidFill>
                <a:schemeClr val="bg1"/>
              </a:solidFill>
              <a:latin typeface="+mn-lt"/>
            </a:rPr>
            <a:t>Drug Intelligence</a:t>
          </a:r>
          <a:endParaRPr lang="en-IN" sz="900" b="1" dirty="0">
            <a:solidFill>
              <a:schemeClr val="bg1"/>
            </a:solidFill>
            <a:latin typeface="+mn-lt"/>
          </a:endParaRPr>
        </a:p>
      </dgm:t>
    </dgm:pt>
    <dgm:pt modelId="{CCE10986-1D5F-4533-BB57-7FF6E6E8F45D}" type="parTrans" cxnId="{E1A6EF9C-D99A-4E6C-9F6C-27C0BD933ED3}">
      <dgm:prSet/>
      <dgm:spPr/>
      <dgm:t>
        <a:bodyPr/>
        <a:lstStyle/>
        <a:p>
          <a:endParaRPr lang="en-IN"/>
        </a:p>
      </dgm:t>
    </dgm:pt>
    <dgm:pt modelId="{55BA8007-B079-4F71-890F-E026DDE5868D}" type="sibTrans" cxnId="{E1A6EF9C-D99A-4E6C-9F6C-27C0BD933ED3}">
      <dgm:prSet/>
      <dgm:spPr/>
      <dgm:t>
        <a:bodyPr/>
        <a:lstStyle/>
        <a:p>
          <a:endParaRPr lang="en-IN"/>
        </a:p>
      </dgm:t>
    </dgm:pt>
    <dgm:pt modelId="{E498FACD-9FA9-4D1A-8F83-E33EC161CF30}">
      <dgm:prSet phldrT="[Text]" custT="1"/>
      <dgm:spPr/>
      <dgm:t>
        <a:bodyPr/>
        <a:lstStyle/>
        <a:p>
          <a:r>
            <a:rPr lang="en-IN" sz="900" b="1" i="0">
              <a:solidFill>
                <a:schemeClr val="bg1"/>
              </a:solidFill>
              <a:latin typeface="+mn-lt"/>
            </a:rPr>
            <a:t>Disease Analytics</a:t>
          </a:r>
          <a:endParaRPr lang="en-IN" sz="900" b="1" dirty="0">
            <a:solidFill>
              <a:schemeClr val="bg1"/>
            </a:solidFill>
            <a:latin typeface="+mn-lt"/>
          </a:endParaRPr>
        </a:p>
      </dgm:t>
    </dgm:pt>
    <dgm:pt modelId="{6B8241DE-51D8-4E95-BAFB-D401E83BADC7}" type="parTrans" cxnId="{85ECA15E-AB6E-49B6-AC95-57845EC7CCF7}">
      <dgm:prSet/>
      <dgm:spPr/>
      <dgm:t>
        <a:bodyPr/>
        <a:lstStyle/>
        <a:p>
          <a:endParaRPr lang="en-IN"/>
        </a:p>
      </dgm:t>
    </dgm:pt>
    <dgm:pt modelId="{092691AF-865A-424F-BD93-228272BFB4AA}" type="sibTrans" cxnId="{85ECA15E-AB6E-49B6-AC95-57845EC7CCF7}">
      <dgm:prSet/>
      <dgm:spPr/>
      <dgm:t>
        <a:bodyPr/>
        <a:lstStyle/>
        <a:p>
          <a:endParaRPr lang="en-IN"/>
        </a:p>
      </dgm:t>
    </dgm:pt>
    <dgm:pt modelId="{9103F82E-32AD-45FC-B3BB-96D9B1F65AC0}">
      <dgm:prSet phldrT="[Text]" custT="1"/>
      <dgm:spPr/>
      <dgm:t>
        <a:bodyPr/>
        <a:lstStyle/>
        <a:p>
          <a:r>
            <a:rPr lang="en-IN" sz="900" b="1" i="0" dirty="0">
              <a:solidFill>
                <a:schemeClr val="bg1"/>
              </a:solidFill>
              <a:latin typeface="+mn-lt"/>
            </a:rPr>
            <a:t>Sponsor Intelligence</a:t>
          </a:r>
          <a:endParaRPr lang="en-IN" sz="900" b="1" dirty="0">
            <a:solidFill>
              <a:schemeClr val="bg1"/>
            </a:solidFill>
            <a:latin typeface="+mn-lt"/>
          </a:endParaRPr>
        </a:p>
      </dgm:t>
    </dgm:pt>
    <dgm:pt modelId="{BE745CD7-FCB8-49DA-9F36-A88BFD4F92DF}" type="parTrans" cxnId="{5F316D0A-684E-413F-A27D-1500AF89AD96}">
      <dgm:prSet/>
      <dgm:spPr/>
      <dgm:t>
        <a:bodyPr/>
        <a:lstStyle/>
        <a:p>
          <a:endParaRPr lang="en-IN"/>
        </a:p>
      </dgm:t>
    </dgm:pt>
    <dgm:pt modelId="{D685B41D-7A10-46C9-BA4F-F56509824598}" type="sibTrans" cxnId="{5F316D0A-684E-413F-A27D-1500AF89AD96}">
      <dgm:prSet/>
      <dgm:spPr/>
      <dgm:t>
        <a:bodyPr/>
        <a:lstStyle/>
        <a:p>
          <a:endParaRPr lang="en-IN"/>
        </a:p>
      </dgm:t>
    </dgm:pt>
    <dgm:pt modelId="{90093BA1-11E3-4841-A9F5-D6B6B016C017}">
      <dgm:prSet phldrT="[Text]" custT="1"/>
      <dgm:spPr/>
      <dgm:t>
        <a:bodyPr/>
        <a:lstStyle/>
        <a:p>
          <a:r>
            <a:rPr lang="en-IN" sz="900" b="1" i="0" dirty="0">
              <a:solidFill>
                <a:schemeClr val="bg1"/>
              </a:solidFill>
              <a:latin typeface="+mn-lt"/>
            </a:rPr>
            <a:t>Network &amp; Graph analysis</a:t>
          </a:r>
          <a:endParaRPr lang="en-IN" sz="900" b="1" dirty="0">
            <a:solidFill>
              <a:schemeClr val="bg1"/>
            </a:solidFill>
            <a:latin typeface="+mn-lt"/>
          </a:endParaRPr>
        </a:p>
      </dgm:t>
    </dgm:pt>
    <dgm:pt modelId="{056235D8-33FA-42AA-94FB-FFBC0A115045}" type="parTrans" cxnId="{65B3D053-5368-4CE8-9486-92A643CA1481}">
      <dgm:prSet/>
      <dgm:spPr/>
      <dgm:t>
        <a:bodyPr/>
        <a:lstStyle/>
        <a:p>
          <a:endParaRPr lang="en-IN"/>
        </a:p>
      </dgm:t>
    </dgm:pt>
    <dgm:pt modelId="{E65A04B3-5F47-4E04-B855-1630FCB94B6E}" type="sibTrans" cxnId="{65B3D053-5368-4CE8-9486-92A643CA1481}">
      <dgm:prSet/>
      <dgm:spPr/>
      <dgm:t>
        <a:bodyPr/>
        <a:lstStyle/>
        <a:p>
          <a:endParaRPr lang="en-IN"/>
        </a:p>
      </dgm:t>
    </dgm:pt>
    <dgm:pt modelId="{D1885796-A5A6-4EEB-BAF4-DF01B31F6DA8}" type="pres">
      <dgm:prSet presAssocID="{D8D8BFFD-A85B-4C2E-B34B-5DAF0D9434DC}" presName="Name0" presStyleCnt="0">
        <dgm:presLayoutVars>
          <dgm:chMax val="1"/>
          <dgm:dir/>
          <dgm:animLvl val="ctr"/>
          <dgm:resizeHandles val="exact"/>
        </dgm:presLayoutVars>
      </dgm:prSet>
      <dgm:spPr/>
    </dgm:pt>
    <dgm:pt modelId="{9EC25CDA-40BB-4F4C-A036-6899384222BC}" type="pres">
      <dgm:prSet presAssocID="{8F389E58-2D4D-4DB1-ABDB-0DA0291DC54D}" presName="centerShape" presStyleLbl="node0" presStyleIdx="0" presStyleCnt="1" custScaleX="114003" custScaleY="117069"/>
      <dgm:spPr/>
    </dgm:pt>
    <dgm:pt modelId="{08CFEABC-2D02-49F1-BF46-F05C8E339AEF}" type="pres">
      <dgm:prSet presAssocID="{F824C780-23E8-4449-A805-D1EC2F3E7142}" presName="node" presStyleLbl="node1" presStyleIdx="0" presStyleCnt="4" custScaleX="109319" custScaleY="107644">
        <dgm:presLayoutVars>
          <dgm:bulletEnabled val="1"/>
        </dgm:presLayoutVars>
      </dgm:prSet>
      <dgm:spPr/>
    </dgm:pt>
    <dgm:pt modelId="{1F76E2A1-FCF9-4FC1-B45A-6C2852738E86}" type="pres">
      <dgm:prSet presAssocID="{F824C780-23E8-4449-A805-D1EC2F3E7142}" presName="dummy" presStyleCnt="0"/>
      <dgm:spPr/>
    </dgm:pt>
    <dgm:pt modelId="{38506DA9-02AB-4619-981D-05ED0956B86B}" type="pres">
      <dgm:prSet presAssocID="{55BA8007-B079-4F71-890F-E026DDE5868D}" presName="sibTrans" presStyleLbl="sibTrans2D1" presStyleIdx="0" presStyleCnt="4"/>
      <dgm:spPr/>
    </dgm:pt>
    <dgm:pt modelId="{B4AD59A1-1736-4BAF-A482-497F375F63B4}" type="pres">
      <dgm:prSet presAssocID="{E498FACD-9FA9-4D1A-8F83-E33EC161CF30}" presName="node" presStyleLbl="node1" presStyleIdx="1" presStyleCnt="4">
        <dgm:presLayoutVars>
          <dgm:bulletEnabled val="1"/>
        </dgm:presLayoutVars>
      </dgm:prSet>
      <dgm:spPr/>
    </dgm:pt>
    <dgm:pt modelId="{95B5019E-3CC0-4A08-A4C8-65E7DD6593FF}" type="pres">
      <dgm:prSet presAssocID="{E498FACD-9FA9-4D1A-8F83-E33EC161CF30}" presName="dummy" presStyleCnt="0"/>
      <dgm:spPr/>
    </dgm:pt>
    <dgm:pt modelId="{820024F8-5B42-434D-8C8C-E9DEE3A66C90}" type="pres">
      <dgm:prSet presAssocID="{092691AF-865A-424F-BD93-228272BFB4AA}" presName="sibTrans" presStyleLbl="sibTrans2D1" presStyleIdx="1" presStyleCnt="4"/>
      <dgm:spPr/>
    </dgm:pt>
    <dgm:pt modelId="{55258307-55F7-487E-A814-C63C48F0FDA2}" type="pres">
      <dgm:prSet presAssocID="{9103F82E-32AD-45FC-B3BB-96D9B1F65AC0}" presName="node" presStyleLbl="node1" presStyleIdx="2" presStyleCnt="4" custScaleX="109319" custScaleY="101898">
        <dgm:presLayoutVars>
          <dgm:bulletEnabled val="1"/>
        </dgm:presLayoutVars>
      </dgm:prSet>
      <dgm:spPr/>
    </dgm:pt>
    <dgm:pt modelId="{88A7B2B6-63B6-45A3-BDAA-BBB8C4140E85}" type="pres">
      <dgm:prSet presAssocID="{9103F82E-32AD-45FC-B3BB-96D9B1F65AC0}" presName="dummy" presStyleCnt="0"/>
      <dgm:spPr/>
    </dgm:pt>
    <dgm:pt modelId="{57CD0422-177A-4E2D-B168-D1A478B1D7BB}" type="pres">
      <dgm:prSet presAssocID="{D685B41D-7A10-46C9-BA4F-F56509824598}" presName="sibTrans" presStyleLbl="sibTrans2D1" presStyleIdx="2" presStyleCnt="4"/>
      <dgm:spPr/>
    </dgm:pt>
    <dgm:pt modelId="{5E1F7D32-1D54-4291-AEF4-8156E3413AFB}" type="pres">
      <dgm:prSet presAssocID="{90093BA1-11E3-4841-A9F5-D6B6B016C017}" presName="node" presStyleLbl="node1" presStyleIdx="3" presStyleCnt="4">
        <dgm:presLayoutVars>
          <dgm:bulletEnabled val="1"/>
        </dgm:presLayoutVars>
      </dgm:prSet>
      <dgm:spPr/>
    </dgm:pt>
    <dgm:pt modelId="{0A467C73-2E91-4E77-9C8B-39B370F2D842}" type="pres">
      <dgm:prSet presAssocID="{90093BA1-11E3-4841-A9F5-D6B6B016C017}" presName="dummy" presStyleCnt="0"/>
      <dgm:spPr/>
    </dgm:pt>
    <dgm:pt modelId="{DCEF43FE-4C33-4979-A84D-ABC7251ECEF6}" type="pres">
      <dgm:prSet presAssocID="{E65A04B3-5F47-4E04-B855-1630FCB94B6E}" presName="sibTrans" presStyleLbl="sibTrans2D1" presStyleIdx="3" presStyleCnt="4"/>
      <dgm:spPr/>
    </dgm:pt>
  </dgm:ptLst>
  <dgm:cxnLst>
    <dgm:cxn modelId="{5F316D0A-684E-413F-A27D-1500AF89AD96}" srcId="{8F389E58-2D4D-4DB1-ABDB-0DA0291DC54D}" destId="{9103F82E-32AD-45FC-B3BB-96D9B1F65AC0}" srcOrd="2" destOrd="0" parTransId="{BE745CD7-FCB8-49DA-9F36-A88BFD4F92DF}" sibTransId="{D685B41D-7A10-46C9-BA4F-F56509824598}"/>
    <dgm:cxn modelId="{85BB270B-AA36-4C50-B585-B8EE416A2523}" type="presOf" srcId="{9103F82E-32AD-45FC-B3BB-96D9B1F65AC0}" destId="{55258307-55F7-487E-A814-C63C48F0FDA2}" srcOrd="0" destOrd="0" presId="urn:microsoft.com/office/officeart/2005/8/layout/radial6"/>
    <dgm:cxn modelId="{52EFA21C-FDA7-4916-BA39-73FE2E6BD8C8}" type="presOf" srcId="{8F389E58-2D4D-4DB1-ABDB-0DA0291DC54D}" destId="{9EC25CDA-40BB-4F4C-A036-6899384222BC}" srcOrd="0" destOrd="0" presId="urn:microsoft.com/office/officeart/2005/8/layout/radial6"/>
    <dgm:cxn modelId="{C061D12E-1BA8-4175-A715-2F6C79BB2022}" type="presOf" srcId="{90093BA1-11E3-4841-A9F5-D6B6B016C017}" destId="{5E1F7D32-1D54-4291-AEF4-8156E3413AFB}" srcOrd="0" destOrd="0" presId="urn:microsoft.com/office/officeart/2005/8/layout/radial6"/>
    <dgm:cxn modelId="{A40F8736-E722-4A0F-9EBC-DFB2C4657272}" type="presOf" srcId="{D685B41D-7A10-46C9-BA4F-F56509824598}" destId="{57CD0422-177A-4E2D-B168-D1A478B1D7BB}" srcOrd="0" destOrd="0" presId="urn:microsoft.com/office/officeart/2005/8/layout/radial6"/>
    <dgm:cxn modelId="{85ECA15E-AB6E-49B6-AC95-57845EC7CCF7}" srcId="{8F389E58-2D4D-4DB1-ABDB-0DA0291DC54D}" destId="{E498FACD-9FA9-4D1A-8F83-E33EC161CF30}" srcOrd="1" destOrd="0" parTransId="{6B8241DE-51D8-4E95-BAFB-D401E83BADC7}" sibTransId="{092691AF-865A-424F-BD93-228272BFB4AA}"/>
    <dgm:cxn modelId="{A95DAA65-8D9A-4FFB-AC7A-4A70BD661382}" type="presOf" srcId="{F824C780-23E8-4449-A805-D1EC2F3E7142}" destId="{08CFEABC-2D02-49F1-BF46-F05C8E339AEF}" srcOrd="0" destOrd="0" presId="urn:microsoft.com/office/officeart/2005/8/layout/radial6"/>
    <dgm:cxn modelId="{B859F747-7D01-4384-8652-7E1DDCCB136C}" type="presOf" srcId="{E65A04B3-5F47-4E04-B855-1630FCB94B6E}" destId="{DCEF43FE-4C33-4979-A84D-ABC7251ECEF6}" srcOrd="0" destOrd="0" presId="urn:microsoft.com/office/officeart/2005/8/layout/radial6"/>
    <dgm:cxn modelId="{821FC373-76A2-4FB3-AB89-AEFACA70A054}" type="presOf" srcId="{D8D8BFFD-A85B-4C2E-B34B-5DAF0D9434DC}" destId="{D1885796-A5A6-4EEB-BAF4-DF01B31F6DA8}" srcOrd="0" destOrd="0" presId="urn:microsoft.com/office/officeart/2005/8/layout/radial6"/>
    <dgm:cxn modelId="{65B3D053-5368-4CE8-9486-92A643CA1481}" srcId="{8F389E58-2D4D-4DB1-ABDB-0DA0291DC54D}" destId="{90093BA1-11E3-4841-A9F5-D6B6B016C017}" srcOrd="3" destOrd="0" parTransId="{056235D8-33FA-42AA-94FB-FFBC0A115045}" sibTransId="{E65A04B3-5F47-4E04-B855-1630FCB94B6E}"/>
    <dgm:cxn modelId="{E932E47E-8B42-42D8-A947-5B47336AF421}" type="presOf" srcId="{55BA8007-B079-4F71-890F-E026DDE5868D}" destId="{38506DA9-02AB-4619-981D-05ED0956B86B}" srcOrd="0" destOrd="0" presId="urn:microsoft.com/office/officeart/2005/8/layout/radial6"/>
    <dgm:cxn modelId="{BDE5A97F-A50C-4F19-B8EC-FA4D06460C82}" type="presOf" srcId="{092691AF-865A-424F-BD93-228272BFB4AA}" destId="{820024F8-5B42-434D-8C8C-E9DEE3A66C90}" srcOrd="0" destOrd="0" presId="urn:microsoft.com/office/officeart/2005/8/layout/radial6"/>
    <dgm:cxn modelId="{E1A6EF9C-D99A-4E6C-9F6C-27C0BD933ED3}" srcId="{8F389E58-2D4D-4DB1-ABDB-0DA0291DC54D}" destId="{F824C780-23E8-4449-A805-D1EC2F3E7142}" srcOrd="0" destOrd="0" parTransId="{CCE10986-1D5F-4533-BB57-7FF6E6E8F45D}" sibTransId="{55BA8007-B079-4F71-890F-E026DDE5868D}"/>
    <dgm:cxn modelId="{06B10CA4-7744-4AC6-BF70-D700F47759BB}" srcId="{D8D8BFFD-A85B-4C2E-B34B-5DAF0D9434DC}" destId="{8F389E58-2D4D-4DB1-ABDB-0DA0291DC54D}" srcOrd="0" destOrd="0" parTransId="{B5ABC04A-6B87-4D99-8F49-516E255F1EAB}" sibTransId="{8D4EDFAE-2FFF-48F9-8B1A-44F2BA5DFC98}"/>
    <dgm:cxn modelId="{24D92DF7-339F-426A-8FE1-D9A77C8943BE}" type="presOf" srcId="{E498FACD-9FA9-4D1A-8F83-E33EC161CF30}" destId="{B4AD59A1-1736-4BAF-A482-497F375F63B4}" srcOrd="0" destOrd="0" presId="urn:microsoft.com/office/officeart/2005/8/layout/radial6"/>
    <dgm:cxn modelId="{4726254B-4933-42B2-9ADB-FA01AFEEC400}" type="presParOf" srcId="{D1885796-A5A6-4EEB-BAF4-DF01B31F6DA8}" destId="{9EC25CDA-40BB-4F4C-A036-6899384222BC}" srcOrd="0" destOrd="0" presId="urn:microsoft.com/office/officeart/2005/8/layout/radial6"/>
    <dgm:cxn modelId="{C5D6B121-5E6E-497B-B6B4-95454CD92E65}" type="presParOf" srcId="{D1885796-A5A6-4EEB-BAF4-DF01B31F6DA8}" destId="{08CFEABC-2D02-49F1-BF46-F05C8E339AEF}" srcOrd="1" destOrd="0" presId="urn:microsoft.com/office/officeart/2005/8/layout/radial6"/>
    <dgm:cxn modelId="{020FF6AB-C2B7-41AD-8FB2-23502DE4ED4B}" type="presParOf" srcId="{D1885796-A5A6-4EEB-BAF4-DF01B31F6DA8}" destId="{1F76E2A1-FCF9-4FC1-B45A-6C2852738E86}" srcOrd="2" destOrd="0" presId="urn:microsoft.com/office/officeart/2005/8/layout/radial6"/>
    <dgm:cxn modelId="{696722D2-62B4-40F5-8334-A4A6A6892599}" type="presParOf" srcId="{D1885796-A5A6-4EEB-BAF4-DF01B31F6DA8}" destId="{38506DA9-02AB-4619-981D-05ED0956B86B}" srcOrd="3" destOrd="0" presId="urn:microsoft.com/office/officeart/2005/8/layout/radial6"/>
    <dgm:cxn modelId="{06AC85A4-03CA-495B-B6B5-043EB80B20B4}" type="presParOf" srcId="{D1885796-A5A6-4EEB-BAF4-DF01B31F6DA8}" destId="{B4AD59A1-1736-4BAF-A482-497F375F63B4}" srcOrd="4" destOrd="0" presId="urn:microsoft.com/office/officeart/2005/8/layout/radial6"/>
    <dgm:cxn modelId="{CAC002B8-096E-479A-A79A-E680370AD30F}" type="presParOf" srcId="{D1885796-A5A6-4EEB-BAF4-DF01B31F6DA8}" destId="{95B5019E-3CC0-4A08-A4C8-65E7DD6593FF}" srcOrd="5" destOrd="0" presId="urn:microsoft.com/office/officeart/2005/8/layout/radial6"/>
    <dgm:cxn modelId="{D07B1B7C-7F33-45DF-B6AE-684449BDACDA}" type="presParOf" srcId="{D1885796-A5A6-4EEB-BAF4-DF01B31F6DA8}" destId="{820024F8-5B42-434D-8C8C-E9DEE3A66C90}" srcOrd="6" destOrd="0" presId="urn:microsoft.com/office/officeart/2005/8/layout/radial6"/>
    <dgm:cxn modelId="{58FD3AF2-63A3-4DF7-BD29-7496B560C5D0}" type="presParOf" srcId="{D1885796-A5A6-4EEB-BAF4-DF01B31F6DA8}" destId="{55258307-55F7-487E-A814-C63C48F0FDA2}" srcOrd="7" destOrd="0" presId="urn:microsoft.com/office/officeart/2005/8/layout/radial6"/>
    <dgm:cxn modelId="{7845B810-FD94-4D9A-A7C4-4D22F20C38B0}" type="presParOf" srcId="{D1885796-A5A6-4EEB-BAF4-DF01B31F6DA8}" destId="{88A7B2B6-63B6-45A3-BDAA-BBB8C4140E85}" srcOrd="8" destOrd="0" presId="urn:microsoft.com/office/officeart/2005/8/layout/radial6"/>
    <dgm:cxn modelId="{29B54003-5DC9-492C-8665-CAA86E8B466B}" type="presParOf" srcId="{D1885796-A5A6-4EEB-BAF4-DF01B31F6DA8}" destId="{57CD0422-177A-4E2D-B168-D1A478B1D7BB}" srcOrd="9" destOrd="0" presId="urn:microsoft.com/office/officeart/2005/8/layout/radial6"/>
    <dgm:cxn modelId="{D25AE63A-56C3-47F7-90AD-97E9E787B7A1}" type="presParOf" srcId="{D1885796-A5A6-4EEB-BAF4-DF01B31F6DA8}" destId="{5E1F7D32-1D54-4291-AEF4-8156E3413AFB}" srcOrd="10" destOrd="0" presId="urn:microsoft.com/office/officeart/2005/8/layout/radial6"/>
    <dgm:cxn modelId="{3294E577-6643-4548-BA03-954F88F60A9B}" type="presParOf" srcId="{D1885796-A5A6-4EEB-BAF4-DF01B31F6DA8}" destId="{0A467C73-2E91-4E77-9C8B-39B370F2D842}" srcOrd="11" destOrd="0" presId="urn:microsoft.com/office/officeart/2005/8/layout/radial6"/>
    <dgm:cxn modelId="{1AF1E983-4506-4401-B056-0F7DD10F62AE}" type="presParOf" srcId="{D1885796-A5A6-4EEB-BAF4-DF01B31F6DA8}" destId="{DCEF43FE-4C33-4979-A84D-ABC7251ECEF6}" srcOrd="12"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EF43FE-4C33-4979-A84D-ABC7251ECEF6}">
      <dsp:nvSpPr>
        <dsp:cNvPr id="0" name=""/>
        <dsp:cNvSpPr/>
      </dsp:nvSpPr>
      <dsp:spPr>
        <a:xfrm>
          <a:off x="831774" y="367105"/>
          <a:ext cx="2379207" cy="2379207"/>
        </a:xfrm>
        <a:prstGeom prst="blockArc">
          <a:avLst>
            <a:gd name="adj1" fmla="val 10800000"/>
            <a:gd name="adj2" fmla="val 16200000"/>
            <a:gd name="adj3" fmla="val 4633"/>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57CD0422-177A-4E2D-B168-D1A478B1D7BB}">
      <dsp:nvSpPr>
        <dsp:cNvPr id="0" name=""/>
        <dsp:cNvSpPr/>
      </dsp:nvSpPr>
      <dsp:spPr>
        <a:xfrm>
          <a:off x="831774" y="367105"/>
          <a:ext cx="2379207" cy="2379207"/>
        </a:xfrm>
        <a:prstGeom prst="blockArc">
          <a:avLst>
            <a:gd name="adj1" fmla="val 5400000"/>
            <a:gd name="adj2" fmla="val 10800000"/>
            <a:gd name="adj3" fmla="val 4633"/>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820024F8-5B42-434D-8C8C-E9DEE3A66C90}">
      <dsp:nvSpPr>
        <dsp:cNvPr id="0" name=""/>
        <dsp:cNvSpPr/>
      </dsp:nvSpPr>
      <dsp:spPr>
        <a:xfrm>
          <a:off x="831774" y="367105"/>
          <a:ext cx="2379207" cy="2379207"/>
        </a:xfrm>
        <a:prstGeom prst="blockArc">
          <a:avLst>
            <a:gd name="adj1" fmla="val 0"/>
            <a:gd name="adj2" fmla="val 5400000"/>
            <a:gd name="adj3" fmla="val 4633"/>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38506DA9-02AB-4619-981D-05ED0956B86B}">
      <dsp:nvSpPr>
        <dsp:cNvPr id="0" name=""/>
        <dsp:cNvSpPr/>
      </dsp:nvSpPr>
      <dsp:spPr>
        <a:xfrm>
          <a:off x="831774" y="367105"/>
          <a:ext cx="2379207" cy="2379207"/>
        </a:xfrm>
        <a:prstGeom prst="blockArc">
          <a:avLst>
            <a:gd name="adj1" fmla="val 16200000"/>
            <a:gd name="adj2" fmla="val 0"/>
            <a:gd name="adj3" fmla="val 4633"/>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9EC25CDA-40BB-4F4C-A036-6899384222BC}">
      <dsp:nvSpPr>
        <dsp:cNvPr id="0" name=""/>
        <dsp:cNvSpPr/>
      </dsp:nvSpPr>
      <dsp:spPr>
        <a:xfrm>
          <a:off x="1398011" y="916577"/>
          <a:ext cx="1246733" cy="1280263"/>
        </a:xfrm>
        <a:prstGeom prst="ellipse">
          <a:avLst/>
        </a:prstGeom>
        <a:solidFill>
          <a:schemeClr val="accen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IN" sz="1200" b="1" kern="1200" dirty="0">
              <a:solidFill>
                <a:schemeClr val="bg1"/>
              </a:solidFill>
              <a:latin typeface="+mn-lt"/>
            </a:rPr>
            <a:t>Clinical applications</a:t>
          </a:r>
        </a:p>
      </dsp:txBody>
      <dsp:txXfrm>
        <a:off x="1580591" y="1104067"/>
        <a:ext cx="881573" cy="905283"/>
      </dsp:txXfrm>
    </dsp:sp>
    <dsp:sp modelId="{08CFEABC-2D02-49F1-BF46-F05C8E339AEF}">
      <dsp:nvSpPr>
        <dsp:cNvPr id="0" name=""/>
        <dsp:cNvSpPr/>
      </dsp:nvSpPr>
      <dsp:spPr>
        <a:xfrm>
          <a:off x="1602949" y="-17353"/>
          <a:ext cx="836856" cy="824034"/>
        </a:xfrm>
        <a:prstGeom prst="ellipse">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IN" sz="900" b="1" i="0" kern="1200" dirty="0">
              <a:solidFill>
                <a:schemeClr val="bg1"/>
              </a:solidFill>
              <a:latin typeface="+mn-lt"/>
            </a:rPr>
            <a:t>Drug Intelligence</a:t>
          </a:r>
          <a:endParaRPr lang="en-IN" sz="900" b="1" kern="1200" dirty="0">
            <a:solidFill>
              <a:schemeClr val="bg1"/>
            </a:solidFill>
            <a:latin typeface="+mn-lt"/>
          </a:endParaRPr>
        </a:p>
      </dsp:txBody>
      <dsp:txXfrm>
        <a:off x="1725504" y="103324"/>
        <a:ext cx="591746" cy="582680"/>
      </dsp:txXfrm>
    </dsp:sp>
    <dsp:sp modelId="{B4AD59A1-1736-4BAF-A482-497F375F63B4}">
      <dsp:nvSpPr>
        <dsp:cNvPr id="0" name=""/>
        <dsp:cNvSpPr/>
      </dsp:nvSpPr>
      <dsp:spPr>
        <a:xfrm>
          <a:off x="2800664" y="1173950"/>
          <a:ext cx="765517" cy="765517"/>
        </a:xfrm>
        <a:prstGeom prst="ellipse">
          <a:avLst/>
        </a:prstGeom>
        <a:solidFill>
          <a:schemeClr val="accent3">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IN" sz="900" b="1" i="0" kern="1200">
              <a:solidFill>
                <a:schemeClr val="bg1"/>
              </a:solidFill>
              <a:latin typeface="+mn-lt"/>
            </a:rPr>
            <a:t>Disease Analytics</a:t>
          </a:r>
          <a:endParaRPr lang="en-IN" sz="900" b="1" kern="1200" dirty="0">
            <a:solidFill>
              <a:schemeClr val="bg1"/>
            </a:solidFill>
            <a:latin typeface="+mn-lt"/>
          </a:endParaRPr>
        </a:p>
      </dsp:txBody>
      <dsp:txXfrm>
        <a:off x="2912771" y="1286057"/>
        <a:ext cx="541303" cy="541303"/>
      </dsp:txXfrm>
    </dsp:sp>
    <dsp:sp modelId="{55258307-55F7-487E-A814-C63C48F0FDA2}">
      <dsp:nvSpPr>
        <dsp:cNvPr id="0" name=""/>
        <dsp:cNvSpPr/>
      </dsp:nvSpPr>
      <dsp:spPr>
        <a:xfrm>
          <a:off x="1602949" y="2328730"/>
          <a:ext cx="836856" cy="780047"/>
        </a:xfrm>
        <a:prstGeom prst="ellipse">
          <a:avLst/>
        </a:prstGeom>
        <a:solidFill>
          <a:schemeClr val="accent4">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IN" sz="900" b="1" i="0" kern="1200" dirty="0">
              <a:solidFill>
                <a:schemeClr val="bg1"/>
              </a:solidFill>
              <a:latin typeface="+mn-lt"/>
            </a:rPr>
            <a:t>Sponsor Intelligence</a:t>
          </a:r>
          <a:endParaRPr lang="en-IN" sz="900" b="1" kern="1200" dirty="0">
            <a:solidFill>
              <a:schemeClr val="bg1"/>
            </a:solidFill>
            <a:latin typeface="+mn-lt"/>
          </a:endParaRPr>
        </a:p>
      </dsp:txBody>
      <dsp:txXfrm>
        <a:off x="1725504" y="2442965"/>
        <a:ext cx="591746" cy="551577"/>
      </dsp:txXfrm>
    </dsp:sp>
    <dsp:sp modelId="{5E1F7D32-1D54-4291-AEF4-8156E3413AFB}">
      <dsp:nvSpPr>
        <dsp:cNvPr id="0" name=""/>
        <dsp:cNvSpPr/>
      </dsp:nvSpPr>
      <dsp:spPr>
        <a:xfrm>
          <a:off x="476573" y="1173950"/>
          <a:ext cx="765517" cy="765517"/>
        </a:xfrm>
        <a:prstGeom prst="ellipse">
          <a:avLst/>
        </a:prstGeom>
        <a:solidFill>
          <a:schemeClr val="accent5">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IN" sz="900" b="1" i="0" kern="1200" dirty="0">
              <a:solidFill>
                <a:schemeClr val="bg1"/>
              </a:solidFill>
              <a:latin typeface="+mn-lt"/>
            </a:rPr>
            <a:t>Network &amp; Graph analysis</a:t>
          </a:r>
          <a:endParaRPr lang="en-IN" sz="900" b="1" kern="1200" dirty="0">
            <a:solidFill>
              <a:schemeClr val="bg1"/>
            </a:solidFill>
            <a:latin typeface="+mn-lt"/>
          </a:endParaRPr>
        </a:p>
      </dsp:txBody>
      <dsp:txXfrm>
        <a:off x="588680" y="1286057"/>
        <a:ext cx="541303" cy="541303"/>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F6F023-1DD6-4B99-BEF4-27691FCABB47}" type="datetimeFigureOut">
              <a:rPr lang="en-IN" smtClean="0"/>
              <a:t>07-05-2026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BF4226-05AF-4A6B-A97C-8795295AC9B5}" type="slidenum">
              <a:rPr lang="en-IN" smtClean="0"/>
              <a:t>‹#›</a:t>
            </a:fld>
            <a:endParaRPr lang="en-IN"/>
          </a:p>
        </p:txBody>
      </p:sp>
    </p:spTree>
    <p:extLst>
      <p:ext uri="{BB962C8B-B14F-4D97-AF65-F5344CB8AC3E}">
        <p14:creationId xmlns:p14="http://schemas.microsoft.com/office/powerpoint/2010/main" val="3441878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6583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33.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p:cNvGrpSpPr/>
        <p:nvPr/>
      </p:nvGrpSpPr>
      <p:grpSpPr>
        <a:xfrm>
          <a:off x="0" y="0"/>
          <a:ext cx="0" cy="0"/>
          <a:chOff x="0" y="0"/>
          <a:chExt cx="0" cy="0"/>
        </a:xfrm>
      </p:grpSpPr>
      <p:sp>
        <p:nvSpPr>
          <p:cNvPr id="2" name="Rectangle 1"/>
          <p:cNvSpPr/>
          <p:nvPr/>
        </p:nvSpPr>
        <p:spPr>
          <a:xfrm>
            <a:off x="0" y="0"/>
            <a:ext cx="54864" cy="51435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989320" y="91440"/>
            <a:ext cx="3108960" cy="530352"/>
          </a:xfrm>
          <a:prstGeom prst="rect">
            <a:avLst/>
          </a:prstGeom>
          <a:solidFill>
            <a:srgbClr val="003E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989320" y="731520"/>
            <a:ext cx="2651760" cy="530352"/>
          </a:xfrm>
          <a:prstGeom prst="rect">
            <a:avLst/>
          </a:prstGeom>
          <a:solidFill>
            <a:srgbClr val="005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89320" y="1371600"/>
            <a:ext cx="2926080" cy="530352"/>
          </a:xfrm>
          <a:prstGeom prst="rect">
            <a:avLst/>
          </a:prstGeom>
          <a:solidFill>
            <a:srgbClr val="00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89320" y="2011680"/>
            <a:ext cx="2286000" cy="530352"/>
          </a:xfrm>
          <a:prstGeom prst="rect">
            <a:avLst/>
          </a:prstGeom>
          <a:solidFill>
            <a:srgbClr val="00A4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89320" y="2651760"/>
            <a:ext cx="2743200" cy="530352"/>
          </a:xfrm>
          <a:prstGeom prst="rect">
            <a:avLst/>
          </a:prstGeom>
          <a:solidFill>
            <a:srgbClr val="02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989320" y="3291840"/>
            <a:ext cx="2011680" cy="530352"/>
          </a:xfrm>
          <a:prstGeom prst="rect">
            <a:avLst/>
          </a:prstGeom>
          <a:solidFill>
            <a:srgbClr val="38B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122631"/>
            <a:ext cx="5486400" cy="677108"/>
          </a:xfrm>
          <a:prstGeom prst="rect">
            <a:avLst/>
          </a:prstGeom>
          <a:noFill/>
        </p:spPr>
        <p:txBody>
          <a:bodyPr wrap="square">
            <a:spAutoFit/>
          </a:bodyPr>
          <a:lstStyle/>
          <a:p>
            <a:pPr algn="l"/>
            <a:r>
              <a:rPr sz="3800" b="1" i="0" dirty="0">
                <a:solidFill>
                  <a:srgbClr val="FFFFFF"/>
                </a:solidFill>
                <a:latin typeface="Georgia"/>
              </a:rPr>
              <a:t>Clinical Trials</a:t>
            </a:r>
            <a:r>
              <a:rPr lang="en-IN" sz="3800" b="1" i="0" dirty="0">
                <a:solidFill>
                  <a:srgbClr val="FFFFFF"/>
                </a:solidFill>
                <a:latin typeface="Georgia"/>
              </a:rPr>
              <a:t> -</a:t>
            </a:r>
            <a:endParaRPr sz="3800" b="1" i="0" dirty="0">
              <a:solidFill>
                <a:srgbClr val="FFFFFF"/>
              </a:solidFill>
              <a:latin typeface="Georgia"/>
            </a:endParaRPr>
          </a:p>
        </p:txBody>
      </p:sp>
      <p:sp>
        <p:nvSpPr>
          <p:cNvPr id="10" name="TextBox 9"/>
          <p:cNvSpPr txBox="1"/>
          <p:nvPr/>
        </p:nvSpPr>
        <p:spPr>
          <a:xfrm>
            <a:off x="411480" y="817575"/>
            <a:ext cx="5486400" cy="731520"/>
          </a:xfrm>
          <a:prstGeom prst="rect">
            <a:avLst/>
          </a:prstGeom>
          <a:noFill/>
        </p:spPr>
        <p:txBody>
          <a:bodyPr wrap="square">
            <a:spAutoFit/>
          </a:bodyPr>
          <a:lstStyle/>
          <a:p>
            <a:pPr algn="l"/>
            <a:r>
              <a:rPr sz="3800" b="1" i="0" dirty="0">
                <a:solidFill>
                  <a:srgbClr val="FFFFFF"/>
                </a:solidFill>
                <a:latin typeface="Georgia"/>
              </a:rPr>
              <a:t>Knowledge Graph</a:t>
            </a:r>
          </a:p>
        </p:txBody>
      </p:sp>
      <p:sp>
        <p:nvSpPr>
          <p:cNvPr id="12" name="Rectangle 11"/>
          <p:cNvSpPr/>
          <p:nvPr/>
        </p:nvSpPr>
        <p:spPr>
          <a:xfrm>
            <a:off x="427463" y="1550929"/>
            <a:ext cx="4937760" cy="32004"/>
          </a:xfrm>
          <a:prstGeom prst="rect">
            <a:avLst/>
          </a:prstGeom>
          <a:solidFill>
            <a:srgbClr val="028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A1685590-B83C-7054-DC2A-A2E7EF55D01A}"/>
              </a:ext>
            </a:extLst>
          </p:cNvPr>
          <p:cNvSpPr/>
          <p:nvPr/>
        </p:nvSpPr>
        <p:spPr>
          <a:xfrm>
            <a:off x="5989320" y="3931920"/>
            <a:ext cx="2545080" cy="530352"/>
          </a:xfrm>
          <a:prstGeom prst="rect">
            <a:avLst/>
          </a:prstGeom>
          <a:solidFill>
            <a:srgbClr val="00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a:extLst>
              <a:ext uri="{FF2B5EF4-FFF2-40B4-BE49-F238E27FC236}">
                <a16:creationId xmlns:a16="http://schemas.microsoft.com/office/drawing/2014/main" id="{DA50D5A5-C280-509D-903C-5E0E0AB670E8}"/>
              </a:ext>
            </a:extLst>
          </p:cNvPr>
          <p:cNvSpPr/>
          <p:nvPr/>
        </p:nvSpPr>
        <p:spPr>
          <a:xfrm>
            <a:off x="5989320" y="4572000"/>
            <a:ext cx="2999232" cy="530352"/>
          </a:xfrm>
          <a:prstGeom prst="rect">
            <a:avLst/>
          </a:prstGeom>
          <a:solidFill>
            <a:srgbClr val="003E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4" name="Diagram 13">
            <a:extLst>
              <a:ext uri="{FF2B5EF4-FFF2-40B4-BE49-F238E27FC236}">
                <a16:creationId xmlns:a16="http://schemas.microsoft.com/office/drawing/2014/main" id="{2DCE9F33-B4FF-122A-630A-B1BFA1DC2A09}"/>
              </a:ext>
            </a:extLst>
          </p:cNvPr>
          <p:cNvGraphicFramePr/>
          <p:nvPr>
            <p:extLst>
              <p:ext uri="{D42A27DB-BD31-4B8C-83A1-F6EECF244321}">
                <p14:modId xmlns:p14="http://schemas.microsoft.com/office/powerpoint/2010/main" val="4018751907"/>
              </p:ext>
            </p:extLst>
          </p:nvPr>
        </p:nvGraphicFramePr>
        <p:xfrm>
          <a:off x="750916" y="1746127"/>
          <a:ext cx="4042756" cy="30914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Rectangle 1"/>
          <p:cNvSpPr/>
          <p:nvPr/>
        </p:nvSpPr>
        <p:spPr>
          <a:xfrm>
            <a:off x="-9838" y="0"/>
            <a:ext cx="9144000" cy="7772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443893" y="76962"/>
            <a:ext cx="2283644" cy="502920"/>
          </a:xfrm>
          <a:prstGeom prst="rect">
            <a:avLst/>
          </a:prstGeom>
          <a:noFill/>
        </p:spPr>
        <p:txBody>
          <a:bodyPr wrap="square">
            <a:spAutoFit/>
          </a:bodyPr>
          <a:lstStyle/>
          <a:p>
            <a:pPr algn="l"/>
            <a:r>
              <a:rPr sz="2600" b="1" i="0" dirty="0">
                <a:solidFill>
                  <a:srgbClr val="FFFFFF"/>
                </a:solidFill>
                <a:latin typeface="Georgia"/>
              </a:rPr>
              <a:t>What </a:t>
            </a:r>
            <a:r>
              <a:rPr lang="en-IN" sz="2600" b="1" i="0" dirty="0">
                <a:solidFill>
                  <a:srgbClr val="FFFFFF"/>
                </a:solidFill>
                <a:latin typeface="Georgia"/>
              </a:rPr>
              <a:t>I</a:t>
            </a:r>
            <a:r>
              <a:rPr sz="2600" b="1" i="0" dirty="0">
                <a:solidFill>
                  <a:srgbClr val="FFFFFF"/>
                </a:solidFill>
                <a:latin typeface="Georgia"/>
              </a:rPr>
              <a:t> built</a:t>
            </a:r>
          </a:p>
        </p:txBody>
      </p:sp>
      <p:grpSp>
        <p:nvGrpSpPr>
          <p:cNvPr id="24" name="Group 23">
            <a:extLst>
              <a:ext uri="{FF2B5EF4-FFF2-40B4-BE49-F238E27FC236}">
                <a16:creationId xmlns:a16="http://schemas.microsoft.com/office/drawing/2014/main" id="{C4EB48AC-346A-EDFB-DADD-D04379286A6E}"/>
              </a:ext>
            </a:extLst>
          </p:cNvPr>
          <p:cNvGrpSpPr/>
          <p:nvPr/>
        </p:nvGrpSpPr>
        <p:grpSpPr>
          <a:xfrm>
            <a:off x="2621971" y="1436155"/>
            <a:ext cx="3900056" cy="3050361"/>
            <a:chOff x="457199" y="1292900"/>
            <a:chExt cx="3900056" cy="3050361"/>
          </a:xfrm>
        </p:grpSpPr>
        <p:sp>
          <p:nvSpPr>
            <p:cNvPr id="5" name="Rectangle 4"/>
            <p:cNvSpPr/>
            <p:nvPr/>
          </p:nvSpPr>
          <p:spPr>
            <a:xfrm>
              <a:off x="457201" y="1292900"/>
              <a:ext cx="3900054"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1" y="1347764"/>
              <a:ext cx="548640" cy="274320"/>
            </a:xfrm>
            <a:prstGeom prst="rect">
              <a:avLst/>
            </a:prstGeom>
            <a:noFill/>
          </p:spPr>
          <p:txBody>
            <a:bodyPr wrap="square">
              <a:spAutoFit/>
            </a:bodyPr>
            <a:lstStyle/>
            <a:p>
              <a:pPr algn="l"/>
              <a:r>
                <a:rPr sz="1100" b="1" i="0" dirty="0">
                  <a:solidFill>
                    <a:srgbClr val="00B4D8"/>
                  </a:solidFill>
                  <a:latin typeface="Calibri"/>
                </a:rPr>
                <a:t>01</a:t>
              </a:r>
            </a:p>
          </p:txBody>
        </p:sp>
        <p:sp>
          <p:nvSpPr>
            <p:cNvPr id="7" name="TextBox 6"/>
            <p:cNvSpPr txBox="1"/>
            <p:nvPr/>
          </p:nvSpPr>
          <p:spPr>
            <a:xfrm>
              <a:off x="1005841" y="1329476"/>
              <a:ext cx="3192087" cy="323165"/>
            </a:xfrm>
            <a:prstGeom prst="rect">
              <a:avLst/>
            </a:prstGeom>
            <a:noFill/>
          </p:spPr>
          <p:txBody>
            <a:bodyPr wrap="square">
              <a:spAutoFit/>
            </a:bodyPr>
            <a:lstStyle/>
            <a:p>
              <a:pPr algn="l"/>
              <a:r>
                <a:rPr sz="1500" b="1" i="0" dirty="0">
                  <a:solidFill>
                    <a:srgbClr val="0D1B3E"/>
                  </a:solidFill>
                  <a:latin typeface="Georgia"/>
                </a:rPr>
                <a:t>Drug Intelligence</a:t>
              </a:r>
            </a:p>
          </p:txBody>
        </p:sp>
        <p:sp>
          <p:nvSpPr>
            <p:cNvPr id="8" name="TextBox 7"/>
            <p:cNvSpPr txBox="1"/>
            <p:nvPr/>
          </p:nvSpPr>
          <p:spPr>
            <a:xfrm>
              <a:off x="1005841" y="1612940"/>
              <a:ext cx="3192087" cy="256032"/>
            </a:xfrm>
            <a:prstGeom prst="rect">
              <a:avLst/>
            </a:prstGeom>
            <a:noFill/>
          </p:spPr>
          <p:txBody>
            <a:bodyPr wrap="square">
              <a:spAutoFit/>
            </a:bodyPr>
            <a:lstStyle/>
            <a:p>
              <a:r>
                <a:rPr sz="1050" b="0" i="0" dirty="0">
                  <a:solidFill>
                    <a:srgbClr val="5A7084"/>
                  </a:solidFill>
                  <a:latin typeface="Calibri"/>
                </a:rPr>
                <a:t>Evidence · Competition · Geography</a:t>
              </a:r>
              <a:r>
                <a:rPr lang="en-IN" sz="1050" dirty="0">
                  <a:solidFill>
                    <a:srgbClr val="5A7084"/>
                  </a:solidFill>
                </a:rPr>
                <a:t> · Multi-hop paths</a:t>
              </a:r>
              <a:endParaRPr sz="1050" b="0" i="0" dirty="0">
                <a:solidFill>
                  <a:srgbClr val="5A7084"/>
                </a:solidFill>
                <a:latin typeface="Calibri"/>
              </a:endParaRPr>
            </a:p>
          </p:txBody>
        </p:sp>
        <p:sp>
          <p:nvSpPr>
            <p:cNvPr id="10" name="Rectangle 9"/>
            <p:cNvSpPr/>
            <p:nvPr/>
          </p:nvSpPr>
          <p:spPr>
            <a:xfrm>
              <a:off x="457199" y="2102423"/>
              <a:ext cx="3900055"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39" y="2157287"/>
              <a:ext cx="548640" cy="274320"/>
            </a:xfrm>
            <a:prstGeom prst="rect">
              <a:avLst/>
            </a:prstGeom>
            <a:noFill/>
          </p:spPr>
          <p:txBody>
            <a:bodyPr wrap="square">
              <a:spAutoFit/>
            </a:bodyPr>
            <a:lstStyle/>
            <a:p>
              <a:pPr algn="l"/>
              <a:r>
                <a:rPr sz="1100" b="1" i="0" dirty="0">
                  <a:solidFill>
                    <a:srgbClr val="02C39A"/>
                  </a:solidFill>
                  <a:latin typeface="Calibri"/>
                </a:rPr>
                <a:t>02</a:t>
              </a:r>
            </a:p>
          </p:txBody>
        </p:sp>
        <p:sp>
          <p:nvSpPr>
            <p:cNvPr id="12" name="TextBox 11"/>
            <p:cNvSpPr txBox="1"/>
            <p:nvPr/>
          </p:nvSpPr>
          <p:spPr>
            <a:xfrm>
              <a:off x="1005839" y="2138999"/>
              <a:ext cx="3192087" cy="323165"/>
            </a:xfrm>
            <a:prstGeom prst="rect">
              <a:avLst/>
            </a:prstGeom>
            <a:noFill/>
          </p:spPr>
          <p:txBody>
            <a:bodyPr wrap="square">
              <a:spAutoFit/>
            </a:bodyPr>
            <a:lstStyle/>
            <a:p>
              <a:pPr algn="l"/>
              <a:r>
                <a:rPr sz="1500" b="1" i="0" dirty="0">
                  <a:solidFill>
                    <a:srgbClr val="0D1B3E"/>
                  </a:solidFill>
                  <a:latin typeface="Georgia"/>
                </a:rPr>
                <a:t>Disease Analytics</a:t>
              </a:r>
            </a:p>
          </p:txBody>
        </p:sp>
        <p:sp>
          <p:nvSpPr>
            <p:cNvPr id="13" name="TextBox 12"/>
            <p:cNvSpPr txBox="1"/>
            <p:nvPr/>
          </p:nvSpPr>
          <p:spPr>
            <a:xfrm>
              <a:off x="1005839" y="2422463"/>
              <a:ext cx="3351414" cy="256032"/>
            </a:xfrm>
            <a:prstGeom prst="rect">
              <a:avLst/>
            </a:prstGeom>
            <a:noFill/>
          </p:spPr>
          <p:txBody>
            <a:bodyPr wrap="square">
              <a:spAutoFit/>
            </a:bodyPr>
            <a:lstStyle/>
            <a:p>
              <a:pPr algn="l"/>
              <a:r>
                <a:rPr sz="1050" b="0" i="0" dirty="0">
                  <a:solidFill>
                    <a:srgbClr val="5A7084"/>
                  </a:solidFill>
                  <a:latin typeface="Calibri"/>
                </a:rPr>
                <a:t>Landscape · Design · Phase · Enrollment · Sponsor </a:t>
              </a:r>
              <a:r>
                <a:rPr lang="en-IN" sz="1050" b="0" i="0" dirty="0">
                  <a:solidFill>
                    <a:srgbClr val="5A7084"/>
                  </a:solidFill>
                  <a:latin typeface="Calibri"/>
                </a:rPr>
                <a:t>diversity</a:t>
              </a:r>
              <a:endParaRPr sz="1050" b="0" i="0" dirty="0">
                <a:solidFill>
                  <a:srgbClr val="5A7084"/>
                </a:solidFill>
                <a:latin typeface="Calibri"/>
              </a:endParaRPr>
            </a:p>
          </p:txBody>
        </p:sp>
        <p:sp>
          <p:nvSpPr>
            <p:cNvPr id="15" name="Rectangle 14"/>
            <p:cNvSpPr/>
            <p:nvPr/>
          </p:nvSpPr>
          <p:spPr>
            <a:xfrm>
              <a:off x="457199" y="2911946"/>
              <a:ext cx="3900055"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39" y="2966810"/>
              <a:ext cx="548640" cy="274320"/>
            </a:xfrm>
            <a:prstGeom prst="rect">
              <a:avLst/>
            </a:prstGeom>
            <a:noFill/>
          </p:spPr>
          <p:txBody>
            <a:bodyPr wrap="square">
              <a:spAutoFit/>
            </a:bodyPr>
            <a:lstStyle/>
            <a:p>
              <a:pPr algn="l"/>
              <a:r>
                <a:rPr sz="1100" b="1" i="0">
                  <a:solidFill>
                    <a:srgbClr val="FF6B35"/>
                  </a:solidFill>
                  <a:latin typeface="Calibri"/>
                </a:rPr>
                <a:t>03</a:t>
              </a:r>
            </a:p>
          </p:txBody>
        </p:sp>
        <p:sp>
          <p:nvSpPr>
            <p:cNvPr id="17" name="TextBox 16"/>
            <p:cNvSpPr txBox="1"/>
            <p:nvPr/>
          </p:nvSpPr>
          <p:spPr>
            <a:xfrm>
              <a:off x="1005839" y="2948522"/>
              <a:ext cx="3192087" cy="323165"/>
            </a:xfrm>
            <a:prstGeom prst="rect">
              <a:avLst/>
            </a:prstGeom>
            <a:noFill/>
          </p:spPr>
          <p:txBody>
            <a:bodyPr wrap="square">
              <a:spAutoFit/>
            </a:bodyPr>
            <a:lstStyle/>
            <a:p>
              <a:pPr algn="l"/>
              <a:r>
                <a:rPr sz="1500" b="1" i="0" dirty="0">
                  <a:solidFill>
                    <a:srgbClr val="0D1B3E"/>
                  </a:solidFill>
                  <a:latin typeface="Georgia"/>
                </a:rPr>
                <a:t>Sponsor Intelligence</a:t>
              </a:r>
            </a:p>
          </p:txBody>
        </p:sp>
        <p:sp>
          <p:nvSpPr>
            <p:cNvPr id="18" name="TextBox 17"/>
            <p:cNvSpPr txBox="1"/>
            <p:nvPr/>
          </p:nvSpPr>
          <p:spPr>
            <a:xfrm>
              <a:off x="1005839" y="3231986"/>
              <a:ext cx="3102033" cy="256032"/>
            </a:xfrm>
            <a:prstGeom prst="rect">
              <a:avLst/>
            </a:prstGeom>
            <a:noFill/>
          </p:spPr>
          <p:txBody>
            <a:bodyPr wrap="square">
              <a:spAutoFit/>
            </a:bodyPr>
            <a:lstStyle/>
            <a:p>
              <a:pPr algn="l"/>
              <a:r>
                <a:rPr sz="1050" b="0" i="0">
                  <a:solidFill>
                    <a:srgbClr val="5A7084"/>
                  </a:solidFill>
                  <a:latin typeface="Calibri"/>
                </a:rPr>
                <a:t>Portfolio · Geo reach · Pipeline · Drugs · Collaborators</a:t>
              </a:r>
            </a:p>
          </p:txBody>
        </p:sp>
        <p:grpSp>
          <p:nvGrpSpPr>
            <p:cNvPr id="29" name="Group 28">
              <a:extLst>
                <a:ext uri="{FF2B5EF4-FFF2-40B4-BE49-F238E27FC236}">
                  <a16:creationId xmlns:a16="http://schemas.microsoft.com/office/drawing/2014/main" id="{9BA1B8A8-3A1A-0C82-F872-79C05CDEBA10}"/>
                </a:ext>
              </a:extLst>
            </p:cNvPr>
            <p:cNvGrpSpPr/>
            <p:nvPr/>
          </p:nvGrpSpPr>
          <p:grpSpPr>
            <a:xfrm>
              <a:off x="457199" y="3721469"/>
              <a:ext cx="3900055" cy="621792"/>
              <a:chOff x="429767" y="3810554"/>
              <a:chExt cx="3900055" cy="621792"/>
            </a:xfrm>
          </p:grpSpPr>
          <p:sp>
            <p:nvSpPr>
              <p:cNvPr id="20" name="Rectangle 19"/>
              <p:cNvSpPr/>
              <p:nvPr/>
            </p:nvSpPr>
            <p:spPr>
              <a:xfrm>
                <a:off x="429767" y="3810554"/>
                <a:ext cx="3900055"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3865418"/>
                <a:ext cx="548640" cy="261610"/>
              </a:xfrm>
              <a:prstGeom prst="rect">
                <a:avLst/>
              </a:prstGeom>
              <a:noFill/>
            </p:spPr>
            <p:txBody>
              <a:bodyPr wrap="square">
                <a:spAutoFit/>
              </a:bodyPr>
              <a:lstStyle/>
              <a:p>
                <a:pPr algn="l"/>
                <a:r>
                  <a:rPr sz="1100" b="1" i="0" dirty="0">
                    <a:solidFill>
                      <a:srgbClr val="845EC2"/>
                    </a:solidFill>
                    <a:latin typeface="Calibri"/>
                  </a:rPr>
                  <a:t>0</a:t>
                </a:r>
                <a:r>
                  <a:rPr lang="en-IN" sz="1100" b="1" i="0" dirty="0">
                    <a:solidFill>
                      <a:srgbClr val="845EC2"/>
                    </a:solidFill>
                    <a:latin typeface="Calibri"/>
                  </a:rPr>
                  <a:t>4</a:t>
                </a:r>
                <a:endParaRPr sz="1100" b="1" i="0" dirty="0">
                  <a:solidFill>
                    <a:srgbClr val="845EC2"/>
                  </a:solidFill>
                  <a:latin typeface="Calibri"/>
                </a:endParaRPr>
              </a:p>
            </p:txBody>
          </p:sp>
          <p:sp>
            <p:nvSpPr>
              <p:cNvPr id="22" name="TextBox 21"/>
              <p:cNvSpPr txBox="1"/>
              <p:nvPr/>
            </p:nvSpPr>
            <p:spPr>
              <a:xfrm>
                <a:off x="1005840" y="3847130"/>
                <a:ext cx="2077073" cy="323165"/>
              </a:xfrm>
              <a:prstGeom prst="rect">
                <a:avLst/>
              </a:prstGeom>
              <a:noFill/>
            </p:spPr>
            <p:txBody>
              <a:bodyPr wrap="square">
                <a:spAutoFit/>
              </a:bodyPr>
              <a:lstStyle/>
              <a:p>
                <a:pPr algn="l"/>
                <a:r>
                  <a:rPr sz="1500" b="1" i="0" dirty="0">
                    <a:solidFill>
                      <a:srgbClr val="0D1B3E"/>
                    </a:solidFill>
                    <a:latin typeface="Georgia"/>
                  </a:rPr>
                  <a:t>Network &amp; Graph</a:t>
                </a:r>
              </a:p>
            </p:txBody>
          </p:sp>
          <p:sp>
            <p:nvSpPr>
              <p:cNvPr id="23" name="TextBox 22"/>
              <p:cNvSpPr txBox="1"/>
              <p:nvPr/>
            </p:nvSpPr>
            <p:spPr>
              <a:xfrm>
                <a:off x="1005840" y="4130594"/>
                <a:ext cx="2728237" cy="256032"/>
              </a:xfrm>
              <a:prstGeom prst="rect">
                <a:avLst/>
              </a:prstGeom>
              <a:noFill/>
            </p:spPr>
            <p:txBody>
              <a:bodyPr wrap="square">
                <a:spAutoFit/>
              </a:bodyPr>
              <a:lstStyle/>
              <a:p>
                <a:pPr algn="l"/>
                <a:r>
                  <a:rPr sz="1050" b="0" i="0">
                    <a:solidFill>
                      <a:srgbClr val="5A7084"/>
                    </a:solidFill>
                    <a:latin typeface="Calibri"/>
                  </a:rPr>
                  <a:t>Centrality · Communities · Repurposing signals</a:t>
                </a: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54864"/>
            <a:ext cx="8503920" cy="261610"/>
          </a:xfrm>
          <a:prstGeom prst="rect">
            <a:avLst/>
          </a:prstGeom>
          <a:noFill/>
        </p:spPr>
        <p:txBody>
          <a:bodyPr wrap="square">
            <a:spAutoFit/>
          </a:bodyPr>
          <a:lstStyle/>
          <a:p>
            <a:pPr algn="l"/>
            <a:r>
              <a:rPr sz="1100" b="1" i="0" dirty="0">
                <a:solidFill>
                  <a:srgbClr val="00B4D8"/>
                </a:solidFill>
                <a:latin typeface="Calibri"/>
              </a:rPr>
              <a:t>01  /  DRUG INTELLIGENCE</a:t>
            </a:r>
          </a:p>
        </p:txBody>
      </p:sp>
      <p:grpSp>
        <p:nvGrpSpPr>
          <p:cNvPr id="41" name="Group 40">
            <a:extLst>
              <a:ext uri="{FF2B5EF4-FFF2-40B4-BE49-F238E27FC236}">
                <a16:creationId xmlns:a16="http://schemas.microsoft.com/office/drawing/2014/main" id="{E78AB34B-9982-E576-BFB1-CBE087D72021}"/>
              </a:ext>
            </a:extLst>
          </p:cNvPr>
          <p:cNvGrpSpPr/>
          <p:nvPr/>
        </p:nvGrpSpPr>
        <p:grpSpPr>
          <a:xfrm>
            <a:off x="150876" y="991113"/>
            <a:ext cx="4224528" cy="1286726"/>
            <a:chOff x="237744" y="1552965"/>
            <a:chExt cx="4224528" cy="1286726"/>
          </a:xfrm>
        </p:grpSpPr>
        <p:sp>
          <p:nvSpPr>
            <p:cNvPr id="5" name="Rectangle 4"/>
            <p:cNvSpPr/>
            <p:nvPr/>
          </p:nvSpPr>
          <p:spPr>
            <a:xfrm>
              <a:off x="237744" y="1552965"/>
              <a:ext cx="4224528" cy="128672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37744" y="1552965"/>
              <a:ext cx="50292" cy="128672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8892" y="1571236"/>
              <a:ext cx="4087368" cy="307777"/>
            </a:xfrm>
            <a:prstGeom prst="rect">
              <a:avLst/>
            </a:prstGeom>
            <a:noFill/>
          </p:spPr>
          <p:txBody>
            <a:bodyPr wrap="square">
              <a:spAutoFit/>
            </a:bodyPr>
            <a:lstStyle/>
            <a:p>
              <a:pPr algn="l"/>
              <a:r>
                <a:rPr sz="1400" b="1" i="0" dirty="0">
                  <a:solidFill>
                    <a:srgbClr val="0D1B3E"/>
                  </a:solidFill>
                  <a:latin typeface="Calibri"/>
                </a:rPr>
                <a:t>Evidence Profile</a:t>
              </a:r>
            </a:p>
          </p:txBody>
        </p:sp>
        <p:sp>
          <p:nvSpPr>
            <p:cNvPr id="8" name="TextBox 7"/>
            <p:cNvSpPr txBox="1"/>
            <p:nvPr/>
          </p:nvSpPr>
          <p:spPr>
            <a:xfrm>
              <a:off x="288036" y="1837765"/>
              <a:ext cx="4087368" cy="492443"/>
            </a:xfrm>
            <a:prstGeom prst="rect">
              <a:avLst/>
            </a:prstGeom>
            <a:noFill/>
          </p:spPr>
          <p:txBody>
            <a:bodyPr wrap="square">
              <a:spAutoFit/>
            </a:bodyPr>
            <a:lstStyle/>
            <a:p>
              <a:pPr algn="l"/>
              <a:r>
                <a:rPr lang="en-IN" sz="1000" b="1" i="0" dirty="0">
                  <a:solidFill>
                    <a:srgbClr val="8AA0B4"/>
                  </a:solidFill>
                  <a:latin typeface="Calibri"/>
                </a:rPr>
                <a:t>WHAT IT DOES</a:t>
              </a:r>
            </a:p>
            <a:p>
              <a:r>
                <a:rPr lang="en-US" sz="800" dirty="0">
                  <a:solidFill>
                    <a:srgbClr val="2D3A4A"/>
                  </a:solidFill>
                </a:rPr>
                <a:t>Aggregates every trial ever run for a drug by phase, status, condition and geography in a single query. Replaces weeks of manual registry work.</a:t>
              </a:r>
            </a:p>
          </p:txBody>
        </p:sp>
        <p:sp>
          <p:nvSpPr>
            <p:cNvPr id="10" name="TextBox 9"/>
            <p:cNvSpPr txBox="1"/>
            <p:nvPr/>
          </p:nvSpPr>
          <p:spPr>
            <a:xfrm>
              <a:off x="288036" y="2331225"/>
              <a:ext cx="4087368" cy="492443"/>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Drug developers, BD teams assessing clinical maturity before in-licensing, and medical affairs preparing HCP evidence summaries.</a:t>
              </a:r>
            </a:p>
          </p:txBody>
        </p:sp>
      </p:grpSp>
      <p:grpSp>
        <p:nvGrpSpPr>
          <p:cNvPr id="42" name="Group 41">
            <a:extLst>
              <a:ext uri="{FF2B5EF4-FFF2-40B4-BE49-F238E27FC236}">
                <a16:creationId xmlns:a16="http://schemas.microsoft.com/office/drawing/2014/main" id="{0C9DC3AD-2116-3890-9229-B0F6B5DC4DFE}"/>
              </a:ext>
            </a:extLst>
          </p:cNvPr>
          <p:cNvGrpSpPr/>
          <p:nvPr/>
        </p:nvGrpSpPr>
        <p:grpSpPr>
          <a:xfrm>
            <a:off x="150876" y="2727611"/>
            <a:ext cx="4224528" cy="1364313"/>
            <a:chOff x="150876" y="2960442"/>
            <a:chExt cx="4224528" cy="1364313"/>
          </a:xfrm>
        </p:grpSpPr>
        <p:sp>
          <p:nvSpPr>
            <p:cNvPr id="14" name="Rectangle 13"/>
            <p:cNvSpPr/>
            <p:nvPr/>
          </p:nvSpPr>
          <p:spPr>
            <a:xfrm>
              <a:off x="150876" y="2960442"/>
              <a:ext cx="4224528" cy="136431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50876" y="2960442"/>
              <a:ext cx="50292" cy="1364313"/>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01168" y="2960442"/>
              <a:ext cx="4087368" cy="307777"/>
            </a:xfrm>
            <a:prstGeom prst="rect">
              <a:avLst/>
            </a:prstGeom>
            <a:noFill/>
          </p:spPr>
          <p:txBody>
            <a:bodyPr wrap="square">
              <a:spAutoFit/>
            </a:bodyPr>
            <a:lstStyle/>
            <a:p>
              <a:pPr algn="l"/>
              <a:r>
                <a:rPr sz="1400" b="1" i="0" dirty="0">
                  <a:solidFill>
                    <a:srgbClr val="0D1B3E"/>
                  </a:solidFill>
                  <a:latin typeface="Calibri"/>
                </a:rPr>
                <a:t>Competitive Landscape</a:t>
              </a:r>
            </a:p>
          </p:txBody>
        </p:sp>
        <p:sp>
          <p:nvSpPr>
            <p:cNvPr id="17" name="TextBox 16"/>
            <p:cNvSpPr txBox="1"/>
            <p:nvPr/>
          </p:nvSpPr>
          <p:spPr>
            <a:xfrm>
              <a:off x="192024" y="3250299"/>
              <a:ext cx="4087368" cy="492443"/>
            </a:xfrm>
            <a:prstGeom prst="rect">
              <a:avLst/>
            </a:prstGeom>
            <a:noFill/>
          </p:spPr>
          <p:txBody>
            <a:bodyPr wrap="square">
              <a:spAutoFit/>
            </a:bodyPr>
            <a:lstStyle/>
            <a:p>
              <a:pPr algn="l"/>
              <a:r>
                <a:rPr sz="1000" b="1" i="0" dirty="0">
                  <a:solidFill>
                    <a:srgbClr val="8AA0B4"/>
                  </a:solidFill>
                  <a:latin typeface="Calibri"/>
                </a:rPr>
                <a:t>WHAT IT DOES</a:t>
              </a:r>
              <a:endParaRPr lang="en-IN" sz="1000" b="1" i="0" dirty="0">
                <a:solidFill>
                  <a:srgbClr val="8AA0B4"/>
                </a:solidFill>
                <a:latin typeface="Calibri"/>
              </a:endParaRPr>
            </a:p>
            <a:p>
              <a:r>
                <a:rPr lang="en-US" sz="800" dirty="0">
                  <a:solidFill>
                    <a:srgbClr val="2D3A4A"/>
                  </a:solidFill>
                </a:rPr>
                <a:t>Finds every drug that shares a condition with the target compound, ranked by trial volume, also every sponsor investing in the drug.</a:t>
              </a:r>
            </a:p>
          </p:txBody>
        </p:sp>
        <p:sp>
          <p:nvSpPr>
            <p:cNvPr id="19" name="TextBox 18"/>
            <p:cNvSpPr txBox="1"/>
            <p:nvPr/>
          </p:nvSpPr>
          <p:spPr>
            <a:xfrm>
              <a:off x="201168" y="3724822"/>
              <a:ext cx="4087368" cy="492443"/>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Portfolio strategy and white space mapping; medical affairs competitive dossiers; licensing analysts sizing the field.</a:t>
              </a:r>
            </a:p>
          </p:txBody>
        </p:sp>
      </p:grpSp>
      <p:grpSp>
        <p:nvGrpSpPr>
          <p:cNvPr id="4" name="Group 3">
            <a:extLst>
              <a:ext uri="{FF2B5EF4-FFF2-40B4-BE49-F238E27FC236}">
                <a16:creationId xmlns:a16="http://schemas.microsoft.com/office/drawing/2014/main" id="{E641D1FC-4A9F-7CF5-ED98-5903F22FB2E3}"/>
              </a:ext>
            </a:extLst>
          </p:cNvPr>
          <p:cNvGrpSpPr/>
          <p:nvPr/>
        </p:nvGrpSpPr>
        <p:grpSpPr>
          <a:xfrm>
            <a:off x="4681728" y="976408"/>
            <a:ext cx="4224528" cy="1301431"/>
            <a:chOff x="4681728" y="951994"/>
            <a:chExt cx="4224528" cy="1301431"/>
          </a:xfrm>
        </p:grpSpPr>
        <p:sp>
          <p:nvSpPr>
            <p:cNvPr id="23" name="Rectangle 22"/>
            <p:cNvSpPr/>
            <p:nvPr/>
          </p:nvSpPr>
          <p:spPr>
            <a:xfrm>
              <a:off x="4681728" y="951994"/>
              <a:ext cx="4224528" cy="130143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681728" y="951994"/>
              <a:ext cx="50292" cy="1301431"/>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36592" y="984970"/>
              <a:ext cx="4087368" cy="307777"/>
            </a:xfrm>
            <a:prstGeom prst="rect">
              <a:avLst/>
            </a:prstGeom>
            <a:noFill/>
          </p:spPr>
          <p:txBody>
            <a:bodyPr wrap="square">
              <a:spAutoFit/>
            </a:bodyPr>
            <a:lstStyle/>
            <a:p>
              <a:pPr algn="l"/>
              <a:r>
                <a:rPr sz="1400" b="1" i="0" dirty="0">
                  <a:solidFill>
                    <a:srgbClr val="0D1B3E"/>
                  </a:solidFill>
                  <a:latin typeface="Calibri"/>
                </a:rPr>
                <a:t>Geographic Footprint</a:t>
              </a:r>
            </a:p>
          </p:txBody>
        </p:sp>
        <p:sp>
          <p:nvSpPr>
            <p:cNvPr id="26" name="TextBox 25"/>
            <p:cNvSpPr txBox="1"/>
            <p:nvPr/>
          </p:nvSpPr>
          <p:spPr>
            <a:xfrm>
              <a:off x="4741164" y="1249027"/>
              <a:ext cx="4087368" cy="492443"/>
            </a:xfrm>
            <a:prstGeom prst="rect">
              <a:avLst/>
            </a:prstGeom>
            <a:noFill/>
          </p:spPr>
          <p:txBody>
            <a:bodyPr wrap="square">
              <a:spAutoFit/>
            </a:bodyPr>
            <a:lstStyle/>
            <a:p>
              <a:pPr algn="l"/>
              <a:r>
                <a:rPr sz="1000" b="1" i="0" dirty="0">
                  <a:solidFill>
                    <a:srgbClr val="8AA0B4"/>
                  </a:solidFill>
                  <a:latin typeface="Calibri"/>
                </a:rPr>
                <a:t>WHAT IT DOES</a:t>
              </a:r>
              <a:endParaRPr lang="en-IN" sz="1000" b="1" i="0" dirty="0">
                <a:solidFill>
                  <a:srgbClr val="8AA0B4"/>
                </a:solidFill>
                <a:latin typeface="Calibri"/>
              </a:endParaRPr>
            </a:p>
            <a:p>
              <a:r>
                <a:rPr lang="en-US" sz="800" dirty="0">
                  <a:solidFill>
                    <a:srgbClr val="2D3A4A"/>
                  </a:solidFill>
                </a:rPr>
                <a:t>Maps the countries actively conducting trials for a drug, exposing regional concentration risk and untapped recruitment markets.</a:t>
              </a:r>
            </a:p>
          </p:txBody>
        </p:sp>
        <p:sp>
          <p:nvSpPr>
            <p:cNvPr id="28" name="TextBox 27"/>
            <p:cNvSpPr txBox="1"/>
            <p:nvPr/>
          </p:nvSpPr>
          <p:spPr>
            <a:xfrm>
              <a:off x="4732020" y="1747083"/>
              <a:ext cx="4087368" cy="492443"/>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Clinical operations optimizing site selection; market access teams forecasting country by country launch readiness.</a:t>
              </a:r>
            </a:p>
          </p:txBody>
        </p:sp>
      </p:grpSp>
      <p:grpSp>
        <p:nvGrpSpPr>
          <p:cNvPr id="9" name="Group 8">
            <a:extLst>
              <a:ext uri="{FF2B5EF4-FFF2-40B4-BE49-F238E27FC236}">
                <a16:creationId xmlns:a16="http://schemas.microsoft.com/office/drawing/2014/main" id="{65222B9D-C3CA-FB5E-ED7A-7A011B652E3F}"/>
              </a:ext>
            </a:extLst>
          </p:cNvPr>
          <p:cNvGrpSpPr/>
          <p:nvPr/>
        </p:nvGrpSpPr>
        <p:grpSpPr>
          <a:xfrm>
            <a:off x="4681728" y="2728617"/>
            <a:ext cx="4224528" cy="1363307"/>
            <a:chOff x="4681728" y="2520799"/>
            <a:chExt cx="4224528" cy="1363307"/>
          </a:xfrm>
        </p:grpSpPr>
        <p:sp>
          <p:nvSpPr>
            <p:cNvPr id="32" name="Rectangle 31"/>
            <p:cNvSpPr/>
            <p:nvPr/>
          </p:nvSpPr>
          <p:spPr>
            <a:xfrm>
              <a:off x="4681728" y="2520799"/>
              <a:ext cx="4224528" cy="13633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681728" y="2520799"/>
              <a:ext cx="50292" cy="1363307"/>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732020" y="2520799"/>
              <a:ext cx="4087368" cy="307777"/>
            </a:xfrm>
            <a:prstGeom prst="rect">
              <a:avLst/>
            </a:prstGeom>
            <a:noFill/>
          </p:spPr>
          <p:txBody>
            <a:bodyPr wrap="square">
              <a:spAutoFit/>
            </a:bodyPr>
            <a:lstStyle/>
            <a:p>
              <a:pPr algn="l"/>
              <a:r>
                <a:rPr sz="1400" b="1" i="0" dirty="0">
                  <a:solidFill>
                    <a:srgbClr val="0D1B3E"/>
                  </a:solidFill>
                  <a:latin typeface="Calibri"/>
                </a:rPr>
                <a:t>Multi-hop Paths</a:t>
              </a:r>
            </a:p>
          </p:txBody>
        </p:sp>
        <p:sp>
          <p:nvSpPr>
            <p:cNvPr id="35" name="TextBox 34"/>
            <p:cNvSpPr txBox="1"/>
            <p:nvPr/>
          </p:nvSpPr>
          <p:spPr>
            <a:xfrm>
              <a:off x="4732020" y="2828576"/>
              <a:ext cx="4087368" cy="492443"/>
            </a:xfrm>
            <a:prstGeom prst="rect">
              <a:avLst/>
            </a:prstGeom>
            <a:noFill/>
          </p:spPr>
          <p:txBody>
            <a:bodyPr wrap="square">
              <a:spAutoFit/>
            </a:bodyPr>
            <a:lstStyle/>
            <a:p>
              <a:pPr algn="l"/>
              <a:r>
                <a:rPr lang="en-IN" sz="1000" b="1" i="0" dirty="0">
                  <a:solidFill>
                    <a:srgbClr val="8AA0B4"/>
                  </a:solidFill>
                  <a:latin typeface="Calibri"/>
                </a:rPr>
                <a:t>WHAT IT DOES</a:t>
              </a:r>
            </a:p>
            <a:p>
              <a:r>
                <a:rPr lang="en-US" sz="800" dirty="0">
                  <a:solidFill>
                    <a:srgbClr val="2D3A4A"/>
                  </a:solidFill>
                </a:rPr>
                <a:t>Constructs the Drug → Study → Condition → Sponsor subgraph, the structured context chunk fed to the LLM in the </a:t>
              </a:r>
              <a:r>
                <a:rPr lang="en-US" sz="800" dirty="0" err="1">
                  <a:solidFill>
                    <a:srgbClr val="2D3A4A"/>
                  </a:solidFill>
                </a:rPr>
                <a:t>GraphRAG</a:t>
              </a:r>
              <a:r>
                <a:rPr lang="en-US" sz="800" dirty="0">
                  <a:solidFill>
                    <a:srgbClr val="2D3A4A"/>
                  </a:solidFill>
                </a:rPr>
                <a:t> pipeline.</a:t>
              </a:r>
            </a:p>
          </p:txBody>
        </p:sp>
        <p:sp>
          <p:nvSpPr>
            <p:cNvPr id="37" name="TextBox 36"/>
            <p:cNvSpPr txBox="1"/>
            <p:nvPr/>
          </p:nvSpPr>
          <p:spPr>
            <a:xfrm>
              <a:off x="4741164" y="3279354"/>
              <a:ext cx="4087368" cy="492443"/>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AI/ML teams building grounded clinical Q&amp;A agents; regulatory writers who need citation ready evidence chains.</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F5300-80DF-5CF8-76BB-81BF2F60696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8DF7719-C6AF-318A-BA40-C59195731062}"/>
              </a:ext>
            </a:extLst>
          </p:cNvPr>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0">
            <a:extLst>
              <a:ext uri="{FF2B5EF4-FFF2-40B4-BE49-F238E27FC236}">
                <a16:creationId xmlns:a16="http://schemas.microsoft.com/office/drawing/2014/main" id="{D4A9A085-65B6-05F5-7975-97195BEE37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9925" y="411480"/>
            <a:ext cx="2982306" cy="211947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87ABF89-F386-B9CE-0332-951643838273}"/>
              </a:ext>
            </a:extLst>
          </p:cNvPr>
          <p:cNvSpPr txBox="1"/>
          <p:nvPr/>
        </p:nvSpPr>
        <p:spPr>
          <a:xfrm>
            <a:off x="320040" y="54864"/>
            <a:ext cx="8229600" cy="261610"/>
          </a:xfrm>
          <a:prstGeom prst="rect">
            <a:avLst/>
          </a:prstGeom>
          <a:noFill/>
        </p:spPr>
        <p:txBody>
          <a:bodyPr wrap="square">
            <a:spAutoFit/>
          </a:bodyPr>
          <a:lstStyle/>
          <a:p>
            <a:r>
              <a:rPr sz="1100" b="1" i="0" dirty="0">
                <a:solidFill>
                  <a:srgbClr val="00B4D8"/>
                </a:solidFill>
                <a:latin typeface="Calibri"/>
              </a:rPr>
              <a:t>01  /  DRUG INTELLIGENCE</a:t>
            </a:r>
            <a:r>
              <a:rPr lang="en-IN" sz="1100" b="1" i="0" dirty="0">
                <a:solidFill>
                  <a:srgbClr val="00B4D8"/>
                </a:solidFill>
                <a:latin typeface="Calibri"/>
              </a:rPr>
              <a:t> - </a:t>
            </a:r>
            <a:r>
              <a:rPr lang="en-IN" sz="1100" b="1" i="0" dirty="0">
                <a:solidFill>
                  <a:srgbClr val="00B4D8"/>
                </a:solidFill>
                <a:latin typeface="+mj-lt"/>
              </a:rPr>
              <a:t>S</a:t>
            </a:r>
            <a:r>
              <a:rPr lang="en-IN" sz="1100" b="1" dirty="0">
                <a:solidFill>
                  <a:srgbClr val="00B4D8"/>
                </a:solidFill>
                <a:latin typeface="+mj-lt"/>
              </a:rPr>
              <a:t>emaglutide</a:t>
            </a:r>
            <a:endParaRPr sz="1100" b="1" i="0" dirty="0">
              <a:solidFill>
                <a:srgbClr val="00B4D8"/>
              </a:solidFill>
              <a:latin typeface="+mj-lt"/>
            </a:endParaRPr>
          </a:p>
        </p:txBody>
      </p:sp>
      <p:graphicFrame>
        <p:nvGraphicFramePr>
          <p:cNvPr id="10" name="Table 9">
            <a:extLst>
              <a:ext uri="{FF2B5EF4-FFF2-40B4-BE49-F238E27FC236}">
                <a16:creationId xmlns:a16="http://schemas.microsoft.com/office/drawing/2014/main" id="{AB46BE57-7C43-9499-9C71-86EC849AC22E}"/>
              </a:ext>
            </a:extLst>
          </p:cNvPr>
          <p:cNvGraphicFramePr>
            <a:graphicFrameLocks noGrp="1"/>
          </p:cNvGraphicFramePr>
          <p:nvPr>
            <p:extLst>
              <p:ext uri="{D42A27DB-BD31-4B8C-83A1-F6EECF244321}">
                <p14:modId xmlns:p14="http://schemas.microsoft.com/office/powerpoint/2010/main" val="59571302"/>
              </p:ext>
            </p:extLst>
          </p:nvPr>
        </p:nvGraphicFramePr>
        <p:xfrm>
          <a:off x="55795" y="468678"/>
          <a:ext cx="3104130" cy="1737360"/>
        </p:xfrm>
        <a:graphic>
          <a:graphicData uri="http://schemas.openxmlformats.org/drawingml/2006/table">
            <a:tbl>
              <a:tblPr firstRow="1" bandRow="1">
                <a:tableStyleId>{9DCAF9ED-07DC-4A11-8D7F-57B35C25682E}</a:tableStyleId>
              </a:tblPr>
              <a:tblGrid>
                <a:gridCol w="1034710">
                  <a:extLst>
                    <a:ext uri="{9D8B030D-6E8A-4147-A177-3AD203B41FA5}">
                      <a16:colId xmlns:a16="http://schemas.microsoft.com/office/drawing/2014/main" val="2751907117"/>
                    </a:ext>
                  </a:extLst>
                </a:gridCol>
                <a:gridCol w="1034710">
                  <a:extLst>
                    <a:ext uri="{9D8B030D-6E8A-4147-A177-3AD203B41FA5}">
                      <a16:colId xmlns:a16="http://schemas.microsoft.com/office/drawing/2014/main" val="2868970464"/>
                    </a:ext>
                  </a:extLst>
                </a:gridCol>
                <a:gridCol w="1034710">
                  <a:extLst>
                    <a:ext uri="{9D8B030D-6E8A-4147-A177-3AD203B41FA5}">
                      <a16:colId xmlns:a16="http://schemas.microsoft.com/office/drawing/2014/main" val="2288764733"/>
                    </a:ext>
                  </a:extLst>
                </a:gridCol>
              </a:tblGrid>
              <a:tr h="180324">
                <a:tc gridSpan="3">
                  <a:txBody>
                    <a:bodyPr/>
                    <a:lstStyle/>
                    <a:p>
                      <a:pPr algn="ctr"/>
                      <a:r>
                        <a:rPr lang="en-IN" sz="1000" dirty="0"/>
                        <a:t>Top competitors to Semaglutide</a:t>
                      </a:r>
                    </a:p>
                  </a:txBody>
                  <a:tcPr/>
                </a:tc>
                <a:tc hMerge="1">
                  <a:txBody>
                    <a:bodyPr/>
                    <a:lstStyle/>
                    <a:p>
                      <a:endParaRPr lang="en-IN" sz="1000"/>
                    </a:p>
                  </a:txBody>
                  <a:tcPr/>
                </a:tc>
                <a:tc hMerge="1">
                  <a:txBody>
                    <a:bodyPr/>
                    <a:lstStyle/>
                    <a:p>
                      <a:endParaRPr lang="en-IN" sz="1000" dirty="0"/>
                    </a:p>
                  </a:txBody>
                  <a:tcPr/>
                </a:tc>
                <a:extLst>
                  <a:ext uri="{0D108BD9-81ED-4DB2-BD59-A6C34878D82A}">
                    <a16:rowId xmlns:a16="http://schemas.microsoft.com/office/drawing/2014/main" val="2309756379"/>
                  </a:ext>
                </a:extLst>
              </a:tr>
              <a:tr h="157784">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800" dirty="0"/>
                        <a:t>Metformin</a:t>
                      </a:r>
                    </a:p>
                  </a:txBody>
                  <a:tcPr/>
                </a:tc>
                <a:tc>
                  <a:txBody>
                    <a:bodyPr/>
                    <a:lstStyle/>
                    <a:p>
                      <a:pPr algn="ctr"/>
                      <a:r>
                        <a:rPr lang="en-IN" sz="800" dirty="0"/>
                        <a:t>Clopidogrel</a:t>
                      </a:r>
                    </a:p>
                  </a:txBody>
                  <a:tcPr/>
                </a:tc>
                <a:tc>
                  <a:txBody>
                    <a:bodyPr/>
                    <a:lstStyle/>
                    <a:p>
                      <a:pPr algn="ctr"/>
                      <a:r>
                        <a:rPr lang="en-IN" sz="800" dirty="0"/>
                        <a:t>Ritonavir</a:t>
                      </a:r>
                    </a:p>
                  </a:txBody>
                  <a:tcPr/>
                </a:tc>
                <a:extLst>
                  <a:ext uri="{0D108BD9-81ED-4DB2-BD59-A6C34878D82A}">
                    <a16:rowId xmlns:a16="http://schemas.microsoft.com/office/drawing/2014/main" val="3347977454"/>
                  </a:ext>
                </a:extLst>
              </a:tr>
              <a:tr h="157784">
                <a:tc>
                  <a:txBody>
                    <a:bodyPr/>
                    <a:lstStyle/>
                    <a:p>
                      <a:pPr algn="ctr"/>
                      <a:r>
                        <a:rPr lang="en-IN" sz="800" dirty="0"/>
                        <a:t>Zidovudine</a:t>
                      </a:r>
                    </a:p>
                  </a:txBody>
                  <a:tcPr/>
                </a:tc>
                <a:tc>
                  <a:txBody>
                    <a:bodyPr/>
                    <a:lstStyle/>
                    <a:p>
                      <a:pPr algn="ctr"/>
                      <a:r>
                        <a:rPr lang="en-IN" sz="800" dirty="0"/>
                        <a:t>Pioglitazone</a:t>
                      </a:r>
                    </a:p>
                  </a:txBody>
                  <a:tcPr/>
                </a:tc>
                <a:tc>
                  <a:txBody>
                    <a:bodyPr/>
                    <a:lstStyle/>
                    <a:p>
                      <a:pPr algn="ctr"/>
                      <a:r>
                        <a:rPr lang="en-IN" sz="800" dirty="0"/>
                        <a:t>Rosuvastatin</a:t>
                      </a:r>
                    </a:p>
                  </a:txBody>
                  <a:tcPr/>
                </a:tc>
                <a:extLst>
                  <a:ext uri="{0D108BD9-81ED-4DB2-BD59-A6C34878D82A}">
                    <a16:rowId xmlns:a16="http://schemas.microsoft.com/office/drawing/2014/main" val="1611798856"/>
                  </a:ext>
                </a:extLst>
              </a:tr>
              <a:tr h="157784">
                <a:tc>
                  <a:txBody>
                    <a:bodyPr/>
                    <a:lstStyle/>
                    <a:p>
                      <a:pPr algn="ctr"/>
                      <a:r>
                        <a:rPr lang="en-IN" sz="800" dirty="0"/>
                        <a:t>Sitagliptin</a:t>
                      </a:r>
                    </a:p>
                  </a:txBody>
                  <a:tcPr/>
                </a:tc>
                <a:tc>
                  <a:txBody>
                    <a:bodyPr/>
                    <a:lstStyle/>
                    <a:p>
                      <a:pPr algn="ctr"/>
                      <a:r>
                        <a:rPr lang="en-IN" sz="800" dirty="0"/>
                        <a:t>Aspirin</a:t>
                      </a:r>
                    </a:p>
                  </a:txBody>
                  <a:tcPr/>
                </a:tc>
                <a:tc>
                  <a:txBody>
                    <a:bodyPr/>
                    <a:lstStyle/>
                    <a:p>
                      <a:pPr algn="ctr"/>
                      <a:r>
                        <a:rPr lang="en-IN" sz="800" dirty="0"/>
                        <a:t>Atorvastatin</a:t>
                      </a:r>
                    </a:p>
                  </a:txBody>
                  <a:tcPr/>
                </a:tc>
                <a:extLst>
                  <a:ext uri="{0D108BD9-81ED-4DB2-BD59-A6C34878D82A}">
                    <a16:rowId xmlns:a16="http://schemas.microsoft.com/office/drawing/2014/main" val="431102718"/>
                  </a:ext>
                </a:extLst>
              </a:tr>
              <a:tr h="157784">
                <a:tc>
                  <a:txBody>
                    <a:bodyPr/>
                    <a:lstStyle/>
                    <a:p>
                      <a:pPr algn="ctr"/>
                      <a:r>
                        <a:rPr lang="en-IN" sz="800" dirty="0"/>
                        <a:t>Dapagliflozin</a:t>
                      </a:r>
                    </a:p>
                  </a:txBody>
                  <a:tcPr/>
                </a:tc>
                <a:tc>
                  <a:txBody>
                    <a:bodyPr/>
                    <a:lstStyle/>
                    <a:p>
                      <a:pPr algn="ctr"/>
                      <a:r>
                        <a:rPr lang="en-IN" sz="800" dirty="0"/>
                        <a:t>Insulin</a:t>
                      </a:r>
                    </a:p>
                  </a:txBody>
                  <a:tcPr/>
                </a:tc>
                <a:tc>
                  <a:txBody>
                    <a:bodyPr/>
                    <a:lstStyle/>
                    <a:p>
                      <a:pPr algn="ctr"/>
                      <a:r>
                        <a:rPr lang="en-IN" sz="800" dirty="0"/>
                        <a:t>Itraconazole</a:t>
                      </a:r>
                    </a:p>
                  </a:txBody>
                  <a:tcPr/>
                </a:tc>
                <a:extLst>
                  <a:ext uri="{0D108BD9-81ED-4DB2-BD59-A6C34878D82A}">
                    <a16:rowId xmlns:a16="http://schemas.microsoft.com/office/drawing/2014/main" val="1275585187"/>
                  </a:ext>
                </a:extLst>
              </a:tr>
              <a:tr h="157784">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800" dirty="0"/>
                        <a:t>Midazolam</a:t>
                      </a:r>
                    </a:p>
                  </a:txBody>
                  <a:tcPr/>
                </a:tc>
                <a:tc>
                  <a:txBody>
                    <a:bodyPr/>
                    <a:lstStyle/>
                    <a:p>
                      <a:pPr algn="ctr"/>
                      <a:r>
                        <a:rPr lang="en-IN" sz="800" dirty="0"/>
                        <a:t>Liraglutide</a:t>
                      </a:r>
                    </a:p>
                  </a:txBody>
                  <a:tcPr/>
                </a:tc>
                <a:tc>
                  <a:txBody>
                    <a:bodyPr/>
                    <a:lstStyle/>
                    <a:p>
                      <a:pPr algn="ctr"/>
                      <a:r>
                        <a:rPr lang="en-IN" sz="800" dirty="0"/>
                        <a:t>Lamivudine</a:t>
                      </a:r>
                    </a:p>
                  </a:txBody>
                  <a:tcPr/>
                </a:tc>
                <a:extLst>
                  <a:ext uri="{0D108BD9-81ED-4DB2-BD59-A6C34878D82A}">
                    <a16:rowId xmlns:a16="http://schemas.microsoft.com/office/drawing/2014/main" val="2504116481"/>
                  </a:ext>
                </a:extLst>
              </a:tr>
              <a:tr h="157784">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800" dirty="0"/>
                        <a:t>Propofol</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800" dirty="0"/>
                        <a:t>Insulin aspart</a:t>
                      </a:r>
                    </a:p>
                  </a:txBody>
                  <a:tcPr/>
                </a:tc>
                <a:tc>
                  <a:txBody>
                    <a:bodyPr/>
                    <a:lstStyle/>
                    <a:p>
                      <a:pPr algn="ctr"/>
                      <a:r>
                        <a:rPr lang="en-IN" sz="800" dirty="0"/>
                        <a:t>Prednisone</a:t>
                      </a:r>
                    </a:p>
                  </a:txBody>
                  <a:tcPr/>
                </a:tc>
                <a:extLst>
                  <a:ext uri="{0D108BD9-81ED-4DB2-BD59-A6C34878D82A}">
                    <a16:rowId xmlns:a16="http://schemas.microsoft.com/office/drawing/2014/main" val="3564649038"/>
                  </a:ext>
                </a:extLst>
              </a:tr>
              <a:tr h="157784">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800" dirty="0"/>
                        <a:t>Insulin detemir</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IN" sz="800" dirty="0"/>
                    </a:p>
                  </a:txBody>
                  <a:tcPr/>
                </a:tc>
                <a:tc>
                  <a:txBody>
                    <a:bodyPr/>
                    <a:lstStyle/>
                    <a:p>
                      <a:pPr algn="ctr"/>
                      <a:endParaRPr lang="en-IN" sz="800" dirty="0"/>
                    </a:p>
                  </a:txBody>
                  <a:tcPr/>
                </a:tc>
                <a:extLst>
                  <a:ext uri="{0D108BD9-81ED-4DB2-BD59-A6C34878D82A}">
                    <a16:rowId xmlns:a16="http://schemas.microsoft.com/office/drawing/2014/main" val="531431210"/>
                  </a:ext>
                </a:extLst>
              </a:tr>
            </a:tbl>
          </a:graphicData>
        </a:graphic>
      </p:graphicFrame>
      <p:pic>
        <p:nvPicPr>
          <p:cNvPr id="1028" name="Picture 4">
            <a:extLst>
              <a:ext uri="{FF2B5EF4-FFF2-40B4-BE49-F238E27FC236}">
                <a16:creationId xmlns:a16="http://schemas.microsoft.com/office/drawing/2014/main" id="{993DBBD5-E50F-A0B6-39C0-AA43B7CC4F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1547" y="2571750"/>
            <a:ext cx="2739833" cy="167937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6E1EAEC-C2A9-68DE-CE32-20EE63E81F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4683" y="2571751"/>
            <a:ext cx="2857416" cy="153354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2">
            <a:extLst>
              <a:ext uri="{FF2B5EF4-FFF2-40B4-BE49-F238E27FC236}">
                <a16:creationId xmlns:a16="http://schemas.microsoft.com/office/drawing/2014/main" id="{F7F5A4AC-8F1A-7D79-1FB7-066786C917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42783" y="411480"/>
            <a:ext cx="3001217" cy="206848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3B7E8A21-DF35-0C25-3869-767144258A6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810" y="2571750"/>
            <a:ext cx="3222435" cy="1720177"/>
          </a:xfrm>
          <a:prstGeom prst="rect">
            <a:avLst/>
          </a:prstGeom>
          <a:noFill/>
          <a:extLst>
            <a:ext uri="{909E8E84-426E-40DD-AFC4-6F175D3DCCD1}">
              <a14:hiddenFill xmlns:a14="http://schemas.microsoft.com/office/drawing/2010/main">
                <a:solidFill>
                  <a:srgbClr val="FFFFFF"/>
                </a:solidFill>
              </a14:hiddenFill>
            </a:ext>
          </a:extLst>
        </p:spPr>
      </p:pic>
      <p:sp>
        <p:nvSpPr>
          <p:cNvPr id="200" name="ConcludingBg"/>
          <p:cNvSpPr/>
          <p:nvPr/>
        </p:nvSpPr>
        <p:spPr>
          <a:xfrm>
            <a:off x="0" y="4669827"/>
            <a:ext cx="9144000" cy="480000"/>
          </a:xfrm>
          <a:prstGeom prst="rect">
            <a:avLst/>
          </a:prstGeom>
          <a:solidFill>
            <a:srgbClr val="0D1B3E">
              <a:alpha val="90000"/>
            </a:srgbClr>
          </a:solidFill>
          <a:ln>
            <a:noFill/>
          </a:ln>
        </p:spPr>
        <p:txBody>
          <a:bodyPr rtlCol="0" anchor="ctr"/>
          <a:lstStyle/>
          <a:p>
            <a:pPr algn="ctr"/>
            <a:endParaRPr/>
          </a:p>
        </p:txBody>
      </p:sp>
      <p:sp>
        <p:nvSpPr>
          <p:cNvPr id="201" name="ConcludingText"/>
          <p:cNvSpPr txBox="1"/>
          <p:nvPr/>
        </p:nvSpPr>
        <p:spPr>
          <a:xfrm>
            <a:off x="274320" y="4798084"/>
            <a:ext cx="8595360" cy="230832"/>
          </a:xfrm>
          <a:prstGeom prst="rect">
            <a:avLst/>
          </a:prstGeom>
          <a:noFill/>
        </p:spPr>
        <p:txBody>
          <a:bodyPr wrap="square" rtlCol="0" anchor="ctr">
            <a:spAutoFit/>
          </a:bodyPr>
          <a:lstStyle/>
          <a:p>
            <a:pPr algn="ctr"/>
            <a:r>
              <a:rPr lang="en-US" sz="900" b="0" i="1" dirty="0">
                <a:solidFill>
                  <a:srgbClr val="00B4D8"/>
                </a:solidFill>
                <a:latin typeface="Calibri" pitchFamily="34" charset="0"/>
              </a:rPr>
              <a:t>Semaglutide's trials are mostly across metabolic conditions, it is Phase 3 heavy and it has US centric geography with Novo Nordisk as main sponsor.</a:t>
            </a:r>
          </a:p>
        </p:txBody>
      </p:sp>
    </p:spTree>
    <p:extLst>
      <p:ext uri="{BB962C8B-B14F-4D97-AF65-F5344CB8AC3E}">
        <p14:creationId xmlns:p14="http://schemas.microsoft.com/office/powerpoint/2010/main" val="4105504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A9085-2C2D-C0EC-8506-F857C41C4A6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FD575B0-AACD-2AC3-41E2-1833A3F9B3D3}"/>
              </a:ext>
            </a:extLst>
          </p:cNvPr>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3FC63BF-9175-7435-0814-A9FD9D9B1DA4}"/>
              </a:ext>
            </a:extLst>
          </p:cNvPr>
          <p:cNvSpPr txBox="1"/>
          <p:nvPr/>
        </p:nvSpPr>
        <p:spPr>
          <a:xfrm>
            <a:off x="320040" y="54864"/>
            <a:ext cx="8229600" cy="261610"/>
          </a:xfrm>
          <a:prstGeom prst="rect">
            <a:avLst/>
          </a:prstGeom>
          <a:noFill/>
        </p:spPr>
        <p:txBody>
          <a:bodyPr wrap="square">
            <a:spAutoFit/>
          </a:bodyPr>
          <a:lstStyle/>
          <a:p>
            <a:r>
              <a:rPr sz="1100" b="1" i="0" dirty="0">
                <a:solidFill>
                  <a:srgbClr val="00B4D8"/>
                </a:solidFill>
                <a:latin typeface="Calibri"/>
              </a:rPr>
              <a:t>01  /  DRUG INTELLIGENCE</a:t>
            </a:r>
            <a:r>
              <a:rPr lang="en-IN" sz="1100" b="1" i="0" dirty="0">
                <a:solidFill>
                  <a:srgbClr val="00B4D8"/>
                </a:solidFill>
                <a:latin typeface="Calibri"/>
              </a:rPr>
              <a:t> - </a:t>
            </a:r>
            <a:r>
              <a:rPr lang="en-IN" sz="1100" b="1" dirty="0">
                <a:solidFill>
                  <a:srgbClr val="00B4D8"/>
                </a:solidFill>
                <a:latin typeface="+mj-lt"/>
              </a:rPr>
              <a:t>Donepezil</a:t>
            </a:r>
            <a:endParaRPr sz="1100" b="1" i="0" dirty="0">
              <a:solidFill>
                <a:srgbClr val="00B4D8"/>
              </a:solidFill>
              <a:latin typeface="+mj-lt"/>
            </a:endParaRPr>
          </a:p>
        </p:txBody>
      </p:sp>
      <p:pic>
        <p:nvPicPr>
          <p:cNvPr id="1032" name="Picture 8">
            <a:extLst>
              <a:ext uri="{FF2B5EF4-FFF2-40B4-BE49-F238E27FC236}">
                <a16:creationId xmlns:a16="http://schemas.microsoft.com/office/drawing/2014/main" id="{15D8F979-05D1-523A-D86D-D899674C82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0707" y="411480"/>
            <a:ext cx="2918630" cy="231093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F3A047F6-B5B5-47FA-C145-B001BB5905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8228" y="2722418"/>
            <a:ext cx="2855221" cy="1532371"/>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2F750AF0-61E9-A60B-1809-7756352715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7310" y="2722418"/>
            <a:ext cx="2759720" cy="166377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E8E10B7A-6AE1-34BA-15C4-166338083E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9336" y="411480"/>
            <a:ext cx="3044663" cy="213521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 name="Table 9">
            <a:extLst>
              <a:ext uri="{FF2B5EF4-FFF2-40B4-BE49-F238E27FC236}">
                <a16:creationId xmlns:a16="http://schemas.microsoft.com/office/drawing/2014/main" id="{1380AF45-D7FB-11DA-8E07-843FEC7834E8}"/>
              </a:ext>
            </a:extLst>
          </p:cNvPr>
          <p:cNvGraphicFramePr>
            <a:graphicFrameLocks noGrp="1"/>
          </p:cNvGraphicFramePr>
          <p:nvPr>
            <p:extLst>
              <p:ext uri="{D42A27DB-BD31-4B8C-83A1-F6EECF244321}">
                <p14:modId xmlns:p14="http://schemas.microsoft.com/office/powerpoint/2010/main" val="2272964420"/>
              </p:ext>
            </p:extLst>
          </p:nvPr>
        </p:nvGraphicFramePr>
        <p:xfrm>
          <a:off x="76577" y="473694"/>
          <a:ext cx="3104130" cy="1432560"/>
        </p:xfrm>
        <a:graphic>
          <a:graphicData uri="http://schemas.openxmlformats.org/drawingml/2006/table">
            <a:tbl>
              <a:tblPr firstRow="1" bandRow="1">
                <a:tableStyleId>{9DCAF9ED-07DC-4A11-8D7F-57B35C25682E}</a:tableStyleId>
              </a:tblPr>
              <a:tblGrid>
                <a:gridCol w="1034710">
                  <a:extLst>
                    <a:ext uri="{9D8B030D-6E8A-4147-A177-3AD203B41FA5}">
                      <a16:colId xmlns:a16="http://schemas.microsoft.com/office/drawing/2014/main" val="2751907117"/>
                    </a:ext>
                  </a:extLst>
                </a:gridCol>
                <a:gridCol w="1034710">
                  <a:extLst>
                    <a:ext uri="{9D8B030D-6E8A-4147-A177-3AD203B41FA5}">
                      <a16:colId xmlns:a16="http://schemas.microsoft.com/office/drawing/2014/main" val="2868970464"/>
                    </a:ext>
                  </a:extLst>
                </a:gridCol>
                <a:gridCol w="1034710">
                  <a:extLst>
                    <a:ext uri="{9D8B030D-6E8A-4147-A177-3AD203B41FA5}">
                      <a16:colId xmlns:a16="http://schemas.microsoft.com/office/drawing/2014/main" val="2288764733"/>
                    </a:ext>
                  </a:extLst>
                </a:gridCol>
              </a:tblGrid>
              <a:tr h="186619">
                <a:tc gridSpan="3">
                  <a:txBody>
                    <a:bodyPr/>
                    <a:lstStyle/>
                    <a:p>
                      <a:pPr algn="ctr"/>
                      <a:r>
                        <a:rPr lang="en-IN" sz="1000" dirty="0"/>
                        <a:t>Top competitors to Donepezil</a:t>
                      </a:r>
                    </a:p>
                  </a:txBody>
                  <a:tcPr/>
                </a:tc>
                <a:tc hMerge="1">
                  <a:txBody>
                    <a:bodyPr/>
                    <a:lstStyle/>
                    <a:p>
                      <a:endParaRPr lang="en-IN" sz="1000"/>
                    </a:p>
                  </a:txBody>
                  <a:tcPr/>
                </a:tc>
                <a:tc hMerge="1">
                  <a:txBody>
                    <a:bodyPr/>
                    <a:lstStyle/>
                    <a:p>
                      <a:endParaRPr lang="en-IN" sz="1000" dirty="0"/>
                    </a:p>
                  </a:txBody>
                  <a:tcPr/>
                </a:tc>
                <a:extLst>
                  <a:ext uri="{0D108BD9-81ED-4DB2-BD59-A6C34878D82A}">
                    <a16:rowId xmlns:a16="http://schemas.microsoft.com/office/drawing/2014/main" val="2309756379"/>
                  </a:ext>
                </a:extLst>
              </a:tr>
              <a:tr h="204075">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800" dirty="0"/>
                        <a:t>Radiation therapy</a:t>
                      </a:r>
                    </a:p>
                  </a:txBody>
                  <a:tcPr/>
                </a:tc>
                <a:tc>
                  <a:txBody>
                    <a:bodyPr/>
                    <a:lstStyle/>
                    <a:p>
                      <a:pPr algn="ctr"/>
                      <a:r>
                        <a:rPr lang="en-IN" sz="800" dirty="0"/>
                        <a:t>Metformin</a:t>
                      </a:r>
                    </a:p>
                  </a:txBody>
                  <a:tcPr/>
                </a:tc>
                <a:tc>
                  <a:txBody>
                    <a:bodyPr/>
                    <a:lstStyle/>
                    <a:p>
                      <a:pPr algn="ctr"/>
                      <a:r>
                        <a:rPr lang="en-IN" sz="800" dirty="0"/>
                        <a:t>Paclitaxel</a:t>
                      </a:r>
                    </a:p>
                  </a:txBody>
                  <a:tcPr/>
                </a:tc>
                <a:extLst>
                  <a:ext uri="{0D108BD9-81ED-4DB2-BD59-A6C34878D82A}">
                    <a16:rowId xmlns:a16="http://schemas.microsoft.com/office/drawing/2014/main" val="3347977454"/>
                  </a:ext>
                </a:extLst>
              </a:tr>
              <a:tr h="204075">
                <a:tc>
                  <a:txBody>
                    <a:bodyPr/>
                    <a:lstStyle/>
                    <a:p>
                      <a:pPr algn="ctr"/>
                      <a:r>
                        <a:rPr lang="en-IN" sz="800" dirty="0"/>
                        <a:t>Carboplatin</a:t>
                      </a:r>
                    </a:p>
                  </a:txBody>
                  <a:tcPr/>
                </a:tc>
                <a:tc>
                  <a:txBody>
                    <a:bodyPr/>
                    <a:lstStyle/>
                    <a:p>
                      <a:pPr algn="ctr"/>
                      <a:r>
                        <a:rPr lang="en-IN" sz="800" dirty="0"/>
                        <a:t>Cyclophosphamide</a:t>
                      </a:r>
                    </a:p>
                  </a:txBody>
                  <a:tcPr/>
                </a:tc>
                <a:tc>
                  <a:txBody>
                    <a:bodyPr/>
                    <a:lstStyle/>
                    <a:p>
                      <a:pPr algn="ctr"/>
                      <a:r>
                        <a:rPr lang="en-IN" sz="800" dirty="0"/>
                        <a:t>Trastuzumab</a:t>
                      </a:r>
                    </a:p>
                  </a:txBody>
                  <a:tcPr/>
                </a:tc>
                <a:extLst>
                  <a:ext uri="{0D108BD9-81ED-4DB2-BD59-A6C34878D82A}">
                    <a16:rowId xmlns:a16="http://schemas.microsoft.com/office/drawing/2014/main" val="1611798856"/>
                  </a:ext>
                </a:extLst>
              </a:tr>
              <a:tr h="204075">
                <a:tc>
                  <a:txBody>
                    <a:bodyPr/>
                    <a:lstStyle/>
                    <a:p>
                      <a:pPr algn="ctr"/>
                      <a:r>
                        <a:rPr lang="en-IN" sz="800" dirty="0"/>
                        <a:t>Docetaxel</a:t>
                      </a:r>
                    </a:p>
                  </a:txBody>
                  <a:tcPr/>
                </a:tc>
                <a:tc>
                  <a:txBody>
                    <a:bodyPr/>
                    <a:lstStyle/>
                    <a:p>
                      <a:pPr algn="ctr"/>
                      <a:r>
                        <a:rPr lang="en-IN" sz="800" dirty="0"/>
                        <a:t>Methotrexate</a:t>
                      </a:r>
                    </a:p>
                  </a:txBody>
                  <a:tcPr/>
                </a:tc>
                <a:tc>
                  <a:txBody>
                    <a:bodyPr/>
                    <a:lstStyle/>
                    <a:p>
                      <a:pPr algn="ctr"/>
                      <a:r>
                        <a:rPr lang="en-IN" sz="800" dirty="0"/>
                        <a:t>Cisplatin</a:t>
                      </a:r>
                    </a:p>
                  </a:txBody>
                  <a:tcPr/>
                </a:tc>
                <a:extLst>
                  <a:ext uri="{0D108BD9-81ED-4DB2-BD59-A6C34878D82A}">
                    <a16:rowId xmlns:a16="http://schemas.microsoft.com/office/drawing/2014/main" val="431102718"/>
                  </a:ext>
                </a:extLst>
              </a:tr>
              <a:tr h="204075">
                <a:tc>
                  <a:txBody>
                    <a:bodyPr/>
                    <a:lstStyle/>
                    <a:p>
                      <a:pPr algn="ctr"/>
                      <a:r>
                        <a:rPr lang="en-IN" sz="800" dirty="0"/>
                        <a:t>Midazolam</a:t>
                      </a:r>
                    </a:p>
                  </a:txBody>
                  <a:tcPr/>
                </a:tc>
                <a:tc>
                  <a:txBody>
                    <a:bodyPr/>
                    <a:lstStyle/>
                    <a:p>
                      <a:pPr algn="ctr"/>
                      <a:r>
                        <a:rPr lang="en-IN" sz="800" dirty="0"/>
                        <a:t>Aripiprazole</a:t>
                      </a:r>
                    </a:p>
                  </a:txBody>
                  <a:tcPr/>
                </a:tc>
                <a:tc>
                  <a:txBody>
                    <a:bodyPr/>
                    <a:lstStyle/>
                    <a:p>
                      <a:pPr algn="ctr"/>
                      <a:r>
                        <a:rPr lang="en-IN" sz="800" dirty="0"/>
                        <a:t>Olanzapine</a:t>
                      </a:r>
                    </a:p>
                  </a:txBody>
                  <a:tcPr/>
                </a:tc>
                <a:extLst>
                  <a:ext uri="{0D108BD9-81ED-4DB2-BD59-A6C34878D82A}">
                    <a16:rowId xmlns:a16="http://schemas.microsoft.com/office/drawing/2014/main" val="1275585187"/>
                  </a:ext>
                </a:extLst>
              </a:tr>
              <a:tr h="32068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sz="800" dirty="0"/>
                        <a:t>Conventional surgery</a:t>
                      </a:r>
                    </a:p>
                  </a:txBody>
                  <a:tcPr/>
                </a:tc>
                <a:tc>
                  <a:txBody>
                    <a:bodyPr/>
                    <a:lstStyle/>
                    <a:p>
                      <a:pPr algn="ctr"/>
                      <a:r>
                        <a:rPr lang="en-IN" sz="800" dirty="0"/>
                        <a:t>Risperidone</a:t>
                      </a:r>
                    </a:p>
                  </a:txBody>
                  <a:tcPr/>
                </a:tc>
                <a:tc>
                  <a:txBody>
                    <a:bodyPr/>
                    <a:lstStyle/>
                    <a:p>
                      <a:pPr algn="ctr"/>
                      <a:r>
                        <a:rPr lang="en-IN" sz="800" dirty="0"/>
                        <a:t>Capecitabine</a:t>
                      </a:r>
                    </a:p>
                  </a:txBody>
                  <a:tcPr/>
                </a:tc>
                <a:extLst>
                  <a:ext uri="{0D108BD9-81ED-4DB2-BD59-A6C34878D82A}">
                    <a16:rowId xmlns:a16="http://schemas.microsoft.com/office/drawing/2014/main" val="2504116481"/>
                  </a:ext>
                </a:extLst>
              </a:tr>
            </a:tbl>
          </a:graphicData>
        </a:graphic>
      </p:graphicFrame>
      <p:pic>
        <p:nvPicPr>
          <p:cNvPr id="14" name="Picture 8">
            <a:extLst>
              <a:ext uri="{FF2B5EF4-FFF2-40B4-BE49-F238E27FC236}">
                <a16:creationId xmlns:a16="http://schemas.microsoft.com/office/drawing/2014/main" id="{C6E943F9-AC3E-B282-811C-36C3FBB005E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332" y="2722418"/>
            <a:ext cx="2896250" cy="1546056"/>
          </a:xfrm>
          <a:prstGeom prst="rect">
            <a:avLst/>
          </a:prstGeom>
          <a:noFill/>
          <a:extLst>
            <a:ext uri="{909E8E84-426E-40DD-AFC4-6F175D3DCCD1}">
              <a14:hiddenFill xmlns:a14="http://schemas.microsoft.com/office/drawing/2010/main">
                <a:solidFill>
                  <a:srgbClr val="FFFFFF"/>
                </a:solidFill>
              </a14:hiddenFill>
            </a:ext>
          </a:extLst>
        </p:spPr>
      </p:pic>
      <p:sp>
        <p:nvSpPr>
          <p:cNvPr id="200" name="ConcludingBg"/>
          <p:cNvSpPr/>
          <p:nvPr/>
        </p:nvSpPr>
        <p:spPr>
          <a:xfrm>
            <a:off x="0" y="4672687"/>
            <a:ext cx="9150927" cy="480000"/>
          </a:xfrm>
          <a:prstGeom prst="rect">
            <a:avLst/>
          </a:prstGeom>
          <a:solidFill>
            <a:srgbClr val="0D1B3E">
              <a:alpha val="90000"/>
            </a:srgbClr>
          </a:solidFill>
          <a:ln>
            <a:noFill/>
          </a:ln>
        </p:spPr>
        <p:txBody>
          <a:bodyPr rtlCol="0" anchor="ctr"/>
          <a:lstStyle/>
          <a:p>
            <a:pPr algn="ctr"/>
            <a:endParaRPr/>
          </a:p>
        </p:txBody>
      </p:sp>
      <p:sp>
        <p:nvSpPr>
          <p:cNvPr id="201" name="ConcludingText"/>
          <p:cNvSpPr txBox="1"/>
          <p:nvPr/>
        </p:nvSpPr>
        <p:spPr>
          <a:xfrm>
            <a:off x="274320" y="4780411"/>
            <a:ext cx="8595360" cy="369332"/>
          </a:xfrm>
          <a:prstGeom prst="rect">
            <a:avLst/>
          </a:prstGeom>
          <a:noFill/>
        </p:spPr>
        <p:txBody>
          <a:bodyPr wrap="square" rtlCol="0" anchor="ctr">
            <a:spAutoFit/>
          </a:bodyPr>
          <a:lstStyle/>
          <a:p>
            <a:pPr algn="ctr"/>
            <a:r>
              <a:rPr lang="en-US" sz="900" b="0" i="1" dirty="0">
                <a:solidFill>
                  <a:srgbClr val="00B4D8"/>
                </a:solidFill>
                <a:latin typeface="Calibri" pitchFamily="34" charset="0"/>
              </a:rPr>
              <a:t>Donepezil's competitor list spans across oncology and antipsychotics which reveals the shared comorbidity landscape of Alzheimer's trials. The Phase 2 peak signals a disease area still seeking its breakthrough, with academic centers driving most trial activity.</a:t>
            </a:r>
          </a:p>
        </p:txBody>
      </p:sp>
    </p:spTree>
    <p:extLst>
      <p:ext uri="{BB962C8B-B14F-4D97-AF65-F5344CB8AC3E}">
        <p14:creationId xmlns:p14="http://schemas.microsoft.com/office/powerpoint/2010/main" val="2627987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KF1"/>
          <p:cNvSpPr/>
          <p:nvPr/>
        </p:nvSpPr>
        <p:spPr>
          <a:xfrm>
            <a:off x="270164" y="768600"/>
            <a:ext cx="4160520" cy="17500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51" name="Shape KF1b"/>
          <p:cNvSpPr/>
          <p:nvPr/>
        </p:nvSpPr>
        <p:spPr>
          <a:xfrm>
            <a:off x="270164" y="768600"/>
            <a:ext cx="502920" cy="1750000"/>
          </a:xfrm>
          <a:prstGeom prst="rect">
            <a:avLst/>
          </a:prstGeom>
          <a:solidFill>
            <a:srgbClr val="00B4D8">
              <a:alpha val="12000"/>
            </a:srgbClr>
          </a:solidFill>
          <a:ln/>
        </p:spPr>
      </p:sp>
      <p:sp>
        <p:nvSpPr>
          <p:cNvPr id="52" name="Text KF1num"/>
          <p:cNvSpPr/>
          <p:nvPr/>
        </p:nvSpPr>
        <p:spPr>
          <a:xfrm>
            <a:off x="270164" y="768600"/>
            <a:ext cx="502920" cy="1750000"/>
          </a:xfrm>
          <a:prstGeom prst="rect">
            <a:avLst/>
          </a:prstGeom>
          <a:noFill/>
          <a:ln/>
        </p:spPr>
        <p:txBody>
          <a:bodyPr wrap="square" rtlCol="0" anchor="ctr"/>
          <a:lstStyle/>
          <a:p>
            <a:pPr marL="0" indent="0" algn="ctr">
              <a:buNone/>
            </a:pPr>
            <a:r>
              <a:rPr lang="en-US" sz="2800" b="1" dirty="0">
                <a:solidFill>
                  <a:srgbClr val="00B4D8"/>
                </a:solidFill>
                <a:latin typeface="Calibri" pitchFamily="34" charset="0"/>
              </a:rPr>
              <a:t>1</a:t>
            </a:r>
          </a:p>
        </p:txBody>
      </p:sp>
      <p:sp>
        <p:nvSpPr>
          <p:cNvPr id="53" name="Text KF1title"/>
          <p:cNvSpPr/>
          <p:nvPr/>
        </p:nvSpPr>
        <p:spPr>
          <a:xfrm>
            <a:off x="864524" y="878600"/>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rPr>
              <a:t>Semaglutide dominates its disease space</a:t>
            </a:r>
          </a:p>
        </p:txBody>
      </p:sp>
      <p:sp>
        <p:nvSpPr>
          <p:cNvPr id="54" name="Shape KF1line"/>
          <p:cNvSpPr/>
          <p:nvPr/>
        </p:nvSpPr>
        <p:spPr>
          <a:xfrm>
            <a:off x="864524" y="1271792"/>
            <a:ext cx="3291840" cy="0"/>
          </a:xfrm>
          <a:prstGeom prst="line">
            <a:avLst/>
          </a:prstGeom>
          <a:noFill/>
          <a:ln w="12700">
            <a:solidFill>
              <a:srgbClr val="00B4D8"/>
            </a:solidFill>
            <a:prstDash val="solid"/>
          </a:ln>
        </p:spPr>
      </p:sp>
      <p:sp>
        <p:nvSpPr>
          <p:cNvPr id="55" name="Text KF1body"/>
          <p:cNvSpPr/>
          <p:nvPr/>
        </p:nvSpPr>
        <p:spPr>
          <a:xfrm>
            <a:off x="864524" y="1328600"/>
            <a:ext cx="3474720" cy="1100000"/>
          </a:xfrm>
          <a:prstGeom prst="rect">
            <a:avLst/>
          </a:prstGeom>
          <a:noFill/>
          <a:ln/>
        </p:spPr>
        <p:txBody>
          <a:bodyPr wrap="square" rtlCol="0" anchor="ctr"/>
          <a:lstStyle/>
          <a:p>
            <a:pPr marL="0" indent="0">
              <a:lnSpc>
                <a:spcPct val="140000"/>
              </a:lnSpc>
              <a:buNone/>
            </a:pPr>
            <a:r>
              <a:rPr lang="en-US" sz="950" dirty="0">
                <a:latin typeface="Calibri" pitchFamily="34" charset="0"/>
              </a:rPr>
              <a:t>Semaglutide has a lot of Phase 3 trials confirming it as the most clinically validated GLP1 agonist. The US leads site concentration with most of the trials, followed by Germany and Canada. Novo Nordisk and the University of Colorado are the dominant sponsors, with Diabetes Mellitus Type 2 and Obesity as the primary conditions.</a:t>
            </a:r>
          </a:p>
        </p:txBody>
      </p:sp>
      <p:sp>
        <p:nvSpPr>
          <p:cNvPr id="56" name="Shape KF2"/>
          <p:cNvSpPr/>
          <p:nvPr/>
        </p:nvSpPr>
        <p:spPr>
          <a:xfrm>
            <a:off x="4705004" y="768600"/>
            <a:ext cx="4160520" cy="17500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57" name="Shape KF2b"/>
          <p:cNvSpPr/>
          <p:nvPr/>
        </p:nvSpPr>
        <p:spPr>
          <a:xfrm>
            <a:off x="4705004" y="768600"/>
            <a:ext cx="502920" cy="1750000"/>
          </a:xfrm>
          <a:prstGeom prst="rect">
            <a:avLst/>
          </a:prstGeom>
          <a:solidFill>
            <a:srgbClr val="0D9488">
              <a:alpha val="12000"/>
            </a:srgbClr>
          </a:solidFill>
          <a:ln/>
        </p:spPr>
      </p:sp>
      <p:sp>
        <p:nvSpPr>
          <p:cNvPr id="58" name="Text KF2num"/>
          <p:cNvSpPr/>
          <p:nvPr/>
        </p:nvSpPr>
        <p:spPr>
          <a:xfrm>
            <a:off x="4705004" y="768600"/>
            <a:ext cx="502920" cy="1750000"/>
          </a:xfrm>
          <a:prstGeom prst="rect">
            <a:avLst/>
          </a:prstGeom>
          <a:noFill/>
          <a:ln/>
        </p:spPr>
        <p:txBody>
          <a:bodyPr wrap="square" rtlCol="0" anchor="ctr"/>
          <a:lstStyle/>
          <a:p>
            <a:pPr marL="0" indent="0" algn="ctr">
              <a:buNone/>
            </a:pPr>
            <a:r>
              <a:rPr lang="en-US" sz="2800" b="1" dirty="0">
                <a:solidFill>
                  <a:srgbClr val="0D9488"/>
                </a:solidFill>
                <a:latin typeface="Calibri" pitchFamily="34" charset="0"/>
              </a:rPr>
              <a:t>2</a:t>
            </a:r>
          </a:p>
        </p:txBody>
      </p:sp>
      <p:sp>
        <p:nvSpPr>
          <p:cNvPr id="59" name="Text KF2title"/>
          <p:cNvSpPr/>
          <p:nvPr/>
        </p:nvSpPr>
        <p:spPr>
          <a:xfrm>
            <a:off x="5299364" y="878600"/>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rPr>
              <a:t>Donepezil reveals unexpected competitors</a:t>
            </a:r>
          </a:p>
        </p:txBody>
      </p:sp>
      <p:sp>
        <p:nvSpPr>
          <p:cNvPr id="60" name="Shape KF2line"/>
          <p:cNvSpPr/>
          <p:nvPr/>
        </p:nvSpPr>
        <p:spPr>
          <a:xfrm>
            <a:off x="5299364" y="1271792"/>
            <a:ext cx="3291840" cy="0"/>
          </a:xfrm>
          <a:prstGeom prst="line">
            <a:avLst/>
          </a:prstGeom>
          <a:noFill/>
          <a:ln w="12700">
            <a:solidFill>
              <a:srgbClr val="0D9488"/>
            </a:solidFill>
            <a:prstDash val="solid"/>
          </a:ln>
        </p:spPr>
      </p:sp>
      <p:sp>
        <p:nvSpPr>
          <p:cNvPr id="61" name="Text KF2body"/>
          <p:cNvSpPr/>
          <p:nvPr/>
        </p:nvSpPr>
        <p:spPr>
          <a:xfrm>
            <a:off x="5299364" y="1328600"/>
            <a:ext cx="3474720" cy="1100000"/>
          </a:xfrm>
          <a:prstGeom prst="rect">
            <a:avLst/>
          </a:prstGeom>
          <a:noFill/>
          <a:ln/>
        </p:spPr>
        <p:txBody>
          <a:bodyPr wrap="square" rtlCol="0" anchor="ctr"/>
          <a:lstStyle/>
          <a:p>
            <a:pPr marL="0" indent="0">
              <a:lnSpc>
                <a:spcPct val="140000"/>
              </a:lnSpc>
              <a:buNone/>
            </a:pPr>
            <a:r>
              <a:rPr lang="en-US" sz="950" dirty="0">
                <a:latin typeface="Calibri" pitchFamily="34" charset="0"/>
              </a:rPr>
              <a:t>Donepezil’s top competitors include oncology drugs (Paclitaxel, Carboplatin) and antipsychotics (Aripiprazole, Risperidone), reflecting the shared Alzheimer’s + comorbidity trial landscape. Phase 2 trials dominate, signalling a pipeline still searching for breakthrough efficacy. The US and South Korea are the leading countries.</a:t>
            </a:r>
          </a:p>
        </p:txBody>
      </p:sp>
      <p:sp>
        <p:nvSpPr>
          <p:cNvPr id="62" name="Shape KF3"/>
          <p:cNvSpPr/>
          <p:nvPr/>
        </p:nvSpPr>
        <p:spPr>
          <a:xfrm>
            <a:off x="2487584" y="2800350"/>
            <a:ext cx="4160520" cy="17500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63" name="Shape KF3b"/>
          <p:cNvSpPr/>
          <p:nvPr/>
        </p:nvSpPr>
        <p:spPr>
          <a:xfrm>
            <a:off x="2487584" y="2800350"/>
            <a:ext cx="502920" cy="1750000"/>
          </a:xfrm>
          <a:prstGeom prst="rect">
            <a:avLst/>
          </a:prstGeom>
          <a:solidFill>
            <a:srgbClr val="D97706">
              <a:alpha val="12000"/>
            </a:srgbClr>
          </a:solidFill>
          <a:ln/>
        </p:spPr>
      </p:sp>
      <p:sp>
        <p:nvSpPr>
          <p:cNvPr id="64" name="Text KF3num"/>
          <p:cNvSpPr/>
          <p:nvPr/>
        </p:nvSpPr>
        <p:spPr>
          <a:xfrm>
            <a:off x="2487584" y="2800350"/>
            <a:ext cx="502920" cy="1750000"/>
          </a:xfrm>
          <a:prstGeom prst="rect">
            <a:avLst/>
          </a:prstGeom>
          <a:noFill/>
          <a:ln/>
        </p:spPr>
        <p:txBody>
          <a:bodyPr wrap="square" rtlCol="0" anchor="ctr"/>
          <a:lstStyle/>
          <a:p>
            <a:pPr marL="0" indent="0" algn="ctr">
              <a:buNone/>
            </a:pPr>
            <a:r>
              <a:rPr lang="en-US" sz="2800" b="1" dirty="0">
                <a:solidFill>
                  <a:srgbClr val="D97706"/>
                </a:solidFill>
                <a:latin typeface="Calibri" pitchFamily="34" charset="0"/>
              </a:rPr>
              <a:t>3</a:t>
            </a:r>
          </a:p>
        </p:txBody>
      </p:sp>
      <p:sp>
        <p:nvSpPr>
          <p:cNvPr id="65" name="Text KF3title"/>
          <p:cNvSpPr/>
          <p:nvPr/>
        </p:nvSpPr>
        <p:spPr>
          <a:xfrm>
            <a:off x="3081944" y="2910350"/>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rPr>
              <a:t>Geographic concentration is a risk signal</a:t>
            </a:r>
          </a:p>
        </p:txBody>
      </p:sp>
      <p:sp>
        <p:nvSpPr>
          <p:cNvPr id="66" name="Shape KF3line"/>
          <p:cNvSpPr/>
          <p:nvPr/>
        </p:nvSpPr>
        <p:spPr>
          <a:xfrm>
            <a:off x="3081944" y="3303542"/>
            <a:ext cx="3291840" cy="0"/>
          </a:xfrm>
          <a:prstGeom prst="line">
            <a:avLst/>
          </a:prstGeom>
          <a:noFill/>
          <a:ln w="12700">
            <a:solidFill>
              <a:srgbClr val="D97706"/>
            </a:solidFill>
            <a:prstDash val="solid"/>
          </a:ln>
        </p:spPr>
      </p:sp>
      <p:sp>
        <p:nvSpPr>
          <p:cNvPr id="67" name="Text KF3body"/>
          <p:cNvSpPr/>
          <p:nvPr/>
        </p:nvSpPr>
        <p:spPr>
          <a:xfrm>
            <a:off x="3081944" y="3360350"/>
            <a:ext cx="3474720" cy="1100000"/>
          </a:xfrm>
          <a:prstGeom prst="rect">
            <a:avLst/>
          </a:prstGeom>
          <a:noFill/>
          <a:ln/>
        </p:spPr>
        <p:txBody>
          <a:bodyPr wrap="square" rtlCol="0" anchor="ctr"/>
          <a:lstStyle/>
          <a:p>
            <a:pPr marL="0" indent="0">
              <a:lnSpc>
                <a:spcPct val="140000"/>
              </a:lnSpc>
              <a:buNone/>
            </a:pPr>
            <a:r>
              <a:rPr lang="en-US" sz="950" dirty="0">
                <a:latin typeface="Calibri" pitchFamily="34" charset="0"/>
              </a:rPr>
              <a:t>Both drugs are heavily US centric in their trial geography, revealing recruitment concentration risk. For a drug like Semaglutide with global obesity relevance, the under representation of Asia and Africa is a meaningful gap for generalizability of trial evidence.</a:t>
            </a:r>
          </a:p>
        </p:txBody>
      </p:sp>
      <p:sp>
        <p:nvSpPr>
          <p:cNvPr id="2" name="Rectangle 1">
            <a:extLst>
              <a:ext uri="{FF2B5EF4-FFF2-40B4-BE49-F238E27FC236}">
                <a16:creationId xmlns:a16="http://schemas.microsoft.com/office/drawing/2014/main" id="{486F77BD-C2EC-804A-E7F8-2C9343EE3526}"/>
              </a:ext>
            </a:extLst>
          </p:cNvPr>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A75DA66-6CD4-CFF1-8E03-77E3720C8066}"/>
              </a:ext>
            </a:extLst>
          </p:cNvPr>
          <p:cNvSpPr txBox="1"/>
          <p:nvPr/>
        </p:nvSpPr>
        <p:spPr>
          <a:xfrm>
            <a:off x="320040" y="54864"/>
            <a:ext cx="8503920" cy="261610"/>
          </a:xfrm>
          <a:prstGeom prst="rect">
            <a:avLst/>
          </a:prstGeom>
          <a:noFill/>
        </p:spPr>
        <p:txBody>
          <a:bodyPr wrap="square">
            <a:spAutoFit/>
          </a:bodyPr>
          <a:lstStyle/>
          <a:p>
            <a:pPr algn="l"/>
            <a:r>
              <a:rPr sz="1100" b="1" i="0" dirty="0">
                <a:solidFill>
                  <a:srgbClr val="00B4D8"/>
                </a:solidFill>
                <a:latin typeface="Calibri"/>
              </a:rPr>
              <a:t>01  /  DRUG INTELLIGENCE</a:t>
            </a:r>
            <a:r>
              <a:rPr lang="en-IN" sz="1100" b="1" i="0" dirty="0">
                <a:solidFill>
                  <a:srgbClr val="00B4D8"/>
                </a:solidFill>
                <a:latin typeface="Calibri"/>
              </a:rPr>
              <a:t> – Key Findings</a:t>
            </a:r>
            <a:endParaRPr sz="1100" b="1" i="0" dirty="0">
              <a:solidFill>
                <a:srgbClr val="00B4D8"/>
              </a:solidFill>
              <a:latin typeface="Calibri"/>
            </a:endParaRPr>
          </a:p>
        </p:txBody>
      </p:sp>
    </p:spTree>
    <p:extLst>
      <p:ext uri="{BB962C8B-B14F-4D97-AF65-F5344CB8AC3E}">
        <p14:creationId xmlns:p14="http://schemas.microsoft.com/office/powerpoint/2010/main" val="3151615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54864"/>
            <a:ext cx="8503920" cy="261610"/>
          </a:xfrm>
          <a:prstGeom prst="rect">
            <a:avLst/>
          </a:prstGeom>
          <a:noFill/>
        </p:spPr>
        <p:txBody>
          <a:bodyPr wrap="square">
            <a:spAutoFit/>
          </a:bodyPr>
          <a:lstStyle/>
          <a:p>
            <a:pPr algn="l"/>
            <a:r>
              <a:rPr sz="1100" b="1" i="0" dirty="0">
                <a:solidFill>
                  <a:srgbClr val="02C39A"/>
                </a:solidFill>
                <a:latin typeface="Calibri"/>
              </a:rPr>
              <a:t>02  /  DISEASE ANALYTICS</a:t>
            </a:r>
          </a:p>
        </p:txBody>
      </p:sp>
      <p:grpSp>
        <p:nvGrpSpPr>
          <p:cNvPr id="4" name="Group 3">
            <a:extLst>
              <a:ext uri="{FF2B5EF4-FFF2-40B4-BE49-F238E27FC236}">
                <a16:creationId xmlns:a16="http://schemas.microsoft.com/office/drawing/2014/main" id="{2AD57C75-20EA-3605-603B-3043D383C37C}"/>
              </a:ext>
            </a:extLst>
          </p:cNvPr>
          <p:cNvGrpSpPr/>
          <p:nvPr/>
        </p:nvGrpSpPr>
        <p:grpSpPr>
          <a:xfrm>
            <a:off x="82851" y="513385"/>
            <a:ext cx="4251960" cy="1300734"/>
            <a:chOff x="256032" y="621792"/>
            <a:chExt cx="4251960" cy="1300734"/>
          </a:xfrm>
        </p:grpSpPr>
        <p:grpSp>
          <p:nvGrpSpPr>
            <p:cNvPr id="50" name="Group 49">
              <a:extLst>
                <a:ext uri="{FF2B5EF4-FFF2-40B4-BE49-F238E27FC236}">
                  <a16:creationId xmlns:a16="http://schemas.microsoft.com/office/drawing/2014/main" id="{3E61BF65-0EAD-E90D-57BE-4CF708F8865B}"/>
                </a:ext>
              </a:extLst>
            </p:cNvPr>
            <p:cNvGrpSpPr/>
            <p:nvPr/>
          </p:nvGrpSpPr>
          <p:grpSpPr>
            <a:xfrm>
              <a:off x="256032" y="621792"/>
              <a:ext cx="4251960" cy="1300734"/>
              <a:chOff x="256032" y="960120"/>
              <a:chExt cx="4251960" cy="1333500"/>
            </a:xfrm>
          </p:grpSpPr>
          <p:sp>
            <p:nvSpPr>
              <p:cNvPr id="5" name="Rectangle 4"/>
              <p:cNvSpPr/>
              <p:nvPr/>
            </p:nvSpPr>
            <p:spPr>
              <a:xfrm>
                <a:off x="256032" y="960120"/>
                <a:ext cx="4251960" cy="133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Rectangle 5"/>
              <p:cNvSpPr/>
              <p:nvPr/>
            </p:nvSpPr>
            <p:spPr>
              <a:xfrm>
                <a:off x="256032" y="960120"/>
                <a:ext cx="50292" cy="13335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7" name="TextBox 6"/>
            <p:cNvSpPr txBox="1"/>
            <p:nvPr/>
          </p:nvSpPr>
          <p:spPr>
            <a:xfrm>
              <a:off x="313182" y="621792"/>
              <a:ext cx="4114800" cy="307777"/>
            </a:xfrm>
            <a:prstGeom prst="rect">
              <a:avLst/>
            </a:prstGeom>
            <a:noFill/>
          </p:spPr>
          <p:txBody>
            <a:bodyPr wrap="square">
              <a:spAutoFit/>
            </a:bodyPr>
            <a:lstStyle/>
            <a:p>
              <a:pPr algn="l"/>
              <a:r>
                <a:rPr sz="1400" b="1" i="0" dirty="0">
                  <a:solidFill>
                    <a:srgbClr val="0D1B3E"/>
                  </a:solidFill>
                  <a:latin typeface="Calibri"/>
                </a:rPr>
                <a:t>Treatment Landscape</a:t>
              </a:r>
            </a:p>
          </p:txBody>
        </p:sp>
        <p:sp>
          <p:nvSpPr>
            <p:cNvPr id="8" name="TextBox 7"/>
            <p:cNvSpPr txBox="1"/>
            <p:nvPr/>
          </p:nvSpPr>
          <p:spPr>
            <a:xfrm>
              <a:off x="320040" y="882729"/>
              <a:ext cx="4114800" cy="492443"/>
            </a:xfrm>
            <a:prstGeom prst="rect">
              <a:avLst/>
            </a:prstGeom>
            <a:noFill/>
          </p:spPr>
          <p:txBody>
            <a:bodyPr wrap="square">
              <a:spAutoFit/>
            </a:bodyPr>
            <a:lstStyle/>
            <a:p>
              <a:pPr algn="l"/>
              <a:r>
                <a:rPr sz="1000" b="1" i="0" dirty="0">
                  <a:solidFill>
                    <a:srgbClr val="8AA0B4"/>
                  </a:solidFill>
                  <a:latin typeface="Calibri"/>
                </a:rPr>
                <a:t>WHAT IT DOES</a:t>
              </a:r>
              <a:endParaRPr lang="en-IN" sz="1000" b="1" i="0" dirty="0">
                <a:solidFill>
                  <a:srgbClr val="8AA0B4"/>
                </a:solidFill>
                <a:latin typeface="Calibri"/>
              </a:endParaRPr>
            </a:p>
            <a:p>
              <a:r>
                <a:rPr lang="en-US" sz="800" dirty="0">
                  <a:solidFill>
                    <a:srgbClr val="2D3A4A"/>
                  </a:solidFill>
                </a:rPr>
                <a:t>Ranks every active drug by trial count for a condition. Shows who dominates and who is an emerging challenger.</a:t>
              </a:r>
            </a:p>
          </p:txBody>
        </p:sp>
        <p:sp>
          <p:nvSpPr>
            <p:cNvPr id="10" name="TextBox 9"/>
            <p:cNvSpPr txBox="1"/>
            <p:nvPr/>
          </p:nvSpPr>
          <p:spPr>
            <a:xfrm>
              <a:off x="313182" y="1353477"/>
              <a:ext cx="4114800" cy="492443"/>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Competitive intelligence analysts; payers building formulary evidence; investors assessing therapeutic crowding.</a:t>
              </a:r>
            </a:p>
          </p:txBody>
        </p:sp>
      </p:grpSp>
      <p:grpSp>
        <p:nvGrpSpPr>
          <p:cNvPr id="9" name="Group 8">
            <a:extLst>
              <a:ext uri="{FF2B5EF4-FFF2-40B4-BE49-F238E27FC236}">
                <a16:creationId xmlns:a16="http://schemas.microsoft.com/office/drawing/2014/main" id="{9B55BD06-B1AC-06D6-3C67-2698A878C22C}"/>
              </a:ext>
            </a:extLst>
          </p:cNvPr>
          <p:cNvGrpSpPr/>
          <p:nvPr/>
        </p:nvGrpSpPr>
        <p:grpSpPr>
          <a:xfrm>
            <a:off x="82851" y="1947830"/>
            <a:ext cx="4251960" cy="1336787"/>
            <a:chOff x="256032" y="2135294"/>
            <a:chExt cx="4251960" cy="1336787"/>
          </a:xfrm>
        </p:grpSpPr>
        <p:grpSp>
          <p:nvGrpSpPr>
            <p:cNvPr id="51" name="Group 50">
              <a:extLst>
                <a:ext uri="{FF2B5EF4-FFF2-40B4-BE49-F238E27FC236}">
                  <a16:creationId xmlns:a16="http://schemas.microsoft.com/office/drawing/2014/main" id="{A5440322-3020-BF16-2F19-82F881B95136}"/>
                </a:ext>
              </a:extLst>
            </p:cNvPr>
            <p:cNvGrpSpPr/>
            <p:nvPr/>
          </p:nvGrpSpPr>
          <p:grpSpPr>
            <a:xfrm>
              <a:off x="256032" y="2138581"/>
              <a:ext cx="4251960" cy="1333500"/>
              <a:chOff x="256032" y="2348484"/>
              <a:chExt cx="4251960" cy="1333500"/>
            </a:xfrm>
          </p:grpSpPr>
          <p:sp>
            <p:nvSpPr>
              <p:cNvPr id="14" name="Rectangle 13"/>
              <p:cNvSpPr/>
              <p:nvPr/>
            </p:nvSpPr>
            <p:spPr>
              <a:xfrm>
                <a:off x="256032" y="2348484"/>
                <a:ext cx="4251960" cy="133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56032" y="2348484"/>
                <a:ext cx="50292" cy="13335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6" name="TextBox 15"/>
            <p:cNvSpPr txBox="1"/>
            <p:nvPr/>
          </p:nvSpPr>
          <p:spPr>
            <a:xfrm>
              <a:off x="306324" y="2135294"/>
              <a:ext cx="4114800" cy="307777"/>
            </a:xfrm>
            <a:prstGeom prst="rect">
              <a:avLst/>
            </a:prstGeom>
            <a:noFill/>
          </p:spPr>
          <p:txBody>
            <a:bodyPr wrap="square">
              <a:spAutoFit/>
            </a:bodyPr>
            <a:lstStyle/>
            <a:p>
              <a:pPr algn="l"/>
              <a:r>
                <a:rPr sz="1400" b="1" i="0" dirty="0">
                  <a:solidFill>
                    <a:srgbClr val="0D1B3E"/>
                  </a:solidFill>
                  <a:latin typeface="Calibri"/>
                </a:rPr>
                <a:t>Trial Design Patterns</a:t>
              </a:r>
            </a:p>
          </p:txBody>
        </p:sp>
        <p:sp>
          <p:nvSpPr>
            <p:cNvPr id="17" name="TextBox 16"/>
            <p:cNvSpPr txBox="1"/>
            <p:nvPr/>
          </p:nvSpPr>
          <p:spPr>
            <a:xfrm>
              <a:off x="313182" y="2408253"/>
              <a:ext cx="4114800" cy="492443"/>
            </a:xfrm>
            <a:prstGeom prst="rect">
              <a:avLst/>
            </a:prstGeom>
            <a:noFill/>
          </p:spPr>
          <p:txBody>
            <a:bodyPr wrap="square">
              <a:spAutoFit/>
            </a:bodyPr>
            <a:lstStyle/>
            <a:p>
              <a:pPr algn="l"/>
              <a:r>
                <a:rPr sz="1000" b="1" i="0" dirty="0">
                  <a:solidFill>
                    <a:srgbClr val="8AA0B4"/>
                  </a:solidFill>
                  <a:latin typeface="Calibri"/>
                </a:rPr>
                <a:t>WHAT IT DOES</a:t>
              </a:r>
              <a:endParaRPr lang="en-IN" sz="1000" b="1" i="0" dirty="0">
                <a:solidFill>
                  <a:srgbClr val="8AA0B4"/>
                </a:solidFill>
                <a:latin typeface="Calibri"/>
              </a:endParaRPr>
            </a:p>
            <a:p>
              <a:r>
                <a:rPr lang="en-US" sz="800" dirty="0">
                  <a:solidFill>
                    <a:srgbClr val="2D3A4A"/>
                  </a:solidFill>
                </a:rPr>
                <a:t>Breaks down allocation, blinding and arm type across all trials in a disease, shows whether the field relies on RCTs or observational evidence.</a:t>
              </a:r>
            </a:p>
          </p:txBody>
        </p:sp>
        <p:sp>
          <p:nvSpPr>
            <p:cNvPr id="19" name="TextBox 18"/>
            <p:cNvSpPr txBox="1"/>
            <p:nvPr/>
          </p:nvSpPr>
          <p:spPr>
            <a:xfrm>
              <a:off x="306324" y="2924146"/>
              <a:ext cx="4114800" cy="492443"/>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Protocol designers benchmarking against field norms; HTA bodies assessing evidence quality, meta analysts planning systematic reviews.</a:t>
              </a:r>
            </a:p>
          </p:txBody>
        </p:sp>
      </p:grpSp>
      <p:grpSp>
        <p:nvGrpSpPr>
          <p:cNvPr id="11" name="Group 10">
            <a:extLst>
              <a:ext uri="{FF2B5EF4-FFF2-40B4-BE49-F238E27FC236}">
                <a16:creationId xmlns:a16="http://schemas.microsoft.com/office/drawing/2014/main" id="{7B91F41F-0304-99EE-83F3-7236921C7B2B}"/>
              </a:ext>
            </a:extLst>
          </p:cNvPr>
          <p:cNvGrpSpPr/>
          <p:nvPr/>
        </p:nvGrpSpPr>
        <p:grpSpPr>
          <a:xfrm>
            <a:off x="78279" y="3405816"/>
            <a:ext cx="4251960" cy="1335634"/>
            <a:chOff x="244602" y="3693030"/>
            <a:chExt cx="4251960" cy="1335634"/>
          </a:xfrm>
        </p:grpSpPr>
        <p:grpSp>
          <p:nvGrpSpPr>
            <p:cNvPr id="52" name="Group 51">
              <a:extLst>
                <a:ext uri="{FF2B5EF4-FFF2-40B4-BE49-F238E27FC236}">
                  <a16:creationId xmlns:a16="http://schemas.microsoft.com/office/drawing/2014/main" id="{04729B5D-1A14-8A5F-5DB2-06FC725A40CD}"/>
                </a:ext>
              </a:extLst>
            </p:cNvPr>
            <p:cNvGrpSpPr/>
            <p:nvPr/>
          </p:nvGrpSpPr>
          <p:grpSpPr>
            <a:xfrm>
              <a:off x="244602" y="3695164"/>
              <a:ext cx="4251960" cy="1333500"/>
              <a:chOff x="256032" y="3736848"/>
              <a:chExt cx="4251960" cy="1333500"/>
            </a:xfrm>
          </p:grpSpPr>
          <p:sp>
            <p:nvSpPr>
              <p:cNvPr id="23" name="Rectangle 22"/>
              <p:cNvSpPr/>
              <p:nvPr/>
            </p:nvSpPr>
            <p:spPr>
              <a:xfrm>
                <a:off x="256032" y="3736848"/>
                <a:ext cx="4251960" cy="133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56032" y="3736848"/>
                <a:ext cx="50292" cy="13335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25" name="TextBox 24"/>
            <p:cNvSpPr txBox="1"/>
            <p:nvPr/>
          </p:nvSpPr>
          <p:spPr>
            <a:xfrm>
              <a:off x="294894" y="3693030"/>
              <a:ext cx="4114800" cy="307777"/>
            </a:xfrm>
            <a:prstGeom prst="rect">
              <a:avLst/>
            </a:prstGeom>
            <a:noFill/>
          </p:spPr>
          <p:txBody>
            <a:bodyPr wrap="square">
              <a:spAutoFit/>
            </a:bodyPr>
            <a:lstStyle/>
            <a:p>
              <a:pPr algn="l"/>
              <a:r>
                <a:rPr sz="1400" b="1" i="0" dirty="0">
                  <a:solidFill>
                    <a:srgbClr val="0D1B3E"/>
                  </a:solidFill>
                  <a:latin typeface="Calibri"/>
                </a:rPr>
                <a:t>Phase Progression</a:t>
              </a:r>
            </a:p>
          </p:txBody>
        </p:sp>
        <p:sp>
          <p:nvSpPr>
            <p:cNvPr id="26" name="TextBox 25"/>
            <p:cNvSpPr txBox="1"/>
            <p:nvPr/>
          </p:nvSpPr>
          <p:spPr>
            <a:xfrm>
              <a:off x="313182" y="3950064"/>
              <a:ext cx="4114800" cy="492443"/>
            </a:xfrm>
            <a:prstGeom prst="rect">
              <a:avLst/>
            </a:prstGeom>
            <a:noFill/>
          </p:spPr>
          <p:txBody>
            <a:bodyPr wrap="square">
              <a:spAutoFit/>
            </a:bodyPr>
            <a:lstStyle/>
            <a:p>
              <a:pPr algn="l"/>
              <a:r>
                <a:rPr sz="1000" b="1" i="0" dirty="0">
                  <a:solidFill>
                    <a:srgbClr val="8AA0B4"/>
                  </a:solidFill>
                  <a:latin typeface="Calibri"/>
                </a:rPr>
                <a:t>WHAT IT DOES</a:t>
              </a:r>
              <a:endParaRPr lang="en-IN" sz="800" b="1" i="0" dirty="0">
                <a:solidFill>
                  <a:srgbClr val="8AA0B4"/>
                </a:solidFill>
                <a:latin typeface="Calibri"/>
              </a:endParaRPr>
            </a:p>
            <a:p>
              <a:r>
                <a:rPr lang="en-US" sz="800" dirty="0">
                  <a:solidFill>
                    <a:srgbClr val="2D3A4A"/>
                  </a:solidFill>
                </a:rPr>
                <a:t>Plots trial counts by phase for the entire disease area. A healthy funnel shows I &gt;&gt; II &gt;&gt; III. Inversion signals high attrition.</a:t>
              </a:r>
            </a:p>
          </p:txBody>
        </p:sp>
        <p:sp>
          <p:nvSpPr>
            <p:cNvPr id="28" name="TextBox 27"/>
            <p:cNvSpPr txBox="1"/>
            <p:nvPr/>
          </p:nvSpPr>
          <p:spPr>
            <a:xfrm>
              <a:off x="294894" y="4425842"/>
              <a:ext cx="4114800" cy="492443"/>
            </a:xfrm>
            <a:prstGeom prst="rect">
              <a:avLst/>
            </a:prstGeom>
            <a:noFill/>
          </p:spPr>
          <p:txBody>
            <a:bodyPr wrap="square">
              <a:spAutoFit/>
            </a:bodyPr>
            <a:lstStyle/>
            <a:p>
              <a:pPr algn="l"/>
              <a:r>
                <a:rPr sz="1000" b="1" i="0" dirty="0">
                  <a:solidFill>
                    <a:srgbClr val="8AA0B4"/>
                  </a:solidFill>
                  <a:latin typeface="Calibri"/>
                </a:rPr>
                <a:t>WHO USES IT</a:t>
              </a:r>
              <a:endParaRPr lang="en-IN" sz="800" b="1" i="0" dirty="0">
                <a:solidFill>
                  <a:srgbClr val="8AA0B4"/>
                </a:solidFill>
                <a:latin typeface="Calibri"/>
              </a:endParaRPr>
            </a:p>
            <a:p>
              <a:r>
                <a:rPr lang="en-US" sz="800" dirty="0">
                  <a:solidFill>
                    <a:srgbClr val="2D3A4A"/>
                  </a:solidFill>
                </a:rPr>
                <a:t>R&amp;D strategy leads prioritizing areas; VCs screening categories; BD teams timing in-licensing to the pipeline cycle.</a:t>
              </a:r>
            </a:p>
          </p:txBody>
        </p:sp>
      </p:grpSp>
      <p:grpSp>
        <p:nvGrpSpPr>
          <p:cNvPr id="12" name="Group 11">
            <a:extLst>
              <a:ext uri="{FF2B5EF4-FFF2-40B4-BE49-F238E27FC236}">
                <a16:creationId xmlns:a16="http://schemas.microsoft.com/office/drawing/2014/main" id="{DA5F7547-314C-3BBB-C34C-E49EEC8B77AC}"/>
              </a:ext>
            </a:extLst>
          </p:cNvPr>
          <p:cNvGrpSpPr/>
          <p:nvPr/>
        </p:nvGrpSpPr>
        <p:grpSpPr>
          <a:xfrm>
            <a:off x="4498709" y="505698"/>
            <a:ext cx="4178808" cy="1308421"/>
            <a:chOff x="4741164" y="1155578"/>
            <a:chExt cx="4178808" cy="1308421"/>
          </a:xfrm>
        </p:grpSpPr>
        <p:grpSp>
          <p:nvGrpSpPr>
            <p:cNvPr id="53" name="Group 52">
              <a:extLst>
                <a:ext uri="{FF2B5EF4-FFF2-40B4-BE49-F238E27FC236}">
                  <a16:creationId xmlns:a16="http://schemas.microsoft.com/office/drawing/2014/main" id="{71AD9527-49CB-D7EA-8035-332CD30D2179}"/>
                </a:ext>
              </a:extLst>
            </p:cNvPr>
            <p:cNvGrpSpPr/>
            <p:nvPr/>
          </p:nvGrpSpPr>
          <p:grpSpPr>
            <a:xfrm>
              <a:off x="4741164" y="1168823"/>
              <a:ext cx="4178808" cy="1295176"/>
              <a:chOff x="4709160" y="960120"/>
              <a:chExt cx="4178808" cy="1816447"/>
            </a:xfrm>
          </p:grpSpPr>
          <p:sp>
            <p:nvSpPr>
              <p:cNvPr id="32" name="Rectangle 31"/>
              <p:cNvSpPr/>
              <p:nvPr/>
            </p:nvSpPr>
            <p:spPr>
              <a:xfrm>
                <a:off x="4709160" y="960120"/>
                <a:ext cx="4178808" cy="18164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709160" y="960120"/>
                <a:ext cx="50292" cy="1816447"/>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34" name="TextBox 33"/>
            <p:cNvSpPr txBox="1"/>
            <p:nvPr/>
          </p:nvSpPr>
          <p:spPr>
            <a:xfrm>
              <a:off x="4791456" y="1155578"/>
              <a:ext cx="4041648" cy="307777"/>
            </a:xfrm>
            <a:prstGeom prst="rect">
              <a:avLst/>
            </a:prstGeom>
            <a:noFill/>
          </p:spPr>
          <p:txBody>
            <a:bodyPr wrap="square">
              <a:spAutoFit/>
            </a:bodyPr>
            <a:lstStyle/>
            <a:p>
              <a:pPr algn="l"/>
              <a:r>
                <a:rPr sz="1400" b="1" i="0" dirty="0">
                  <a:solidFill>
                    <a:srgbClr val="0D1B3E"/>
                  </a:solidFill>
                  <a:latin typeface="Calibri"/>
                </a:rPr>
                <a:t>Enrollment Analysis</a:t>
              </a:r>
            </a:p>
          </p:txBody>
        </p:sp>
        <p:sp>
          <p:nvSpPr>
            <p:cNvPr id="35" name="TextBox 34"/>
            <p:cNvSpPr txBox="1"/>
            <p:nvPr/>
          </p:nvSpPr>
          <p:spPr>
            <a:xfrm>
              <a:off x="4766310" y="1402507"/>
              <a:ext cx="4041648" cy="492443"/>
            </a:xfrm>
            <a:prstGeom prst="rect">
              <a:avLst/>
            </a:prstGeom>
            <a:noFill/>
          </p:spPr>
          <p:txBody>
            <a:bodyPr wrap="square">
              <a:spAutoFit/>
            </a:bodyPr>
            <a:lstStyle/>
            <a:p>
              <a:pPr algn="l"/>
              <a:r>
                <a:rPr sz="1000" b="1" i="0" dirty="0">
                  <a:solidFill>
                    <a:srgbClr val="8AA0B4"/>
                  </a:solidFill>
                  <a:latin typeface="Calibri"/>
                </a:rPr>
                <a:t>WHAT IT DOES</a:t>
              </a:r>
              <a:endParaRPr lang="en-IN" sz="800" b="1" i="0" dirty="0">
                <a:solidFill>
                  <a:srgbClr val="8AA0B4"/>
                </a:solidFill>
                <a:latin typeface="Calibri"/>
              </a:endParaRPr>
            </a:p>
            <a:p>
              <a:r>
                <a:rPr lang="en-US" sz="800" dirty="0">
                  <a:solidFill>
                    <a:srgbClr val="2D3A4A"/>
                  </a:solidFill>
                </a:rPr>
                <a:t>Histogram + phase-stratified median charts. Exposes underpowered trials and mega-trials that skew cost estimates.</a:t>
              </a:r>
            </a:p>
          </p:txBody>
        </p:sp>
        <p:sp>
          <p:nvSpPr>
            <p:cNvPr id="37" name="TextBox 36"/>
            <p:cNvSpPr txBox="1"/>
            <p:nvPr/>
          </p:nvSpPr>
          <p:spPr>
            <a:xfrm>
              <a:off x="4809744" y="1864730"/>
              <a:ext cx="4041648" cy="492443"/>
            </a:xfrm>
            <a:prstGeom prst="rect">
              <a:avLst/>
            </a:prstGeom>
            <a:noFill/>
          </p:spPr>
          <p:txBody>
            <a:bodyPr wrap="square">
              <a:spAutoFit/>
            </a:bodyPr>
            <a:lstStyle/>
            <a:p>
              <a:pPr algn="l"/>
              <a:r>
                <a:rPr sz="1000" b="1" i="0" dirty="0">
                  <a:solidFill>
                    <a:srgbClr val="8AA0B4"/>
                  </a:solidFill>
                  <a:latin typeface="Calibri"/>
                </a:rPr>
                <a:t>WHO USES IT</a:t>
              </a:r>
              <a:endParaRPr lang="en-IN" sz="800" b="1" i="0" dirty="0">
                <a:solidFill>
                  <a:srgbClr val="8AA0B4"/>
                </a:solidFill>
                <a:latin typeface="Calibri"/>
              </a:endParaRPr>
            </a:p>
            <a:p>
              <a:r>
                <a:rPr lang="en-US" sz="800" dirty="0">
                  <a:solidFill>
                    <a:srgbClr val="2D3A4A"/>
                  </a:solidFill>
                </a:rPr>
                <a:t>Biostatisticians planning sample sizes; regulatory reviewers; health economists modelling trial cost distributions.</a:t>
              </a:r>
            </a:p>
          </p:txBody>
        </p:sp>
      </p:grpSp>
      <p:grpSp>
        <p:nvGrpSpPr>
          <p:cNvPr id="13" name="Group 12">
            <a:extLst>
              <a:ext uri="{FF2B5EF4-FFF2-40B4-BE49-F238E27FC236}">
                <a16:creationId xmlns:a16="http://schemas.microsoft.com/office/drawing/2014/main" id="{A5C8B531-E892-9A8C-C95B-D7D8387D8C35}"/>
              </a:ext>
            </a:extLst>
          </p:cNvPr>
          <p:cNvGrpSpPr/>
          <p:nvPr/>
        </p:nvGrpSpPr>
        <p:grpSpPr>
          <a:xfrm>
            <a:off x="4498709" y="1954779"/>
            <a:ext cx="4178808" cy="1335358"/>
            <a:chOff x="4741164" y="3104988"/>
            <a:chExt cx="4178808" cy="1335358"/>
          </a:xfrm>
        </p:grpSpPr>
        <p:grpSp>
          <p:nvGrpSpPr>
            <p:cNvPr id="58" name="Group 57">
              <a:extLst>
                <a:ext uri="{FF2B5EF4-FFF2-40B4-BE49-F238E27FC236}">
                  <a16:creationId xmlns:a16="http://schemas.microsoft.com/office/drawing/2014/main" id="{D37AC72C-45F1-6819-E6F7-BB66C5AA3463}"/>
                </a:ext>
              </a:extLst>
            </p:cNvPr>
            <p:cNvGrpSpPr/>
            <p:nvPr/>
          </p:nvGrpSpPr>
          <p:grpSpPr>
            <a:xfrm>
              <a:off x="4741164" y="3112045"/>
              <a:ext cx="4178808" cy="1328301"/>
              <a:chOff x="4709160" y="960120"/>
              <a:chExt cx="4178808" cy="2036826"/>
            </a:xfrm>
          </p:grpSpPr>
          <p:sp>
            <p:nvSpPr>
              <p:cNvPr id="59" name="Rectangle 58">
                <a:extLst>
                  <a:ext uri="{FF2B5EF4-FFF2-40B4-BE49-F238E27FC236}">
                    <a16:creationId xmlns:a16="http://schemas.microsoft.com/office/drawing/2014/main" id="{F742B7A6-2717-126D-5C6A-3725858C3533}"/>
                  </a:ext>
                </a:extLst>
              </p:cNvPr>
              <p:cNvSpPr/>
              <p:nvPr/>
            </p:nvSpPr>
            <p:spPr>
              <a:xfrm>
                <a:off x="4709160" y="960120"/>
                <a:ext cx="4178808" cy="203682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a:extLst>
                  <a:ext uri="{FF2B5EF4-FFF2-40B4-BE49-F238E27FC236}">
                    <a16:creationId xmlns:a16="http://schemas.microsoft.com/office/drawing/2014/main" id="{ADF2EAF2-FBD4-7CB4-2032-5FAF883EC08D}"/>
                  </a:ext>
                </a:extLst>
              </p:cNvPr>
              <p:cNvSpPr/>
              <p:nvPr/>
            </p:nvSpPr>
            <p:spPr>
              <a:xfrm>
                <a:off x="4709160" y="960120"/>
                <a:ext cx="50292" cy="2036826"/>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43" name="TextBox 42"/>
            <p:cNvSpPr txBox="1"/>
            <p:nvPr/>
          </p:nvSpPr>
          <p:spPr>
            <a:xfrm>
              <a:off x="4791456" y="3104988"/>
              <a:ext cx="4041648" cy="307777"/>
            </a:xfrm>
            <a:prstGeom prst="rect">
              <a:avLst/>
            </a:prstGeom>
            <a:noFill/>
          </p:spPr>
          <p:txBody>
            <a:bodyPr wrap="square">
              <a:spAutoFit/>
            </a:bodyPr>
            <a:lstStyle/>
            <a:p>
              <a:pPr algn="l"/>
              <a:r>
                <a:rPr sz="1400" b="1" i="0" dirty="0">
                  <a:solidFill>
                    <a:srgbClr val="0D1B3E"/>
                  </a:solidFill>
                  <a:latin typeface="Calibri"/>
                </a:rPr>
                <a:t>Sponsor Diversity</a:t>
              </a:r>
            </a:p>
          </p:txBody>
        </p:sp>
        <p:sp>
          <p:nvSpPr>
            <p:cNvPr id="44" name="TextBox 43"/>
            <p:cNvSpPr txBox="1"/>
            <p:nvPr/>
          </p:nvSpPr>
          <p:spPr>
            <a:xfrm>
              <a:off x="4782312" y="3370045"/>
              <a:ext cx="4041648" cy="492443"/>
            </a:xfrm>
            <a:prstGeom prst="rect">
              <a:avLst/>
            </a:prstGeom>
            <a:noFill/>
          </p:spPr>
          <p:txBody>
            <a:bodyPr wrap="square">
              <a:spAutoFit/>
            </a:bodyPr>
            <a:lstStyle/>
            <a:p>
              <a:pPr algn="l"/>
              <a:r>
                <a:rPr sz="1000" b="1" i="0" dirty="0">
                  <a:solidFill>
                    <a:srgbClr val="8AA0B4"/>
                  </a:solidFill>
                  <a:latin typeface="Calibri"/>
                </a:rPr>
                <a:t>WHAT IT DOES</a:t>
              </a:r>
              <a:endParaRPr lang="en-IN" sz="800" b="1" i="0" dirty="0">
                <a:solidFill>
                  <a:srgbClr val="8AA0B4"/>
                </a:solidFill>
                <a:latin typeface="Calibri"/>
              </a:endParaRPr>
            </a:p>
            <a:p>
              <a:r>
                <a:rPr lang="en-US" sz="800" dirty="0">
                  <a:solidFill>
                    <a:srgbClr val="2D3A4A"/>
                  </a:solidFill>
                </a:rPr>
                <a:t>Classifies sponsors as Industry, Academic or Government and maps trial volumes. High academic share signals exploratory science.</a:t>
              </a:r>
            </a:p>
          </p:txBody>
        </p:sp>
        <p:sp>
          <p:nvSpPr>
            <p:cNvPr id="46" name="TextBox 45"/>
            <p:cNvSpPr txBox="1"/>
            <p:nvPr/>
          </p:nvSpPr>
          <p:spPr>
            <a:xfrm>
              <a:off x="4782312" y="3887907"/>
              <a:ext cx="4041648" cy="492443"/>
            </a:xfrm>
            <a:prstGeom prst="rect">
              <a:avLst/>
            </a:prstGeom>
            <a:noFill/>
          </p:spPr>
          <p:txBody>
            <a:bodyPr wrap="square">
              <a:spAutoFit/>
            </a:bodyPr>
            <a:lstStyle/>
            <a:p>
              <a:pPr algn="l"/>
              <a:r>
                <a:rPr sz="1000" b="1" i="0" dirty="0">
                  <a:solidFill>
                    <a:srgbClr val="8AA0B4"/>
                  </a:solidFill>
                  <a:latin typeface="Calibri"/>
                </a:rPr>
                <a:t>WHO USES IT</a:t>
              </a:r>
              <a:endParaRPr lang="en-IN" sz="800" b="1" i="0" dirty="0">
                <a:solidFill>
                  <a:srgbClr val="8AA0B4"/>
                </a:solidFill>
                <a:latin typeface="Calibri"/>
              </a:endParaRPr>
            </a:p>
            <a:p>
              <a:r>
                <a:rPr lang="en-US" sz="800" dirty="0">
                  <a:solidFill>
                    <a:srgbClr val="2D3A4A"/>
                  </a:solidFill>
                </a:rPr>
                <a:t>Licensing managers identifying partners; grant writers mapping funding; investors gauging commercial momentum in a disease area.</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4BEB2-A1C2-12F8-52F9-FC650E89AC6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E4116C8-5158-F0DE-4B99-F11219E80788}"/>
              </a:ext>
            </a:extLst>
          </p:cNvPr>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BA4203FD-D0A6-3A09-CF55-6B536206CD0A}"/>
              </a:ext>
            </a:extLst>
          </p:cNvPr>
          <p:cNvSpPr txBox="1"/>
          <p:nvPr/>
        </p:nvSpPr>
        <p:spPr>
          <a:xfrm>
            <a:off x="320040" y="54864"/>
            <a:ext cx="8503920" cy="261610"/>
          </a:xfrm>
          <a:prstGeom prst="rect">
            <a:avLst/>
          </a:prstGeom>
          <a:noFill/>
        </p:spPr>
        <p:txBody>
          <a:bodyPr wrap="square">
            <a:spAutoFit/>
          </a:bodyPr>
          <a:lstStyle/>
          <a:p>
            <a:r>
              <a:rPr sz="1100" b="1" i="0" dirty="0">
                <a:solidFill>
                  <a:srgbClr val="02C39A"/>
                </a:solidFill>
                <a:latin typeface="Calibri"/>
              </a:rPr>
              <a:t>02  /  DISEASE ANALYTICS</a:t>
            </a:r>
            <a:r>
              <a:rPr lang="en-IN" sz="1100" b="1" dirty="0">
                <a:solidFill>
                  <a:srgbClr val="02C39A"/>
                </a:solidFill>
              </a:rPr>
              <a:t> - Diabetes</a:t>
            </a:r>
            <a:endParaRPr sz="1100" b="1" i="0" dirty="0">
              <a:solidFill>
                <a:srgbClr val="02C39A"/>
              </a:solidFill>
              <a:latin typeface="Calibri"/>
            </a:endParaRPr>
          </a:p>
        </p:txBody>
      </p:sp>
      <p:pic>
        <p:nvPicPr>
          <p:cNvPr id="1028" name="Picture 4">
            <a:extLst>
              <a:ext uri="{FF2B5EF4-FFF2-40B4-BE49-F238E27FC236}">
                <a16:creationId xmlns:a16="http://schemas.microsoft.com/office/drawing/2014/main" id="{E1880537-4694-51CD-E9B6-8EF3FF2C79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346" y="2063658"/>
            <a:ext cx="2743654" cy="2520397"/>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27D14096-B3A6-8944-2BBC-8817DC53E127}"/>
              </a:ext>
            </a:extLst>
          </p:cNvPr>
          <p:cNvGrpSpPr/>
          <p:nvPr/>
        </p:nvGrpSpPr>
        <p:grpSpPr>
          <a:xfrm>
            <a:off x="0" y="487569"/>
            <a:ext cx="8467532" cy="1577865"/>
            <a:chOff x="48491" y="3368593"/>
            <a:chExt cx="9047018" cy="1721981"/>
          </a:xfrm>
        </p:grpSpPr>
        <p:grpSp>
          <p:nvGrpSpPr>
            <p:cNvPr id="5" name="Group 4">
              <a:extLst>
                <a:ext uri="{FF2B5EF4-FFF2-40B4-BE49-F238E27FC236}">
                  <a16:creationId xmlns:a16="http://schemas.microsoft.com/office/drawing/2014/main" id="{13320BC2-F672-9367-66FA-9B1C03E8FAD6}"/>
                </a:ext>
              </a:extLst>
            </p:cNvPr>
            <p:cNvGrpSpPr/>
            <p:nvPr/>
          </p:nvGrpSpPr>
          <p:grpSpPr>
            <a:xfrm>
              <a:off x="3128722" y="3368593"/>
              <a:ext cx="5966787" cy="1720043"/>
              <a:chOff x="3128722" y="3368593"/>
              <a:chExt cx="5966787" cy="1720043"/>
            </a:xfrm>
          </p:grpSpPr>
          <p:pic>
            <p:nvPicPr>
              <p:cNvPr id="2050" name="Picture 2">
                <a:extLst>
                  <a:ext uri="{FF2B5EF4-FFF2-40B4-BE49-F238E27FC236}">
                    <a16:creationId xmlns:a16="http://schemas.microsoft.com/office/drawing/2014/main" id="{517038E9-C459-4EE6-D3BB-FB3BF5C8C3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8722" y="3408219"/>
                <a:ext cx="2886556" cy="168041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183CBA7D-92E9-D20B-9313-8CEFB8D1EA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39697" y="3368593"/>
                <a:ext cx="2955812" cy="1680418"/>
              </a:xfrm>
              <a:prstGeom prst="rect">
                <a:avLst/>
              </a:prstGeom>
              <a:noFill/>
              <a:extLst>
                <a:ext uri="{909E8E84-426E-40DD-AFC4-6F175D3DCCD1}">
                  <a14:hiddenFill xmlns:a14="http://schemas.microsoft.com/office/drawing/2010/main">
                    <a:solidFill>
                      <a:srgbClr val="FFFFFF"/>
                    </a:solidFill>
                  </a14:hiddenFill>
                </a:ext>
              </a:extLst>
            </p:spPr>
          </p:pic>
        </p:grpSp>
        <p:pic>
          <p:nvPicPr>
            <p:cNvPr id="2054" name="Picture 6">
              <a:extLst>
                <a:ext uri="{FF2B5EF4-FFF2-40B4-BE49-F238E27FC236}">
                  <a16:creationId xmlns:a16="http://schemas.microsoft.com/office/drawing/2014/main" id="{E6DE14EB-41F7-911E-2CBB-93522C0BBB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91" y="3410156"/>
              <a:ext cx="2978724" cy="1680418"/>
            </a:xfrm>
            <a:prstGeom prst="rect">
              <a:avLst/>
            </a:prstGeom>
            <a:noFill/>
            <a:extLst>
              <a:ext uri="{909E8E84-426E-40DD-AFC4-6F175D3DCCD1}">
                <a14:hiddenFill xmlns:a14="http://schemas.microsoft.com/office/drawing/2010/main">
                  <a:solidFill>
                    <a:srgbClr val="FFFFFF"/>
                  </a:solidFill>
                </a14:hiddenFill>
              </a:ext>
            </a:extLst>
          </p:spPr>
        </p:pic>
      </p:grpSp>
      <p:pic>
        <p:nvPicPr>
          <p:cNvPr id="1032" name="Picture 8">
            <a:extLst>
              <a:ext uri="{FF2B5EF4-FFF2-40B4-BE49-F238E27FC236}">
                <a16:creationId xmlns:a16="http://schemas.microsoft.com/office/drawing/2014/main" id="{C9073060-75FE-5702-502D-ADB69E23BB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082" y="3327039"/>
            <a:ext cx="2521526" cy="135328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27F96CEF-4E98-C473-B360-64B8E7F386D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1720" y="2375432"/>
            <a:ext cx="3230240" cy="1733639"/>
          </a:xfrm>
          <a:prstGeom prst="rect">
            <a:avLst/>
          </a:prstGeom>
          <a:noFill/>
          <a:extLst>
            <a:ext uri="{909E8E84-426E-40DD-AFC4-6F175D3DCCD1}">
              <a14:hiddenFill xmlns:a14="http://schemas.microsoft.com/office/drawing/2010/main">
                <a:solidFill>
                  <a:srgbClr val="FFFFFF"/>
                </a:solidFill>
              </a14:hiddenFill>
            </a:ext>
          </a:extLst>
        </p:spPr>
      </p:pic>
      <p:sp>
        <p:nvSpPr>
          <p:cNvPr id="200" name="ConcludingBg"/>
          <p:cNvSpPr/>
          <p:nvPr/>
        </p:nvSpPr>
        <p:spPr>
          <a:xfrm>
            <a:off x="0" y="4675000"/>
            <a:ext cx="9144000" cy="480000"/>
          </a:xfrm>
          <a:prstGeom prst="rect">
            <a:avLst/>
          </a:prstGeom>
          <a:solidFill>
            <a:srgbClr val="0D1B3E">
              <a:alpha val="90000"/>
            </a:srgbClr>
          </a:solidFill>
          <a:ln>
            <a:noFill/>
          </a:ln>
        </p:spPr>
        <p:txBody>
          <a:bodyPr rtlCol="0" anchor="ctr"/>
          <a:lstStyle/>
          <a:p>
            <a:pPr algn="ctr"/>
            <a:endParaRPr/>
          </a:p>
        </p:txBody>
      </p:sp>
      <p:sp>
        <p:nvSpPr>
          <p:cNvPr id="201" name="ConcludingText"/>
          <p:cNvSpPr txBox="1"/>
          <p:nvPr/>
        </p:nvSpPr>
        <p:spPr>
          <a:xfrm>
            <a:off x="274320" y="4725791"/>
            <a:ext cx="8595360" cy="369332"/>
          </a:xfrm>
          <a:prstGeom prst="rect">
            <a:avLst/>
          </a:prstGeom>
          <a:noFill/>
        </p:spPr>
        <p:txBody>
          <a:bodyPr wrap="square" rtlCol="0" anchor="ctr">
            <a:spAutoFit/>
          </a:bodyPr>
          <a:lstStyle/>
          <a:p>
            <a:pPr algn="ctr"/>
            <a:r>
              <a:rPr lang="en-US" sz="900" b="0" i="1" dirty="0">
                <a:solidFill>
                  <a:srgbClr val="02C39A"/>
                </a:solidFill>
                <a:latin typeface="Calibri" pitchFamily="34" charset="0"/>
              </a:rPr>
              <a:t>Diabetes trials represent one of the most mature, industry funded, and RCT saturated disease landscapes. The large Phase 3 enrollment medians and 85%+ randomization rate confirm this as a benchmark disease for trial design standards.</a:t>
            </a:r>
          </a:p>
        </p:txBody>
      </p:sp>
      <p:pic>
        <p:nvPicPr>
          <p:cNvPr id="1030" name="Picture 6">
            <a:extLst>
              <a:ext uri="{FF2B5EF4-FFF2-40B4-BE49-F238E27FC236}">
                <a16:creationId xmlns:a16="http://schemas.microsoft.com/office/drawing/2014/main" id="{80BF2D14-2DF3-6AC7-F6A2-0B6D45BF131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082" y="2049956"/>
            <a:ext cx="2477253" cy="13125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0231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68A46-E4A4-C895-1C02-75772FCF271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61AB055-9770-5D9E-F93B-E1A88FE8F94C}"/>
              </a:ext>
            </a:extLst>
          </p:cNvPr>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7D07DB14-24B1-608F-6D45-D2ACA80371C9}"/>
              </a:ext>
            </a:extLst>
          </p:cNvPr>
          <p:cNvSpPr txBox="1"/>
          <p:nvPr/>
        </p:nvSpPr>
        <p:spPr>
          <a:xfrm>
            <a:off x="320040" y="54864"/>
            <a:ext cx="8503920" cy="261610"/>
          </a:xfrm>
          <a:prstGeom prst="rect">
            <a:avLst/>
          </a:prstGeom>
          <a:noFill/>
        </p:spPr>
        <p:txBody>
          <a:bodyPr wrap="square">
            <a:spAutoFit/>
          </a:bodyPr>
          <a:lstStyle/>
          <a:p>
            <a:r>
              <a:rPr sz="1100" b="1" i="0" dirty="0">
                <a:solidFill>
                  <a:srgbClr val="02C39A"/>
                </a:solidFill>
                <a:latin typeface="Calibri"/>
              </a:rPr>
              <a:t>02  /  DISEASE ANALYTICS</a:t>
            </a:r>
            <a:r>
              <a:rPr lang="en-IN" sz="1100" b="1" dirty="0">
                <a:solidFill>
                  <a:srgbClr val="02C39A"/>
                </a:solidFill>
              </a:rPr>
              <a:t> - Alzheimer</a:t>
            </a:r>
            <a:endParaRPr sz="1100" b="1" i="0" dirty="0">
              <a:solidFill>
                <a:srgbClr val="02C39A"/>
              </a:solidFill>
              <a:latin typeface="Calibri"/>
            </a:endParaRPr>
          </a:p>
        </p:txBody>
      </p:sp>
      <p:pic>
        <p:nvPicPr>
          <p:cNvPr id="4098" name="Picture 2">
            <a:extLst>
              <a:ext uri="{FF2B5EF4-FFF2-40B4-BE49-F238E27FC236}">
                <a16:creationId xmlns:a16="http://schemas.microsoft.com/office/drawing/2014/main" id="{224AF9CC-3A87-A084-2D4E-39DE0E2C48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3557" y="2454125"/>
            <a:ext cx="3241696" cy="201306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B5E4C471-5F8F-64A9-69F8-B5ECCBCBA4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3601" y="2074320"/>
            <a:ext cx="3177272" cy="244828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1A971786-BF69-95A3-F2FE-3AC218043C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28" y="3368244"/>
            <a:ext cx="2320636" cy="1245464"/>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a:extLst>
              <a:ext uri="{FF2B5EF4-FFF2-40B4-BE49-F238E27FC236}">
                <a16:creationId xmlns:a16="http://schemas.microsoft.com/office/drawing/2014/main" id="{B2A1070A-B65C-92A8-8C16-3F6AE343E855}"/>
              </a:ext>
            </a:extLst>
          </p:cNvPr>
          <p:cNvGrpSpPr/>
          <p:nvPr/>
        </p:nvGrpSpPr>
        <p:grpSpPr>
          <a:xfrm>
            <a:off x="83128" y="428858"/>
            <a:ext cx="8215745" cy="1645463"/>
            <a:chOff x="83128" y="466344"/>
            <a:chExt cx="9144000" cy="1717711"/>
          </a:xfrm>
        </p:grpSpPr>
        <p:pic>
          <p:nvPicPr>
            <p:cNvPr id="3076" name="Picture 4">
              <a:extLst>
                <a:ext uri="{FF2B5EF4-FFF2-40B4-BE49-F238E27FC236}">
                  <a16:creationId xmlns:a16="http://schemas.microsoft.com/office/drawing/2014/main" id="{9D03BD85-1B76-D661-478C-738A75FF62A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7960" y="466344"/>
              <a:ext cx="2950616" cy="171771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9D107218-83E1-F4E6-CC93-A01F8ED83E9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05720" y="466345"/>
              <a:ext cx="3021408" cy="171771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BD539748-3301-14A2-833E-50BC4F8B3DC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128" y="466344"/>
              <a:ext cx="3044832" cy="1717710"/>
            </a:xfrm>
            <a:prstGeom prst="rect">
              <a:avLst/>
            </a:prstGeom>
            <a:noFill/>
            <a:extLst>
              <a:ext uri="{909E8E84-426E-40DD-AFC4-6F175D3DCCD1}">
                <a14:hiddenFill xmlns:a14="http://schemas.microsoft.com/office/drawing/2010/main">
                  <a:solidFill>
                    <a:srgbClr val="FFFFFF"/>
                  </a:solidFill>
                </a14:hiddenFill>
              </a:ext>
            </a:extLst>
          </p:spPr>
        </p:pic>
      </p:grpSp>
      <p:sp>
        <p:nvSpPr>
          <p:cNvPr id="200" name="ConcludingBg"/>
          <p:cNvSpPr/>
          <p:nvPr/>
        </p:nvSpPr>
        <p:spPr>
          <a:xfrm>
            <a:off x="0" y="4670752"/>
            <a:ext cx="9144000" cy="480000"/>
          </a:xfrm>
          <a:prstGeom prst="rect">
            <a:avLst/>
          </a:prstGeom>
          <a:solidFill>
            <a:srgbClr val="0D1B3E">
              <a:alpha val="90000"/>
            </a:srgbClr>
          </a:solidFill>
          <a:ln>
            <a:noFill/>
          </a:ln>
        </p:spPr>
        <p:txBody>
          <a:bodyPr rtlCol="0" anchor="ctr"/>
          <a:lstStyle/>
          <a:p>
            <a:pPr algn="ctr"/>
            <a:endParaRPr/>
          </a:p>
        </p:txBody>
      </p:sp>
      <p:sp>
        <p:nvSpPr>
          <p:cNvPr id="201" name="ConcludingText"/>
          <p:cNvSpPr txBox="1"/>
          <p:nvPr/>
        </p:nvSpPr>
        <p:spPr>
          <a:xfrm>
            <a:off x="274320" y="4726086"/>
            <a:ext cx="8595360" cy="369332"/>
          </a:xfrm>
          <a:prstGeom prst="rect">
            <a:avLst/>
          </a:prstGeom>
          <a:noFill/>
        </p:spPr>
        <p:txBody>
          <a:bodyPr wrap="square" rtlCol="0" anchor="ctr">
            <a:spAutoFit/>
          </a:bodyPr>
          <a:lstStyle/>
          <a:p>
            <a:pPr algn="ctr"/>
            <a:r>
              <a:rPr lang="en-US" sz="900" b="0" i="1" dirty="0">
                <a:solidFill>
                  <a:srgbClr val="02C39A"/>
                </a:solidFill>
                <a:latin typeface="Calibri" pitchFamily="34" charset="0"/>
              </a:rPr>
              <a:t>Alzheimer's trials show an inverted funnel </a:t>
            </a:r>
            <a:r>
              <a:rPr lang="en-US" sz="900" i="1" dirty="0">
                <a:solidFill>
                  <a:srgbClr val="02C39A"/>
                </a:solidFill>
                <a:latin typeface="Calibri" pitchFamily="34" charset="0"/>
              </a:rPr>
              <a:t>i.e.,</a:t>
            </a:r>
            <a:r>
              <a:rPr lang="en-US" sz="900" b="0" i="1" dirty="0">
                <a:solidFill>
                  <a:srgbClr val="02C39A"/>
                </a:solidFill>
                <a:latin typeface="Calibri" pitchFamily="34" charset="0"/>
              </a:rPr>
              <a:t> peaking at Phase 2 with large Phase 3 enrollment requirements signaling high cost and risk. Higher academic/government sponsorship vs Diabetes reflects a disease still in the discovery phase of its clinical journey.</a:t>
            </a:r>
          </a:p>
        </p:txBody>
      </p:sp>
      <p:pic>
        <p:nvPicPr>
          <p:cNvPr id="4102" name="Picture 6">
            <a:extLst>
              <a:ext uri="{FF2B5EF4-FFF2-40B4-BE49-F238E27FC236}">
                <a16:creationId xmlns:a16="http://schemas.microsoft.com/office/drawing/2014/main" id="{60584133-E445-8AD6-2A74-998293101F5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128" y="2112780"/>
            <a:ext cx="2320636" cy="1245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0099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DA_KF1"/>
          <p:cNvSpPr/>
          <p:nvPr/>
        </p:nvSpPr>
        <p:spPr>
          <a:xfrm>
            <a:off x="274320" y="761673"/>
            <a:ext cx="4160520" cy="17500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51" name="Shape DA_KF1b"/>
          <p:cNvSpPr/>
          <p:nvPr/>
        </p:nvSpPr>
        <p:spPr>
          <a:xfrm>
            <a:off x="274320" y="761673"/>
            <a:ext cx="502920" cy="1750000"/>
          </a:xfrm>
          <a:prstGeom prst="rect">
            <a:avLst/>
          </a:prstGeom>
          <a:solidFill>
            <a:srgbClr val="02C39A">
              <a:alpha val="12000"/>
            </a:srgbClr>
          </a:solidFill>
          <a:ln/>
        </p:spPr>
      </p:sp>
      <p:sp>
        <p:nvSpPr>
          <p:cNvPr id="52" name="Text DA_KF1num"/>
          <p:cNvSpPr/>
          <p:nvPr/>
        </p:nvSpPr>
        <p:spPr>
          <a:xfrm>
            <a:off x="274320" y="761673"/>
            <a:ext cx="502920" cy="1750000"/>
          </a:xfrm>
          <a:prstGeom prst="rect">
            <a:avLst/>
          </a:prstGeom>
          <a:noFill/>
          <a:ln/>
        </p:spPr>
        <p:txBody>
          <a:bodyPr wrap="square" rtlCol="0" anchor="ctr"/>
          <a:lstStyle/>
          <a:p>
            <a:pPr marL="0" indent="0" algn="ctr">
              <a:buNone/>
            </a:pPr>
            <a:r>
              <a:rPr lang="en-US" sz="2800" b="1" dirty="0">
                <a:solidFill>
                  <a:srgbClr val="02C39A"/>
                </a:solidFill>
                <a:latin typeface="Calibri" pitchFamily="34" charset="0"/>
              </a:rPr>
              <a:t>1</a:t>
            </a:r>
          </a:p>
        </p:txBody>
      </p:sp>
      <p:sp>
        <p:nvSpPr>
          <p:cNvPr id="53" name="Text DA_KF1title"/>
          <p:cNvSpPr/>
          <p:nvPr/>
        </p:nvSpPr>
        <p:spPr>
          <a:xfrm>
            <a:off x="868680" y="871673"/>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rPr>
              <a:t>Diabetes: mature, industry led, RCT dominated</a:t>
            </a:r>
          </a:p>
        </p:txBody>
      </p:sp>
      <p:sp>
        <p:nvSpPr>
          <p:cNvPr id="54" name="Shape DA_KF1line"/>
          <p:cNvSpPr/>
          <p:nvPr/>
        </p:nvSpPr>
        <p:spPr>
          <a:xfrm>
            <a:off x="868680" y="1264865"/>
            <a:ext cx="3291840" cy="0"/>
          </a:xfrm>
          <a:prstGeom prst="line">
            <a:avLst/>
          </a:prstGeom>
          <a:noFill/>
          <a:ln w="12700">
            <a:solidFill>
              <a:srgbClr val="02C39A"/>
            </a:solidFill>
            <a:prstDash val="solid"/>
          </a:ln>
        </p:spPr>
      </p:sp>
      <p:sp>
        <p:nvSpPr>
          <p:cNvPr id="55" name="Text DA_KF1body"/>
          <p:cNvSpPr/>
          <p:nvPr/>
        </p:nvSpPr>
        <p:spPr>
          <a:xfrm>
            <a:off x="868680" y="1321673"/>
            <a:ext cx="3474720" cy="1100000"/>
          </a:xfrm>
          <a:prstGeom prst="rect">
            <a:avLst/>
          </a:prstGeom>
          <a:noFill/>
          <a:ln/>
        </p:spPr>
        <p:txBody>
          <a:bodyPr wrap="square" rtlCol="0" anchor="ctr"/>
          <a:lstStyle/>
          <a:p>
            <a:pPr marL="0" indent="0">
              <a:lnSpc>
                <a:spcPct val="140000"/>
              </a:lnSpc>
              <a:buNone/>
            </a:pPr>
            <a:r>
              <a:rPr lang="en-US" sz="950" dirty="0">
                <a:latin typeface="Calibri" pitchFamily="34" charset="0"/>
              </a:rPr>
              <a:t>Diabetes trials show a healthy Phase 3 &gt; Phase 2 funnel, with Phase 3 enrollment medians exceeding 300 participants. Over 85% of trials are randomized and predominantly interventional. Novo Nordisk and Eli Lilly dominate sponsor share, with Metformin and insulin glargine leading the treatment landscape.</a:t>
            </a:r>
          </a:p>
        </p:txBody>
      </p:sp>
      <p:sp>
        <p:nvSpPr>
          <p:cNvPr id="56" name="Shape DA_KF2"/>
          <p:cNvSpPr/>
          <p:nvPr/>
        </p:nvSpPr>
        <p:spPr>
          <a:xfrm>
            <a:off x="4709160" y="761673"/>
            <a:ext cx="4160520" cy="17500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57" name="Shape DA_KF2b"/>
          <p:cNvSpPr/>
          <p:nvPr/>
        </p:nvSpPr>
        <p:spPr>
          <a:xfrm>
            <a:off x="4709160" y="761673"/>
            <a:ext cx="502920" cy="1750000"/>
          </a:xfrm>
          <a:prstGeom prst="rect">
            <a:avLst/>
          </a:prstGeom>
          <a:solidFill>
            <a:srgbClr val="5B4FCF">
              <a:alpha val="12000"/>
            </a:srgbClr>
          </a:solidFill>
          <a:ln/>
        </p:spPr>
      </p:sp>
      <p:sp>
        <p:nvSpPr>
          <p:cNvPr id="58" name="Text DA_KF2num"/>
          <p:cNvSpPr/>
          <p:nvPr/>
        </p:nvSpPr>
        <p:spPr>
          <a:xfrm>
            <a:off x="4709160" y="761673"/>
            <a:ext cx="502920" cy="1750000"/>
          </a:xfrm>
          <a:prstGeom prst="rect">
            <a:avLst/>
          </a:prstGeom>
          <a:noFill/>
          <a:ln/>
        </p:spPr>
        <p:txBody>
          <a:bodyPr wrap="square" rtlCol="0" anchor="ctr"/>
          <a:lstStyle/>
          <a:p>
            <a:pPr marL="0" indent="0" algn="ctr">
              <a:buNone/>
            </a:pPr>
            <a:r>
              <a:rPr lang="en-US" sz="2800" b="1" dirty="0">
                <a:solidFill>
                  <a:srgbClr val="5B4FCF"/>
                </a:solidFill>
                <a:latin typeface="Calibri" pitchFamily="34" charset="0"/>
              </a:rPr>
              <a:t>2</a:t>
            </a:r>
          </a:p>
        </p:txBody>
      </p:sp>
      <p:sp>
        <p:nvSpPr>
          <p:cNvPr id="59" name="Text DA_KF2title"/>
          <p:cNvSpPr/>
          <p:nvPr/>
        </p:nvSpPr>
        <p:spPr>
          <a:xfrm>
            <a:off x="5303520" y="871673"/>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rPr>
              <a:t>Alzheimer’s: early stage, fragmented, academic heavy</a:t>
            </a:r>
          </a:p>
        </p:txBody>
      </p:sp>
      <p:sp>
        <p:nvSpPr>
          <p:cNvPr id="60" name="Shape DA_KF2line"/>
          <p:cNvSpPr/>
          <p:nvPr/>
        </p:nvSpPr>
        <p:spPr>
          <a:xfrm>
            <a:off x="5303520" y="1264865"/>
            <a:ext cx="3291840" cy="0"/>
          </a:xfrm>
          <a:prstGeom prst="line">
            <a:avLst/>
          </a:prstGeom>
          <a:noFill/>
          <a:ln w="12700">
            <a:solidFill>
              <a:srgbClr val="5B4FCF"/>
            </a:solidFill>
            <a:prstDash val="solid"/>
          </a:ln>
        </p:spPr>
      </p:sp>
      <p:sp>
        <p:nvSpPr>
          <p:cNvPr id="61" name="Text DA_KF2body"/>
          <p:cNvSpPr/>
          <p:nvPr/>
        </p:nvSpPr>
        <p:spPr>
          <a:xfrm>
            <a:off x="5303520" y="1321673"/>
            <a:ext cx="3474720" cy="1100000"/>
          </a:xfrm>
          <a:prstGeom prst="rect">
            <a:avLst/>
          </a:prstGeom>
          <a:noFill/>
          <a:ln/>
        </p:spPr>
        <p:txBody>
          <a:bodyPr wrap="square" rtlCol="0" anchor="ctr"/>
          <a:lstStyle/>
          <a:p>
            <a:pPr marL="0" indent="0">
              <a:lnSpc>
                <a:spcPct val="140000"/>
              </a:lnSpc>
              <a:buNone/>
            </a:pPr>
            <a:r>
              <a:rPr lang="en-US" sz="950" dirty="0">
                <a:latin typeface="Calibri" pitchFamily="34" charset="0"/>
              </a:rPr>
              <a:t>Alzheimer’s trials peak at Phase 2, suggesting a pipeline still searching for breakout efficacy. Enrollment medians spike dramatically at Phase 3, reflecting large, expensive confirmation trials. NIH, Pfizer, and Eli Lilly co-lead, with Donepezil and Memantine as the established treatment anchors.</a:t>
            </a:r>
          </a:p>
        </p:txBody>
      </p:sp>
      <p:sp>
        <p:nvSpPr>
          <p:cNvPr id="62" name="Shape DA_KF3"/>
          <p:cNvSpPr/>
          <p:nvPr/>
        </p:nvSpPr>
        <p:spPr>
          <a:xfrm>
            <a:off x="274320" y="2641673"/>
            <a:ext cx="4160520" cy="17500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63" name="Shape DA_KF3b"/>
          <p:cNvSpPr/>
          <p:nvPr/>
        </p:nvSpPr>
        <p:spPr>
          <a:xfrm>
            <a:off x="274320" y="2641673"/>
            <a:ext cx="502920" cy="1750000"/>
          </a:xfrm>
          <a:prstGeom prst="rect">
            <a:avLst/>
          </a:prstGeom>
          <a:solidFill>
            <a:srgbClr val="D97706">
              <a:alpha val="12000"/>
            </a:srgbClr>
          </a:solidFill>
          <a:ln/>
        </p:spPr>
      </p:sp>
      <p:sp>
        <p:nvSpPr>
          <p:cNvPr id="64" name="Text DA_KF3num"/>
          <p:cNvSpPr/>
          <p:nvPr/>
        </p:nvSpPr>
        <p:spPr>
          <a:xfrm>
            <a:off x="274320" y="2641673"/>
            <a:ext cx="502920" cy="1750000"/>
          </a:xfrm>
          <a:prstGeom prst="rect">
            <a:avLst/>
          </a:prstGeom>
          <a:noFill/>
          <a:ln/>
        </p:spPr>
        <p:txBody>
          <a:bodyPr wrap="square" rtlCol="0" anchor="ctr"/>
          <a:lstStyle/>
          <a:p>
            <a:pPr marL="0" indent="0" algn="ctr">
              <a:buNone/>
            </a:pPr>
            <a:r>
              <a:rPr lang="en-US" sz="2800" b="1" dirty="0">
                <a:solidFill>
                  <a:srgbClr val="D97706"/>
                </a:solidFill>
                <a:latin typeface="Calibri" pitchFamily="34" charset="0"/>
              </a:rPr>
              <a:t>3</a:t>
            </a:r>
          </a:p>
        </p:txBody>
      </p:sp>
      <p:sp>
        <p:nvSpPr>
          <p:cNvPr id="65" name="Text DA_KF3title"/>
          <p:cNvSpPr/>
          <p:nvPr/>
        </p:nvSpPr>
        <p:spPr>
          <a:xfrm>
            <a:off x="868680" y="2751673"/>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rPr>
              <a:t>RCT evidence quality varies sharply by disease</a:t>
            </a:r>
          </a:p>
        </p:txBody>
      </p:sp>
      <p:sp>
        <p:nvSpPr>
          <p:cNvPr id="66" name="Shape DA_KF3line"/>
          <p:cNvSpPr/>
          <p:nvPr/>
        </p:nvSpPr>
        <p:spPr>
          <a:xfrm>
            <a:off x="868680" y="3144865"/>
            <a:ext cx="3291840" cy="0"/>
          </a:xfrm>
          <a:prstGeom prst="line">
            <a:avLst/>
          </a:prstGeom>
          <a:noFill/>
          <a:ln w="12700">
            <a:solidFill>
              <a:srgbClr val="D97706"/>
            </a:solidFill>
            <a:prstDash val="solid"/>
          </a:ln>
        </p:spPr>
      </p:sp>
      <p:sp>
        <p:nvSpPr>
          <p:cNvPr id="67" name="Text DA_KF3body"/>
          <p:cNvSpPr/>
          <p:nvPr/>
        </p:nvSpPr>
        <p:spPr>
          <a:xfrm>
            <a:off x="868680" y="3201673"/>
            <a:ext cx="3474720" cy="1100000"/>
          </a:xfrm>
          <a:prstGeom prst="rect">
            <a:avLst/>
          </a:prstGeom>
          <a:noFill/>
          <a:ln/>
        </p:spPr>
        <p:txBody>
          <a:bodyPr wrap="square" rtlCol="0" anchor="ctr"/>
          <a:lstStyle/>
          <a:p>
            <a:pPr marL="0" indent="0">
              <a:lnSpc>
                <a:spcPct val="140000"/>
              </a:lnSpc>
              <a:buNone/>
            </a:pPr>
            <a:r>
              <a:rPr lang="en-US" sz="950" dirty="0">
                <a:latin typeface="Calibri" pitchFamily="34" charset="0"/>
              </a:rPr>
              <a:t>Diabetes has ~85% randomized allocation vs Alzheimer’s ~80%, but both use predominantly experimental arms. Diabetes’ higher interventional share confirms stronger commercial investment and regulatory maturity. Alzheimer’s higher observational share signals the field still building disease understanding.</a:t>
            </a:r>
          </a:p>
        </p:txBody>
      </p:sp>
      <p:sp>
        <p:nvSpPr>
          <p:cNvPr id="68" name="Shape DA_KF4"/>
          <p:cNvSpPr/>
          <p:nvPr/>
        </p:nvSpPr>
        <p:spPr>
          <a:xfrm>
            <a:off x="4709160" y="2641673"/>
            <a:ext cx="4160520" cy="17500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69" name="Shape DA_KF4b"/>
          <p:cNvSpPr/>
          <p:nvPr/>
        </p:nvSpPr>
        <p:spPr>
          <a:xfrm>
            <a:off x="4709160" y="2641673"/>
            <a:ext cx="502920" cy="1750000"/>
          </a:xfrm>
          <a:prstGeom prst="rect">
            <a:avLst/>
          </a:prstGeom>
          <a:solidFill>
            <a:srgbClr val="E05252">
              <a:alpha val="12000"/>
            </a:srgbClr>
          </a:solidFill>
          <a:ln/>
        </p:spPr>
      </p:sp>
      <p:sp>
        <p:nvSpPr>
          <p:cNvPr id="70" name="Text DA_KF4num"/>
          <p:cNvSpPr/>
          <p:nvPr/>
        </p:nvSpPr>
        <p:spPr>
          <a:xfrm>
            <a:off x="4709160" y="2641673"/>
            <a:ext cx="502920" cy="1750000"/>
          </a:xfrm>
          <a:prstGeom prst="rect">
            <a:avLst/>
          </a:prstGeom>
          <a:noFill/>
          <a:ln/>
        </p:spPr>
        <p:txBody>
          <a:bodyPr wrap="square" rtlCol="0" anchor="ctr"/>
          <a:lstStyle/>
          <a:p>
            <a:pPr marL="0" indent="0" algn="ctr">
              <a:buNone/>
            </a:pPr>
            <a:r>
              <a:rPr lang="en-US" sz="2800" b="1" dirty="0">
                <a:solidFill>
                  <a:srgbClr val="E05252"/>
                </a:solidFill>
                <a:latin typeface="Calibri" pitchFamily="34" charset="0"/>
              </a:rPr>
              <a:t>4</a:t>
            </a:r>
          </a:p>
        </p:txBody>
      </p:sp>
      <p:sp>
        <p:nvSpPr>
          <p:cNvPr id="71" name="Text DA_KF4title"/>
          <p:cNvSpPr/>
          <p:nvPr/>
        </p:nvSpPr>
        <p:spPr>
          <a:xfrm>
            <a:off x="5303520" y="2751673"/>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rPr>
              <a:t>Sponsor diversity signals innovation stage</a:t>
            </a:r>
          </a:p>
        </p:txBody>
      </p:sp>
      <p:sp>
        <p:nvSpPr>
          <p:cNvPr id="72" name="Shape DA_KF4line"/>
          <p:cNvSpPr/>
          <p:nvPr/>
        </p:nvSpPr>
        <p:spPr>
          <a:xfrm>
            <a:off x="5303520" y="3144865"/>
            <a:ext cx="3291840" cy="0"/>
          </a:xfrm>
          <a:prstGeom prst="line">
            <a:avLst/>
          </a:prstGeom>
          <a:noFill/>
          <a:ln w="12700">
            <a:solidFill>
              <a:srgbClr val="E05252"/>
            </a:solidFill>
            <a:prstDash val="solid"/>
          </a:ln>
        </p:spPr>
      </p:sp>
      <p:sp>
        <p:nvSpPr>
          <p:cNvPr id="73" name="Text DA_KF4body"/>
          <p:cNvSpPr/>
          <p:nvPr/>
        </p:nvSpPr>
        <p:spPr>
          <a:xfrm>
            <a:off x="5303520" y="3201673"/>
            <a:ext cx="3474720" cy="1100000"/>
          </a:xfrm>
          <a:prstGeom prst="rect">
            <a:avLst/>
          </a:prstGeom>
          <a:noFill/>
          <a:ln/>
        </p:spPr>
        <p:txBody>
          <a:bodyPr wrap="square" rtlCol="0" anchor="ctr"/>
          <a:lstStyle/>
          <a:p>
            <a:pPr marL="0" indent="0">
              <a:lnSpc>
                <a:spcPct val="140000"/>
              </a:lnSpc>
              <a:buNone/>
            </a:pPr>
            <a:r>
              <a:rPr lang="en-US" sz="950" dirty="0">
                <a:latin typeface="Calibri" pitchFamily="34" charset="0"/>
              </a:rPr>
              <a:t>Diabetes is industry dominated (Novo Nordisk, Lilly) confirming commercial viability. Alzheimer’s shows higher academic/government share (NIH, academic hospitals), reflecting that the disease is still in an exploratory, grant funded phase which might be a key signal for investors and licensing teams.</a:t>
            </a:r>
          </a:p>
        </p:txBody>
      </p:sp>
      <p:sp>
        <p:nvSpPr>
          <p:cNvPr id="2" name="Rectangle 1"/>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B5E420B-1C1F-EC0D-7C5A-3B80C93EE9A1}"/>
              </a:ext>
            </a:extLst>
          </p:cNvPr>
          <p:cNvSpPr txBox="1"/>
          <p:nvPr/>
        </p:nvSpPr>
        <p:spPr>
          <a:xfrm>
            <a:off x="320040" y="54864"/>
            <a:ext cx="8503920" cy="261610"/>
          </a:xfrm>
          <a:prstGeom prst="rect">
            <a:avLst/>
          </a:prstGeom>
          <a:noFill/>
        </p:spPr>
        <p:txBody>
          <a:bodyPr wrap="square">
            <a:spAutoFit/>
          </a:bodyPr>
          <a:lstStyle/>
          <a:p>
            <a:pPr algn="l"/>
            <a:r>
              <a:rPr sz="1100" b="1" i="0" dirty="0">
                <a:solidFill>
                  <a:srgbClr val="02C39A"/>
                </a:solidFill>
                <a:latin typeface="Calibri"/>
              </a:rPr>
              <a:t>02  /  DISEASE ANALYTICS</a:t>
            </a:r>
            <a:r>
              <a:rPr lang="en-IN" sz="1100" b="1" i="0" dirty="0">
                <a:solidFill>
                  <a:srgbClr val="02C39A"/>
                </a:solidFill>
                <a:latin typeface="Calibri"/>
              </a:rPr>
              <a:t> – Key Findings</a:t>
            </a:r>
            <a:endParaRPr sz="1100" b="1" i="0" dirty="0">
              <a:solidFill>
                <a:srgbClr val="02C39A"/>
              </a:solidFill>
              <a:latin typeface="Calibri"/>
            </a:endParaRPr>
          </a:p>
        </p:txBody>
      </p:sp>
    </p:spTree>
    <p:extLst>
      <p:ext uri="{BB962C8B-B14F-4D97-AF65-F5344CB8AC3E}">
        <p14:creationId xmlns:p14="http://schemas.microsoft.com/office/powerpoint/2010/main" val="2512256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54864"/>
            <a:ext cx="8503920" cy="261610"/>
          </a:xfrm>
          <a:prstGeom prst="rect">
            <a:avLst/>
          </a:prstGeom>
          <a:noFill/>
        </p:spPr>
        <p:txBody>
          <a:bodyPr wrap="square">
            <a:spAutoFit/>
          </a:bodyPr>
          <a:lstStyle/>
          <a:p>
            <a:pPr algn="l"/>
            <a:r>
              <a:rPr sz="1100" b="1" i="0" dirty="0">
                <a:solidFill>
                  <a:srgbClr val="FF6B35"/>
                </a:solidFill>
                <a:latin typeface="Calibri"/>
              </a:rPr>
              <a:t>03  /  SPONSOR INTELLIGENCE</a:t>
            </a:r>
          </a:p>
        </p:txBody>
      </p:sp>
      <p:grpSp>
        <p:nvGrpSpPr>
          <p:cNvPr id="9" name="Group 8">
            <a:extLst>
              <a:ext uri="{FF2B5EF4-FFF2-40B4-BE49-F238E27FC236}">
                <a16:creationId xmlns:a16="http://schemas.microsoft.com/office/drawing/2014/main" id="{1315CC43-99BD-26DB-FA98-FA79EAFCB108}"/>
              </a:ext>
            </a:extLst>
          </p:cNvPr>
          <p:cNvGrpSpPr/>
          <p:nvPr/>
        </p:nvGrpSpPr>
        <p:grpSpPr>
          <a:xfrm>
            <a:off x="214394" y="604047"/>
            <a:ext cx="4251960" cy="1061531"/>
            <a:chOff x="256032" y="644245"/>
            <a:chExt cx="4251960" cy="1061531"/>
          </a:xfrm>
        </p:grpSpPr>
        <p:grpSp>
          <p:nvGrpSpPr>
            <p:cNvPr id="50" name="Group 49">
              <a:extLst>
                <a:ext uri="{FF2B5EF4-FFF2-40B4-BE49-F238E27FC236}">
                  <a16:creationId xmlns:a16="http://schemas.microsoft.com/office/drawing/2014/main" id="{2E862328-D580-5A17-C77C-E12F0D14AB1D}"/>
                </a:ext>
              </a:extLst>
            </p:cNvPr>
            <p:cNvGrpSpPr/>
            <p:nvPr/>
          </p:nvGrpSpPr>
          <p:grpSpPr>
            <a:xfrm>
              <a:off x="256032" y="648208"/>
              <a:ext cx="4251960" cy="1057568"/>
              <a:chOff x="256032" y="960120"/>
              <a:chExt cx="4251960" cy="1057568"/>
            </a:xfrm>
          </p:grpSpPr>
          <p:sp>
            <p:nvSpPr>
              <p:cNvPr id="5" name="Rectangle 4"/>
              <p:cNvSpPr/>
              <p:nvPr/>
            </p:nvSpPr>
            <p:spPr>
              <a:xfrm>
                <a:off x="256032" y="960120"/>
                <a:ext cx="4251960" cy="10575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6032" y="960120"/>
                <a:ext cx="50292" cy="105756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7" name="TextBox 6"/>
            <p:cNvSpPr txBox="1"/>
            <p:nvPr/>
          </p:nvSpPr>
          <p:spPr>
            <a:xfrm>
              <a:off x="281178" y="644245"/>
              <a:ext cx="4114800" cy="307777"/>
            </a:xfrm>
            <a:prstGeom prst="rect">
              <a:avLst/>
            </a:prstGeom>
            <a:noFill/>
          </p:spPr>
          <p:txBody>
            <a:bodyPr wrap="square">
              <a:spAutoFit/>
            </a:bodyPr>
            <a:lstStyle/>
            <a:p>
              <a:pPr algn="l"/>
              <a:r>
                <a:rPr sz="1400" b="1" i="0" dirty="0">
                  <a:solidFill>
                    <a:srgbClr val="0D1B3E"/>
                  </a:solidFill>
                  <a:latin typeface="Calibri"/>
                </a:rPr>
                <a:t>Condition Portfolio</a:t>
              </a:r>
            </a:p>
          </p:txBody>
        </p:sp>
        <p:sp>
          <p:nvSpPr>
            <p:cNvPr id="8" name="TextBox 7"/>
            <p:cNvSpPr txBox="1"/>
            <p:nvPr/>
          </p:nvSpPr>
          <p:spPr>
            <a:xfrm>
              <a:off x="293751" y="867648"/>
              <a:ext cx="4114800" cy="369332"/>
            </a:xfrm>
            <a:prstGeom prst="rect">
              <a:avLst/>
            </a:prstGeom>
            <a:noFill/>
          </p:spPr>
          <p:txBody>
            <a:bodyPr wrap="square">
              <a:spAutoFit/>
            </a:bodyPr>
            <a:lstStyle/>
            <a:p>
              <a:pPr algn="l"/>
              <a:r>
                <a:rPr sz="1000" b="1" i="0" dirty="0">
                  <a:solidFill>
                    <a:srgbClr val="8AA0B4"/>
                  </a:solidFill>
                  <a:latin typeface="Calibri"/>
                </a:rPr>
                <a:t>WHAT IT DOES</a:t>
              </a:r>
              <a:endParaRPr lang="en-IN" sz="1000" b="1" i="0" dirty="0">
                <a:solidFill>
                  <a:srgbClr val="8AA0B4"/>
                </a:solidFill>
                <a:latin typeface="Calibri"/>
              </a:endParaRPr>
            </a:p>
            <a:p>
              <a:r>
                <a:rPr lang="en-US" sz="800" dirty="0">
                  <a:solidFill>
                    <a:srgbClr val="2D3A4A"/>
                  </a:solidFill>
                </a:rPr>
                <a:t>Ranks every disease area a sponsor runs trials in. Reveals true therapeutic focus.</a:t>
              </a:r>
            </a:p>
          </p:txBody>
        </p:sp>
        <p:sp>
          <p:nvSpPr>
            <p:cNvPr id="10" name="TextBox 9"/>
            <p:cNvSpPr txBox="1"/>
            <p:nvPr/>
          </p:nvSpPr>
          <p:spPr>
            <a:xfrm>
              <a:off x="300609" y="1194716"/>
              <a:ext cx="4114800" cy="492443"/>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BD teams mapping a counterpart's priorities before a deal; investors stress testing pipeline concentration risk.</a:t>
              </a:r>
            </a:p>
          </p:txBody>
        </p:sp>
      </p:grpSp>
      <p:grpSp>
        <p:nvGrpSpPr>
          <p:cNvPr id="11" name="Group 10">
            <a:extLst>
              <a:ext uri="{FF2B5EF4-FFF2-40B4-BE49-F238E27FC236}">
                <a16:creationId xmlns:a16="http://schemas.microsoft.com/office/drawing/2014/main" id="{DE863A2C-9F45-5970-A1FD-420FC5361814}"/>
              </a:ext>
            </a:extLst>
          </p:cNvPr>
          <p:cNvGrpSpPr/>
          <p:nvPr/>
        </p:nvGrpSpPr>
        <p:grpSpPr>
          <a:xfrm>
            <a:off x="214394" y="1881835"/>
            <a:ext cx="4251960" cy="1210543"/>
            <a:chOff x="251460" y="2143124"/>
            <a:chExt cx="4251960" cy="1210543"/>
          </a:xfrm>
        </p:grpSpPr>
        <p:grpSp>
          <p:nvGrpSpPr>
            <p:cNvPr id="4" name="Group 3">
              <a:extLst>
                <a:ext uri="{FF2B5EF4-FFF2-40B4-BE49-F238E27FC236}">
                  <a16:creationId xmlns:a16="http://schemas.microsoft.com/office/drawing/2014/main" id="{C8B606AC-9C34-3A87-597F-62D1624651AE}"/>
                </a:ext>
              </a:extLst>
            </p:cNvPr>
            <p:cNvGrpSpPr/>
            <p:nvPr/>
          </p:nvGrpSpPr>
          <p:grpSpPr>
            <a:xfrm>
              <a:off x="251460" y="2143124"/>
              <a:ext cx="4251960" cy="1210543"/>
              <a:chOff x="256032" y="2348484"/>
              <a:chExt cx="4251960" cy="1210543"/>
            </a:xfrm>
          </p:grpSpPr>
          <p:sp>
            <p:nvSpPr>
              <p:cNvPr id="14" name="Rectangle 13"/>
              <p:cNvSpPr/>
              <p:nvPr/>
            </p:nvSpPr>
            <p:spPr>
              <a:xfrm>
                <a:off x="256032" y="2348484"/>
                <a:ext cx="4251960" cy="121054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56032" y="2348484"/>
                <a:ext cx="50292" cy="1210543"/>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6" name="TextBox 15"/>
            <p:cNvSpPr txBox="1"/>
            <p:nvPr/>
          </p:nvSpPr>
          <p:spPr>
            <a:xfrm>
              <a:off x="301752" y="2149308"/>
              <a:ext cx="4114800" cy="307777"/>
            </a:xfrm>
            <a:prstGeom prst="rect">
              <a:avLst/>
            </a:prstGeom>
            <a:noFill/>
          </p:spPr>
          <p:txBody>
            <a:bodyPr wrap="square">
              <a:spAutoFit/>
            </a:bodyPr>
            <a:lstStyle/>
            <a:p>
              <a:pPr algn="l"/>
              <a:r>
                <a:rPr sz="1400" b="1" i="0" dirty="0">
                  <a:solidFill>
                    <a:srgbClr val="0D1B3E"/>
                  </a:solidFill>
                  <a:latin typeface="Calibri"/>
                </a:rPr>
                <a:t>Geographic Reach</a:t>
              </a:r>
            </a:p>
          </p:txBody>
        </p:sp>
        <p:sp>
          <p:nvSpPr>
            <p:cNvPr id="17" name="TextBox 16"/>
            <p:cNvSpPr txBox="1"/>
            <p:nvPr/>
          </p:nvSpPr>
          <p:spPr>
            <a:xfrm>
              <a:off x="276606" y="2385602"/>
              <a:ext cx="4114800" cy="492443"/>
            </a:xfrm>
            <a:prstGeom prst="rect">
              <a:avLst/>
            </a:prstGeom>
            <a:noFill/>
          </p:spPr>
          <p:txBody>
            <a:bodyPr wrap="square">
              <a:spAutoFit/>
            </a:bodyPr>
            <a:lstStyle/>
            <a:p>
              <a:pPr algn="l"/>
              <a:r>
                <a:rPr sz="1000" b="1" i="0" dirty="0">
                  <a:solidFill>
                    <a:srgbClr val="8AA0B4"/>
                  </a:solidFill>
                  <a:latin typeface="Calibri"/>
                </a:rPr>
                <a:t>WHAT IT DOES</a:t>
              </a:r>
              <a:endParaRPr lang="en-IN" sz="1000" b="1" i="0" dirty="0">
                <a:solidFill>
                  <a:srgbClr val="8AA0B4"/>
                </a:solidFill>
                <a:latin typeface="Calibri"/>
              </a:endParaRPr>
            </a:p>
            <a:p>
              <a:r>
                <a:rPr lang="en-US" sz="800" dirty="0">
                  <a:solidFill>
                    <a:srgbClr val="2D3A4A"/>
                  </a:solidFill>
                </a:rPr>
                <a:t>Maps countries where a sponsor conducts trials. Reveals regional over-reliance, regulatory arbitrage strategies, and site network maturity.</a:t>
              </a:r>
            </a:p>
          </p:txBody>
        </p:sp>
        <p:sp>
          <p:nvSpPr>
            <p:cNvPr id="19" name="TextBox 18"/>
            <p:cNvSpPr txBox="1"/>
            <p:nvPr/>
          </p:nvSpPr>
          <p:spPr>
            <a:xfrm>
              <a:off x="283464" y="2809874"/>
              <a:ext cx="4114800" cy="492443"/>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Clinical operations choosing sites; market access teams predicting first-launch markets; regulators assessing data generalizability</a:t>
              </a:r>
              <a:endParaRPr sz="800" b="1" i="0" dirty="0">
                <a:solidFill>
                  <a:srgbClr val="8AA0B4"/>
                </a:solidFill>
                <a:latin typeface="Calibri"/>
              </a:endParaRPr>
            </a:p>
          </p:txBody>
        </p:sp>
      </p:grpSp>
      <p:grpSp>
        <p:nvGrpSpPr>
          <p:cNvPr id="18" name="Group 17">
            <a:extLst>
              <a:ext uri="{FF2B5EF4-FFF2-40B4-BE49-F238E27FC236}">
                <a16:creationId xmlns:a16="http://schemas.microsoft.com/office/drawing/2014/main" id="{5B0470CC-11B0-FDB3-4612-18ABBD5D4E03}"/>
              </a:ext>
            </a:extLst>
          </p:cNvPr>
          <p:cNvGrpSpPr/>
          <p:nvPr/>
        </p:nvGrpSpPr>
        <p:grpSpPr>
          <a:xfrm>
            <a:off x="214394" y="3351842"/>
            <a:ext cx="4251960" cy="1193883"/>
            <a:chOff x="258318" y="3640104"/>
            <a:chExt cx="4251960" cy="1193883"/>
          </a:xfrm>
        </p:grpSpPr>
        <p:grpSp>
          <p:nvGrpSpPr>
            <p:cNvPr id="12" name="Group 11">
              <a:extLst>
                <a:ext uri="{FF2B5EF4-FFF2-40B4-BE49-F238E27FC236}">
                  <a16:creationId xmlns:a16="http://schemas.microsoft.com/office/drawing/2014/main" id="{96CC6802-D410-F273-E8E9-9D5B1CBB1559}"/>
                </a:ext>
              </a:extLst>
            </p:cNvPr>
            <p:cNvGrpSpPr/>
            <p:nvPr/>
          </p:nvGrpSpPr>
          <p:grpSpPr>
            <a:xfrm>
              <a:off x="258318" y="3651757"/>
              <a:ext cx="4251960" cy="1182230"/>
              <a:chOff x="256032" y="3736848"/>
              <a:chExt cx="4251960" cy="1182230"/>
            </a:xfrm>
          </p:grpSpPr>
          <p:sp>
            <p:nvSpPr>
              <p:cNvPr id="23" name="Rectangle 22"/>
              <p:cNvSpPr/>
              <p:nvPr/>
            </p:nvSpPr>
            <p:spPr>
              <a:xfrm>
                <a:off x="256032" y="3736848"/>
                <a:ext cx="4251960" cy="118223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56032" y="3736848"/>
                <a:ext cx="50292" cy="118223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25" name="TextBox 24"/>
            <p:cNvSpPr txBox="1"/>
            <p:nvPr/>
          </p:nvSpPr>
          <p:spPr>
            <a:xfrm>
              <a:off x="272034" y="3640104"/>
              <a:ext cx="4114800" cy="307777"/>
            </a:xfrm>
            <a:prstGeom prst="rect">
              <a:avLst/>
            </a:prstGeom>
            <a:noFill/>
          </p:spPr>
          <p:txBody>
            <a:bodyPr wrap="square">
              <a:spAutoFit/>
            </a:bodyPr>
            <a:lstStyle/>
            <a:p>
              <a:pPr algn="l"/>
              <a:r>
                <a:rPr sz="1400" b="1" i="0" dirty="0">
                  <a:solidFill>
                    <a:srgbClr val="0D1B3E"/>
                  </a:solidFill>
                  <a:latin typeface="Calibri"/>
                </a:rPr>
                <a:t>Pipeline Mix</a:t>
              </a:r>
            </a:p>
          </p:txBody>
        </p:sp>
        <p:sp>
          <p:nvSpPr>
            <p:cNvPr id="26" name="TextBox 25"/>
            <p:cNvSpPr txBox="1"/>
            <p:nvPr/>
          </p:nvSpPr>
          <p:spPr>
            <a:xfrm>
              <a:off x="301752" y="3887978"/>
              <a:ext cx="4114800" cy="492443"/>
            </a:xfrm>
            <a:prstGeom prst="rect">
              <a:avLst/>
            </a:prstGeom>
            <a:noFill/>
          </p:spPr>
          <p:txBody>
            <a:bodyPr wrap="square">
              <a:spAutoFit/>
            </a:bodyPr>
            <a:lstStyle/>
            <a:p>
              <a:pPr algn="l"/>
              <a:r>
                <a:rPr sz="1000" b="1" i="0" dirty="0">
                  <a:solidFill>
                    <a:srgbClr val="8AA0B4"/>
                  </a:solidFill>
                  <a:latin typeface="Calibri"/>
                </a:rPr>
                <a:t>WHAT IT DOES</a:t>
              </a:r>
              <a:endParaRPr lang="en-IN" sz="1000" b="1" i="0" dirty="0">
                <a:solidFill>
                  <a:srgbClr val="8AA0B4"/>
                </a:solidFill>
                <a:latin typeface="Calibri"/>
              </a:endParaRPr>
            </a:p>
            <a:p>
              <a:r>
                <a:rPr lang="en-US" sz="800" dirty="0">
                  <a:solidFill>
                    <a:srgbClr val="2D3A4A"/>
                  </a:solidFill>
                </a:rPr>
                <a:t>Cross tabulates trial phase against status in a stacked bar. A mature sponsor shows many COMPLETED Phase III; an early-stage one shows RECRUITING Phase I.</a:t>
              </a:r>
            </a:p>
          </p:txBody>
        </p:sp>
        <p:sp>
          <p:nvSpPr>
            <p:cNvPr id="28" name="TextBox 27"/>
            <p:cNvSpPr txBox="1"/>
            <p:nvPr/>
          </p:nvSpPr>
          <p:spPr>
            <a:xfrm>
              <a:off x="308610" y="4305771"/>
              <a:ext cx="4114800" cy="369332"/>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Analysts building competitive pipeline maps; investors calculating probability of success.</a:t>
              </a:r>
            </a:p>
          </p:txBody>
        </p:sp>
      </p:grpSp>
      <p:grpSp>
        <p:nvGrpSpPr>
          <p:cNvPr id="13" name="Group 12">
            <a:extLst>
              <a:ext uri="{FF2B5EF4-FFF2-40B4-BE49-F238E27FC236}">
                <a16:creationId xmlns:a16="http://schemas.microsoft.com/office/drawing/2014/main" id="{E320890E-22DA-084F-8226-0C1224D618FB}"/>
              </a:ext>
            </a:extLst>
          </p:cNvPr>
          <p:cNvGrpSpPr/>
          <p:nvPr/>
        </p:nvGrpSpPr>
        <p:grpSpPr>
          <a:xfrm>
            <a:off x="4696686" y="584167"/>
            <a:ext cx="4178808" cy="1138288"/>
            <a:chOff x="4709160" y="936277"/>
            <a:chExt cx="4178808" cy="1138288"/>
          </a:xfrm>
        </p:grpSpPr>
        <p:sp>
          <p:nvSpPr>
            <p:cNvPr id="32" name="Rectangle 31"/>
            <p:cNvSpPr/>
            <p:nvPr/>
          </p:nvSpPr>
          <p:spPr>
            <a:xfrm>
              <a:off x="4709160" y="960120"/>
              <a:ext cx="4178808" cy="111444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709160" y="960120"/>
              <a:ext cx="50292" cy="1114445"/>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757166" y="936277"/>
              <a:ext cx="4041648" cy="307777"/>
            </a:xfrm>
            <a:prstGeom prst="rect">
              <a:avLst/>
            </a:prstGeom>
            <a:noFill/>
          </p:spPr>
          <p:txBody>
            <a:bodyPr wrap="square">
              <a:spAutoFit/>
            </a:bodyPr>
            <a:lstStyle/>
            <a:p>
              <a:pPr algn="l"/>
              <a:r>
                <a:rPr sz="1400" b="1" i="0" dirty="0">
                  <a:solidFill>
                    <a:srgbClr val="0D1B3E"/>
                  </a:solidFill>
                  <a:latin typeface="Calibri"/>
                </a:rPr>
                <a:t>Drug Inventory</a:t>
              </a:r>
            </a:p>
          </p:txBody>
        </p:sp>
        <p:sp>
          <p:nvSpPr>
            <p:cNvPr id="35" name="TextBox 34"/>
            <p:cNvSpPr txBox="1"/>
            <p:nvPr/>
          </p:nvSpPr>
          <p:spPr>
            <a:xfrm>
              <a:off x="4757166" y="1158272"/>
              <a:ext cx="4041648" cy="492443"/>
            </a:xfrm>
            <a:prstGeom prst="rect">
              <a:avLst/>
            </a:prstGeom>
            <a:noFill/>
          </p:spPr>
          <p:txBody>
            <a:bodyPr wrap="square">
              <a:spAutoFit/>
            </a:bodyPr>
            <a:lstStyle/>
            <a:p>
              <a:pPr algn="l"/>
              <a:r>
                <a:rPr sz="1000" b="1" i="0" dirty="0">
                  <a:solidFill>
                    <a:srgbClr val="8AA0B4"/>
                  </a:solidFill>
                  <a:latin typeface="Calibri"/>
                </a:rPr>
                <a:t>WHAT IT DOES</a:t>
              </a:r>
              <a:endParaRPr lang="en-IN" sz="1000" b="1" i="0" dirty="0">
                <a:solidFill>
                  <a:srgbClr val="8AA0B4"/>
                </a:solidFill>
                <a:latin typeface="Calibri"/>
              </a:endParaRPr>
            </a:p>
            <a:p>
              <a:r>
                <a:rPr lang="en-US" sz="800" dirty="0">
                  <a:solidFill>
                    <a:srgbClr val="2D3A4A"/>
                  </a:solidFill>
                </a:rPr>
                <a:t>Lists every distinct intervention a sponsor trials, ranked by volume. Exposes flagship compounds vs. one offs.</a:t>
              </a:r>
            </a:p>
          </p:txBody>
        </p:sp>
        <p:sp>
          <p:nvSpPr>
            <p:cNvPr id="37" name="TextBox 36"/>
            <p:cNvSpPr txBox="1"/>
            <p:nvPr/>
          </p:nvSpPr>
          <p:spPr>
            <a:xfrm>
              <a:off x="4757166" y="1582122"/>
              <a:ext cx="4041648" cy="492443"/>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Portfolio strategists prioritizing investment; CMC teams forecasting manufacturing complexity; regulatory leads anticipating submission workload.</a:t>
              </a:r>
            </a:p>
          </p:txBody>
        </p:sp>
      </p:grpSp>
      <p:grpSp>
        <p:nvGrpSpPr>
          <p:cNvPr id="21" name="Group 20">
            <a:extLst>
              <a:ext uri="{FF2B5EF4-FFF2-40B4-BE49-F238E27FC236}">
                <a16:creationId xmlns:a16="http://schemas.microsoft.com/office/drawing/2014/main" id="{BC9AE5CB-8161-0E5F-8434-37332EFDA131}"/>
              </a:ext>
            </a:extLst>
          </p:cNvPr>
          <p:cNvGrpSpPr/>
          <p:nvPr/>
        </p:nvGrpSpPr>
        <p:grpSpPr>
          <a:xfrm>
            <a:off x="4696686" y="1834574"/>
            <a:ext cx="4178808" cy="1257804"/>
            <a:chOff x="4709160" y="2913555"/>
            <a:chExt cx="4178808" cy="1257804"/>
          </a:xfrm>
        </p:grpSpPr>
        <p:sp>
          <p:nvSpPr>
            <p:cNvPr id="41" name="Rectangle 40"/>
            <p:cNvSpPr/>
            <p:nvPr/>
          </p:nvSpPr>
          <p:spPr>
            <a:xfrm>
              <a:off x="4709160" y="2913555"/>
              <a:ext cx="4178808" cy="12578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709160" y="2913555"/>
              <a:ext cx="50292" cy="125780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732020" y="2917599"/>
              <a:ext cx="4041648" cy="307777"/>
            </a:xfrm>
            <a:prstGeom prst="rect">
              <a:avLst/>
            </a:prstGeom>
            <a:noFill/>
          </p:spPr>
          <p:txBody>
            <a:bodyPr wrap="square">
              <a:spAutoFit/>
            </a:bodyPr>
            <a:lstStyle/>
            <a:p>
              <a:pPr algn="l"/>
              <a:r>
                <a:rPr sz="1400" b="1" i="0" dirty="0">
                  <a:solidFill>
                    <a:srgbClr val="0D1B3E"/>
                  </a:solidFill>
                  <a:latin typeface="Calibri"/>
                </a:rPr>
                <a:t>Collaborator Network</a:t>
              </a:r>
            </a:p>
          </p:txBody>
        </p:sp>
        <p:sp>
          <p:nvSpPr>
            <p:cNvPr id="44" name="TextBox 43"/>
            <p:cNvSpPr txBox="1"/>
            <p:nvPr/>
          </p:nvSpPr>
          <p:spPr>
            <a:xfrm>
              <a:off x="4754880" y="3135123"/>
              <a:ext cx="4041648" cy="492443"/>
            </a:xfrm>
            <a:prstGeom prst="rect">
              <a:avLst/>
            </a:prstGeom>
            <a:noFill/>
          </p:spPr>
          <p:txBody>
            <a:bodyPr wrap="square">
              <a:spAutoFit/>
            </a:bodyPr>
            <a:lstStyle/>
            <a:p>
              <a:pPr algn="l"/>
              <a:r>
                <a:rPr sz="1000" b="1" i="0" dirty="0">
                  <a:solidFill>
                    <a:srgbClr val="8AA0B4"/>
                  </a:solidFill>
                  <a:latin typeface="Calibri"/>
                </a:rPr>
                <a:t>WHAT IT DOES</a:t>
              </a:r>
              <a:endParaRPr lang="en-IN" sz="1000" b="1" i="0" dirty="0">
                <a:solidFill>
                  <a:srgbClr val="8AA0B4"/>
                </a:solidFill>
                <a:latin typeface="Calibri"/>
              </a:endParaRPr>
            </a:p>
            <a:p>
              <a:r>
                <a:rPr lang="en-US" sz="800" dirty="0">
                  <a:solidFill>
                    <a:srgbClr val="2D3A4A"/>
                  </a:solidFill>
                </a:rPr>
                <a:t>Identifies other sponsors appearing in the same trials, exposing co-development deals, consortia and academic partnerships not always announced.</a:t>
              </a:r>
            </a:p>
          </p:txBody>
        </p:sp>
        <p:sp>
          <p:nvSpPr>
            <p:cNvPr id="46" name="TextBox 45"/>
            <p:cNvSpPr txBox="1"/>
            <p:nvPr/>
          </p:nvSpPr>
          <p:spPr>
            <a:xfrm>
              <a:off x="4745736" y="3579941"/>
              <a:ext cx="4041648" cy="492443"/>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BD analysts mapping partnership ecosystems; due diligence teams verifying collaborations; academic institutions identifying industry partners.</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A83C9-E561-4734-CB52-A0A7D63458A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6F6770-8C6A-2A99-CEE7-AC0703D091E3}"/>
              </a:ext>
            </a:extLst>
          </p:cNvPr>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B3AF4BC-9AD3-08A5-9A63-86D4B6BC1C48}"/>
              </a:ext>
            </a:extLst>
          </p:cNvPr>
          <p:cNvSpPr txBox="1"/>
          <p:nvPr/>
        </p:nvSpPr>
        <p:spPr>
          <a:xfrm>
            <a:off x="320040" y="54864"/>
            <a:ext cx="8503920" cy="261610"/>
          </a:xfrm>
          <a:prstGeom prst="rect">
            <a:avLst/>
          </a:prstGeom>
          <a:noFill/>
        </p:spPr>
        <p:txBody>
          <a:bodyPr wrap="square">
            <a:spAutoFit/>
          </a:bodyPr>
          <a:lstStyle/>
          <a:p>
            <a:pPr algn="l"/>
            <a:r>
              <a:rPr sz="1100" b="1" i="0" dirty="0">
                <a:solidFill>
                  <a:srgbClr val="FF6B35"/>
                </a:solidFill>
                <a:latin typeface="Calibri"/>
              </a:rPr>
              <a:t>03  /  SPONSOR INTELLIGENCE</a:t>
            </a:r>
            <a:r>
              <a:rPr lang="en-IN" sz="1100" b="1" i="0" dirty="0">
                <a:solidFill>
                  <a:srgbClr val="FF6B35"/>
                </a:solidFill>
                <a:latin typeface="Calibri"/>
              </a:rPr>
              <a:t> - Pfizer</a:t>
            </a:r>
            <a:endParaRPr sz="1100" b="1" i="0" dirty="0">
              <a:solidFill>
                <a:srgbClr val="FF6B35"/>
              </a:solidFill>
              <a:latin typeface="Calibri"/>
            </a:endParaRPr>
          </a:p>
        </p:txBody>
      </p:sp>
      <p:pic>
        <p:nvPicPr>
          <p:cNvPr id="5122" name="Picture 2">
            <a:extLst>
              <a:ext uri="{FF2B5EF4-FFF2-40B4-BE49-F238E27FC236}">
                <a16:creationId xmlns:a16="http://schemas.microsoft.com/office/drawing/2014/main" id="{D72729B6-3FA6-2453-C9D6-AABE7F094B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24782"/>
            <a:ext cx="4038492" cy="24916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5DA42501-C531-1D5A-177C-B471F01E6D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492" y="411480"/>
            <a:ext cx="3959822" cy="2920804"/>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0292F725-BB71-AF21-6AB2-C72EF37DC8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439" y="3067457"/>
            <a:ext cx="4097852" cy="2021180"/>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a:extLst>
              <a:ext uri="{FF2B5EF4-FFF2-40B4-BE49-F238E27FC236}">
                <a16:creationId xmlns:a16="http://schemas.microsoft.com/office/drawing/2014/main" id="{6077D3DA-375D-B083-7156-E404B350F8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2600" y="3261745"/>
            <a:ext cx="3466659" cy="1826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8328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148A8-36A9-F5AF-7CB1-7C2E93C3F65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B434220-9471-DB4D-ADE9-012EB8AEDC35}"/>
              </a:ext>
            </a:extLst>
          </p:cNvPr>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0CEBCC0-F746-94F4-1681-866A01CE6E92}"/>
              </a:ext>
            </a:extLst>
          </p:cNvPr>
          <p:cNvSpPr txBox="1"/>
          <p:nvPr/>
        </p:nvSpPr>
        <p:spPr>
          <a:xfrm>
            <a:off x="320040" y="54864"/>
            <a:ext cx="8503920" cy="261610"/>
          </a:xfrm>
          <a:prstGeom prst="rect">
            <a:avLst/>
          </a:prstGeom>
          <a:noFill/>
        </p:spPr>
        <p:txBody>
          <a:bodyPr wrap="square">
            <a:spAutoFit/>
          </a:bodyPr>
          <a:lstStyle/>
          <a:p>
            <a:r>
              <a:rPr sz="1100" b="1" i="0" dirty="0">
                <a:solidFill>
                  <a:srgbClr val="FF6B35"/>
                </a:solidFill>
                <a:latin typeface="Calibri"/>
              </a:rPr>
              <a:t>03  /  SPONSOR INTELLIGENCE</a:t>
            </a:r>
            <a:r>
              <a:rPr lang="en-IN" sz="1100" b="1" dirty="0">
                <a:solidFill>
                  <a:srgbClr val="FF6B35"/>
                </a:solidFill>
              </a:rPr>
              <a:t> - Novo Nordisk</a:t>
            </a:r>
            <a:endParaRPr sz="1100" b="1" i="0" dirty="0">
              <a:solidFill>
                <a:srgbClr val="FF6B35"/>
              </a:solidFill>
              <a:latin typeface="Calibri"/>
            </a:endParaRPr>
          </a:p>
        </p:txBody>
      </p:sp>
      <p:pic>
        <p:nvPicPr>
          <p:cNvPr id="9222" name="Picture 6">
            <a:extLst>
              <a:ext uri="{FF2B5EF4-FFF2-40B4-BE49-F238E27FC236}">
                <a16:creationId xmlns:a16="http://schemas.microsoft.com/office/drawing/2014/main" id="{4C1169D9-B93C-7BD4-50EB-5772607B01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00" y="411480"/>
            <a:ext cx="3723413" cy="2553947"/>
          </a:xfrm>
          <a:prstGeom prst="rect">
            <a:avLst/>
          </a:prstGeom>
          <a:noFill/>
          <a:extLst>
            <a:ext uri="{909E8E84-426E-40DD-AFC4-6F175D3DCCD1}">
              <a14:hiddenFill xmlns:a14="http://schemas.microsoft.com/office/drawing/2010/main">
                <a:solidFill>
                  <a:srgbClr val="FFFFFF"/>
                </a:solidFill>
              </a14:hiddenFill>
            </a:ext>
          </a:extLst>
        </p:spPr>
      </p:pic>
      <p:pic>
        <p:nvPicPr>
          <p:cNvPr id="9218" name="Picture 2">
            <a:extLst>
              <a:ext uri="{FF2B5EF4-FFF2-40B4-BE49-F238E27FC236}">
                <a16:creationId xmlns:a16="http://schemas.microsoft.com/office/drawing/2014/main" id="{602E8D31-1408-6A8B-C31D-B9CA1B884A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 y="3054151"/>
            <a:ext cx="4127733" cy="2034486"/>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a:extLst>
              <a:ext uri="{FF2B5EF4-FFF2-40B4-BE49-F238E27FC236}">
                <a16:creationId xmlns:a16="http://schemas.microsoft.com/office/drawing/2014/main" id="{8B9E8B99-F9B1-1EBE-D3FF-BED8A3557E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5012" y="411479"/>
            <a:ext cx="3949373" cy="2778767"/>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63776BCB-A91F-B290-1EE0-A79D95757C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1221" y="3190247"/>
            <a:ext cx="3666438" cy="1957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7878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SI_KF1"/>
          <p:cNvSpPr/>
          <p:nvPr/>
        </p:nvSpPr>
        <p:spPr>
          <a:xfrm>
            <a:off x="320040" y="1475182"/>
            <a:ext cx="4160520" cy="17500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51" name="Shape SI_KF1b"/>
          <p:cNvSpPr/>
          <p:nvPr/>
        </p:nvSpPr>
        <p:spPr>
          <a:xfrm>
            <a:off x="320040" y="1475182"/>
            <a:ext cx="502920" cy="1750000"/>
          </a:xfrm>
          <a:prstGeom prst="rect">
            <a:avLst/>
          </a:prstGeom>
          <a:solidFill>
            <a:srgbClr val="FF6B35">
              <a:alpha val="12000"/>
            </a:srgbClr>
          </a:solidFill>
          <a:ln/>
        </p:spPr>
      </p:sp>
      <p:sp>
        <p:nvSpPr>
          <p:cNvPr id="52" name="Text SI_KF1num"/>
          <p:cNvSpPr/>
          <p:nvPr/>
        </p:nvSpPr>
        <p:spPr>
          <a:xfrm>
            <a:off x="320040" y="1475182"/>
            <a:ext cx="502920" cy="1750000"/>
          </a:xfrm>
          <a:prstGeom prst="rect">
            <a:avLst/>
          </a:prstGeom>
          <a:noFill/>
          <a:ln/>
        </p:spPr>
        <p:txBody>
          <a:bodyPr wrap="square" rtlCol="0" anchor="ctr"/>
          <a:lstStyle/>
          <a:p>
            <a:pPr marL="0" indent="0" algn="ctr">
              <a:buNone/>
            </a:pPr>
            <a:r>
              <a:rPr lang="en-US" sz="2800" b="1" dirty="0">
                <a:solidFill>
                  <a:srgbClr val="FF6B35"/>
                </a:solidFill>
                <a:latin typeface="Calibri" pitchFamily="34" charset="0"/>
              </a:rPr>
              <a:t>1</a:t>
            </a:r>
          </a:p>
        </p:txBody>
      </p:sp>
      <p:sp>
        <p:nvSpPr>
          <p:cNvPr id="53" name="Text SI_KF1title"/>
          <p:cNvSpPr/>
          <p:nvPr/>
        </p:nvSpPr>
        <p:spPr>
          <a:xfrm>
            <a:off x="914400" y="1585182"/>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rPr>
              <a:t>Pfizer: broad portfolio, late stage mature</a:t>
            </a:r>
          </a:p>
        </p:txBody>
      </p:sp>
      <p:sp>
        <p:nvSpPr>
          <p:cNvPr id="54" name="Shape SI_KF1line"/>
          <p:cNvSpPr/>
          <p:nvPr/>
        </p:nvSpPr>
        <p:spPr>
          <a:xfrm>
            <a:off x="914400" y="1978374"/>
            <a:ext cx="3291840" cy="0"/>
          </a:xfrm>
          <a:prstGeom prst="line">
            <a:avLst/>
          </a:prstGeom>
          <a:noFill/>
          <a:ln w="12700">
            <a:solidFill>
              <a:srgbClr val="FF6B35"/>
            </a:solidFill>
            <a:prstDash val="solid"/>
          </a:ln>
        </p:spPr>
      </p:sp>
      <p:sp>
        <p:nvSpPr>
          <p:cNvPr id="55" name="Text SI_KF1body"/>
          <p:cNvSpPr/>
          <p:nvPr/>
        </p:nvSpPr>
        <p:spPr>
          <a:xfrm>
            <a:off x="914400" y="2035182"/>
            <a:ext cx="3474720" cy="1100000"/>
          </a:xfrm>
          <a:prstGeom prst="rect">
            <a:avLst/>
          </a:prstGeom>
          <a:noFill/>
          <a:ln/>
        </p:spPr>
        <p:txBody>
          <a:bodyPr wrap="square" rtlCol="0" anchor="ctr"/>
          <a:lstStyle/>
          <a:p>
            <a:pPr marL="0" indent="0">
              <a:lnSpc>
                <a:spcPct val="140000"/>
              </a:lnSpc>
              <a:buNone/>
            </a:pPr>
            <a:r>
              <a:rPr lang="en-US" sz="950" dirty="0">
                <a:latin typeface="Calibri" pitchFamily="34" charset="0"/>
              </a:rPr>
              <a:t>Pfizer trials span 15+ therapeutic areas with Rheumatoid Arthritis, Breast Cancer, and Schizophrenia at the top. Its Phase 2 and Phase 3 completed bars dominate the pipeline mix, confirming a sponsor with proven commercial delivery. US and UK lead geographic reach.</a:t>
            </a:r>
          </a:p>
        </p:txBody>
      </p:sp>
      <p:sp>
        <p:nvSpPr>
          <p:cNvPr id="56" name="Shape SI_KF2"/>
          <p:cNvSpPr/>
          <p:nvPr/>
        </p:nvSpPr>
        <p:spPr>
          <a:xfrm>
            <a:off x="4754880" y="1475182"/>
            <a:ext cx="4160520" cy="17500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57" name="Shape SI_KF2b"/>
          <p:cNvSpPr/>
          <p:nvPr/>
        </p:nvSpPr>
        <p:spPr>
          <a:xfrm>
            <a:off x="4754880" y="1475182"/>
            <a:ext cx="502920" cy="1750000"/>
          </a:xfrm>
          <a:prstGeom prst="rect">
            <a:avLst/>
          </a:prstGeom>
          <a:solidFill>
            <a:srgbClr val="0D9488">
              <a:alpha val="12000"/>
            </a:srgbClr>
          </a:solidFill>
          <a:ln/>
        </p:spPr>
      </p:sp>
      <p:sp>
        <p:nvSpPr>
          <p:cNvPr id="58" name="Text SI_KF2num"/>
          <p:cNvSpPr/>
          <p:nvPr/>
        </p:nvSpPr>
        <p:spPr>
          <a:xfrm>
            <a:off x="4754880" y="1475182"/>
            <a:ext cx="502920" cy="1750000"/>
          </a:xfrm>
          <a:prstGeom prst="rect">
            <a:avLst/>
          </a:prstGeom>
          <a:noFill/>
          <a:ln/>
        </p:spPr>
        <p:txBody>
          <a:bodyPr wrap="square" rtlCol="0" anchor="ctr"/>
          <a:lstStyle/>
          <a:p>
            <a:pPr marL="0" indent="0" algn="ctr">
              <a:buNone/>
            </a:pPr>
            <a:r>
              <a:rPr lang="en-US" sz="2800" b="1" dirty="0">
                <a:solidFill>
                  <a:srgbClr val="0D9488"/>
                </a:solidFill>
                <a:latin typeface="Calibri" pitchFamily="34" charset="0"/>
              </a:rPr>
              <a:t>2</a:t>
            </a:r>
          </a:p>
        </p:txBody>
      </p:sp>
      <p:sp>
        <p:nvSpPr>
          <p:cNvPr id="59" name="Text SI_KF2title"/>
          <p:cNvSpPr/>
          <p:nvPr/>
        </p:nvSpPr>
        <p:spPr>
          <a:xfrm>
            <a:off x="5349240" y="1585182"/>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rPr>
              <a:t>Novo Nordisk: focused on metabolic disease</a:t>
            </a:r>
          </a:p>
        </p:txBody>
      </p:sp>
      <p:sp>
        <p:nvSpPr>
          <p:cNvPr id="60" name="Shape SI_KF2line"/>
          <p:cNvSpPr/>
          <p:nvPr/>
        </p:nvSpPr>
        <p:spPr>
          <a:xfrm>
            <a:off x="5349240" y="1978374"/>
            <a:ext cx="3291840" cy="0"/>
          </a:xfrm>
          <a:prstGeom prst="line">
            <a:avLst/>
          </a:prstGeom>
          <a:noFill/>
          <a:ln w="12700">
            <a:solidFill>
              <a:srgbClr val="0D9488"/>
            </a:solidFill>
            <a:prstDash val="solid"/>
          </a:ln>
        </p:spPr>
      </p:sp>
      <p:sp>
        <p:nvSpPr>
          <p:cNvPr id="61" name="Text SI_KF2body"/>
          <p:cNvSpPr/>
          <p:nvPr/>
        </p:nvSpPr>
        <p:spPr>
          <a:xfrm>
            <a:off x="5349240" y="2035182"/>
            <a:ext cx="3474720" cy="1100000"/>
          </a:xfrm>
          <a:prstGeom prst="rect">
            <a:avLst/>
          </a:prstGeom>
          <a:noFill/>
          <a:ln/>
        </p:spPr>
        <p:txBody>
          <a:bodyPr wrap="square" rtlCol="0" anchor="ctr"/>
          <a:lstStyle/>
          <a:p>
            <a:pPr marL="0" indent="0">
              <a:lnSpc>
                <a:spcPct val="140000"/>
              </a:lnSpc>
              <a:buNone/>
            </a:pPr>
            <a:r>
              <a:rPr lang="en-US" sz="950" dirty="0">
                <a:latin typeface="Calibri" pitchFamily="34" charset="0"/>
              </a:rPr>
              <a:t>Novo Nordisk’s condition portfolio is dominated by Diabetes and Obesity. Semaglutide and insulin analogues lead drug inventory. Germany tops geographic reach, reflecting European HQ. Active Phase 3 recruiting signals the next wave beyond GLP1 dominance.</a:t>
            </a:r>
          </a:p>
        </p:txBody>
      </p:sp>
      <p:sp>
        <p:nvSpPr>
          <p:cNvPr id="2" name="Rectangle 1">
            <a:extLst>
              <a:ext uri="{FF2B5EF4-FFF2-40B4-BE49-F238E27FC236}">
                <a16:creationId xmlns:a16="http://schemas.microsoft.com/office/drawing/2014/main" id="{0A81ACA0-36FE-2435-44FC-26ABA887A404}"/>
              </a:ext>
            </a:extLst>
          </p:cNvPr>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FC9ED0E-BCFF-418D-A252-F6BD74789795}"/>
              </a:ext>
            </a:extLst>
          </p:cNvPr>
          <p:cNvSpPr txBox="1"/>
          <p:nvPr/>
        </p:nvSpPr>
        <p:spPr>
          <a:xfrm>
            <a:off x="320040" y="54864"/>
            <a:ext cx="8503920" cy="261610"/>
          </a:xfrm>
          <a:prstGeom prst="rect">
            <a:avLst/>
          </a:prstGeom>
          <a:noFill/>
        </p:spPr>
        <p:txBody>
          <a:bodyPr wrap="square">
            <a:spAutoFit/>
          </a:bodyPr>
          <a:lstStyle/>
          <a:p>
            <a:pPr algn="l"/>
            <a:r>
              <a:rPr sz="1100" b="1" i="0" dirty="0">
                <a:solidFill>
                  <a:srgbClr val="FF6B35"/>
                </a:solidFill>
                <a:latin typeface="Calibri"/>
              </a:rPr>
              <a:t>03  /  SPONSOR INTELLIGENCE</a:t>
            </a:r>
            <a:r>
              <a:rPr lang="en-IN" sz="1100" b="1" i="0" dirty="0">
                <a:solidFill>
                  <a:srgbClr val="FF6B35"/>
                </a:solidFill>
                <a:latin typeface="Calibri"/>
              </a:rPr>
              <a:t> – Key Findings</a:t>
            </a:r>
            <a:endParaRPr sz="1100" b="1" i="0" dirty="0">
              <a:solidFill>
                <a:srgbClr val="FF6B35"/>
              </a:solidFill>
              <a:latin typeface="Calibri"/>
            </a:endParaRPr>
          </a:p>
        </p:txBody>
      </p:sp>
    </p:spTree>
    <p:extLst>
      <p:ext uri="{BB962C8B-B14F-4D97-AF65-F5344CB8AC3E}">
        <p14:creationId xmlns:p14="http://schemas.microsoft.com/office/powerpoint/2010/main" val="1423271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54864"/>
            <a:ext cx="8503920" cy="261610"/>
          </a:xfrm>
          <a:prstGeom prst="rect">
            <a:avLst/>
          </a:prstGeom>
          <a:noFill/>
        </p:spPr>
        <p:txBody>
          <a:bodyPr wrap="square">
            <a:spAutoFit/>
          </a:bodyPr>
          <a:lstStyle/>
          <a:p>
            <a:r>
              <a:rPr sz="1100" b="1" i="0" dirty="0">
                <a:solidFill>
                  <a:srgbClr val="845EC2"/>
                </a:solidFill>
                <a:latin typeface="Calibri"/>
              </a:rPr>
              <a:t>04  /  NETWORK &amp; GRAPH</a:t>
            </a:r>
            <a:r>
              <a:rPr lang="en-IN" sz="1100" b="1" dirty="0">
                <a:solidFill>
                  <a:srgbClr val="845EC2"/>
                </a:solidFill>
              </a:rPr>
              <a:t> ANALYTICS</a:t>
            </a:r>
            <a:endParaRPr sz="1100" b="1" i="0" dirty="0">
              <a:solidFill>
                <a:srgbClr val="845EC2"/>
              </a:solidFill>
              <a:latin typeface="Calibri"/>
            </a:endParaRPr>
          </a:p>
        </p:txBody>
      </p:sp>
      <p:sp>
        <p:nvSpPr>
          <p:cNvPr id="5" name="Rectangle 4"/>
          <p:cNvSpPr/>
          <p:nvPr/>
        </p:nvSpPr>
        <p:spPr>
          <a:xfrm>
            <a:off x="256032" y="960120"/>
            <a:ext cx="4251960" cy="150280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6032" y="960120"/>
            <a:ext cx="50292" cy="1502801"/>
          </a:xfrm>
          <a:prstGeom prst="rect">
            <a:avLst/>
          </a:prstGeom>
          <a:solidFill>
            <a:srgbClr val="845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06324" y="971068"/>
            <a:ext cx="4114800" cy="307777"/>
          </a:xfrm>
          <a:prstGeom prst="rect">
            <a:avLst/>
          </a:prstGeom>
          <a:noFill/>
        </p:spPr>
        <p:txBody>
          <a:bodyPr wrap="square">
            <a:spAutoFit/>
          </a:bodyPr>
          <a:lstStyle/>
          <a:p>
            <a:pPr algn="l"/>
            <a:r>
              <a:rPr sz="1400" b="1" i="0" dirty="0">
                <a:solidFill>
                  <a:srgbClr val="0D1B3E"/>
                </a:solidFill>
                <a:latin typeface="Calibri"/>
              </a:rPr>
              <a:t>Centrality Scoring</a:t>
            </a:r>
          </a:p>
        </p:txBody>
      </p:sp>
      <p:sp>
        <p:nvSpPr>
          <p:cNvPr id="8" name="TextBox 7"/>
          <p:cNvSpPr txBox="1"/>
          <p:nvPr/>
        </p:nvSpPr>
        <p:spPr>
          <a:xfrm>
            <a:off x="306324" y="1251454"/>
            <a:ext cx="4114800" cy="615553"/>
          </a:xfrm>
          <a:prstGeom prst="rect">
            <a:avLst/>
          </a:prstGeom>
          <a:noFill/>
        </p:spPr>
        <p:txBody>
          <a:bodyPr wrap="square">
            <a:spAutoFit/>
          </a:bodyPr>
          <a:lstStyle/>
          <a:p>
            <a:pPr algn="l"/>
            <a:r>
              <a:rPr sz="1000" b="1" i="0" dirty="0">
                <a:solidFill>
                  <a:srgbClr val="8AA0B4"/>
                </a:solidFill>
                <a:latin typeface="Calibri"/>
              </a:rPr>
              <a:t>WHAT IT DOES</a:t>
            </a:r>
            <a:endParaRPr lang="en-IN" sz="1000" b="1" i="0" dirty="0">
              <a:solidFill>
                <a:srgbClr val="8AA0B4"/>
              </a:solidFill>
              <a:latin typeface="Calibri"/>
            </a:endParaRPr>
          </a:p>
          <a:p>
            <a:r>
              <a:rPr lang="en-US" sz="800" dirty="0">
                <a:solidFill>
                  <a:srgbClr val="2D3A4A"/>
                </a:solidFill>
              </a:rPr>
              <a:t>Computes degree centrality (unique connections) and betweenness centrality (bridge importance) across the drug condition graph. High degree nodes are therapeutically broad; high betweenness nodes are structural bridges.</a:t>
            </a:r>
          </a:p>
        </p:txBody>
      </p:sp>
      <p:sp>
        <p:nvSpPr>
          <p:cNvPr id="10" name="TextBox 9"/>
          <p:cNvSpPr txBox="1"/>
          <p:nvPr/>
        </p:nvSpPr>
        <p:spPr>
          <a:xfrm>
            <a:off x="306324" y="1860401"/>
            <a:ext cx="4114800" cy="492443"/>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Pipeline prioritization teams; drug repositioning researchers finding anchor conditions with maximum cross indication reach.</a:t>
            </a:r>
          </a:p>
        </p:txBody>
      </p:sp>
      <p:grpSp>
        <p:nvGrpSpPr>
          <p:cNvPr id="32" name="Group 31">
            <a:extLst>
              <a:ext uri="{FF2B5EF4-FFF2-40B4-BE49-F238E27FC236}">
                <a16:creationId xmlns:a16="http://schemas.microsoft.com/office/drawing/2014/main" id="{14975BBB-8695-A738-BC3A-B9F28B679FF8}"/>
              </a:ext>
            </a:extLst>
          </p:cNvPr>
          <p:cNvGrpSpPr/>
          <p:nvPr/>
        </p:nvGrpSpPr>
        <p:grpSpPr>
          <a:xfrm>
            <a:off x="237744" y="2659195"/>
            <a:ext cx="4251960" cy="1247810"/>
            <a:chOff x="256032" y="3060954"/>
            <a:chExt cx="4251960" cy="1247810"/>
          </a:xfrm>
        </p:grpSpPr>
        <p:sp>
          <p:nvSpPr>
            <p:cNvPr id="14" name="Rectangle 13"/>
            <p:cNvSpPr/>
            <p:nvPr/>
          </p:nvSpPr>
          <p:spPr>
            <a:xfrm>
              <a:off x="256032" y="3060954"/>
              <a:ext cx="4251960" cy="124781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56032" y="3060954"/>
              <a:ext cx="50292" cy="1247810"/>
            </a:xfrm>
            <a:prstGeom prst="rect">
              <a:avLst/>
            </a:prstGeom>
            <a:solidFill>
              <a:srgbClr val="845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92608" y="3060954"/>
              <a:ext cx="4114800" cy="307777"/>
            </a:xfrm>
            <a:prstGeom prst="rect">
              <a:avLst/>
            </a:prstGeom>
            <a:noFill/>
          </p:spPr>
          <p:txBody>
            <a:bodyPr wrap="square">
              <a:spAutoFit/>
            </a:bodyPr>
            <a:lstStyle/>
            <a:p>
              <a:pPr algn="l"/>
              <a:r>
                <a:rPr sz="1400" b="1" i="0" dirty="0">
                  <a:solidFill>
                    <a:srgbClr val="0D1B3E"/>
                  </a:solidFill>
                  <a:latin typeface="Calibri"/>
                </a:rPr>
                <a:t>Community Detection</a:t>
              </a:r>
            </a:p>
          </p:txBody>
        </p:sp>
        <p:sp>
          <p:nvSpPr>
            <p:cNvPr id="17" name="TextBox 16"/>
            <p:cNvSpPr txBox="1"/>
            <p:nvPr/>
          </p:nvSpPr>
          <p:spPr>
            <a:xfrm>
              <a:off x="292608" y="3304009"/>
              <a:ext cx="4114800" cy="492443"/>
            </a:xfrm>
            <a:prstGeom prst="rect">
              <a:avLst/>
            </a:prstGeom>
            <a:noFill/>
          </p:spPr>
          <p:txBody>
            <a:bodyPr wrap="square">
              <a:spAutoFit/>
            </a:bodyPr>
            <a:lstStyle/>
            <a:p>
              <a:pPr algn="l"/>
              <a:r>
                <a:rPr sz="1000" b="1" i="0" dirty="0">
                  <a:solidFill>
                    <a:srgbClr val="8AA0B4"/>
                  </a:solidFill>
                  <a:latin typeface="Calibri"/>
                </a:rPr>
                <a:t>WHAT IT DOES</a:t>
              </a:r>
              <a:endParaRPr lang="en-IN" sz="1000" b="1" i="0" dirty="0">
                <a:solidFill>
                  <a:srgbClr val="8AA0B4"/>
                </a:solidFill>
                <a:latin typeface="Calibri"/>
              </a:endParaRPr>
            </a:p>
            <a:p>
              <a:r>
                <a:rPr lang="en-US" sz="800" dirty="0">
                  <a:solidFill>
                    <a:srgbClr val="2D3A4A"/>
                  </a:solidFill>
                </a:rPr>
                <a:t>Applies the Louvain algorithm to partition the graph into dense clusters where drugs and diseases are tightly co-studied. Each community is a self </a:t>
              </a:r>
              <a:r>
                <a:rPr lang="en-US" sz="800" dirty="0" err="1">
                  <a:solidFill>
                    <a:srgbClr val="2D3A4A"/>
                  </a:solidFill>
                </a:rPr>
                <a:t>organised</a:t>
              </a:r>
              <a:r>
                <a:rPr lang="en-US" sz="800" dirty="0">
                  <a:solidFill>
                    <a:srgbClr val="2D3A4A"/>
                  </a:solidFill>
                </a:rPr>
                <a:t> therapeutic area.</a:t>
              </a:r>
            </a:p>
          </p:txBody>
        </p:sp>
        <p:sp>
          <p:nvSpPr>
            <p:cNvPr id="19" name="TextBox 18"/>
            <p:cNvSpPr txBox="1"/>
            <p:nvPr/>
          </p:nvSpPr>
          <p:spPr>
            <a:xfrm>
              <a:off x="299535" y="3856582"/>
              <a:ext cx="4114800" cy="369332"/>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err="1">
                  <a:solidFill>
                    <a:srgbClr val="2D3A4A"/>
                  </a:solidFill>
                </a:rPr>
                <a:t>GraphRAG</a:t>
              </a:r>
              <a:r>
                <a:rPr lang="en-US" sz="800" dirty="0">
                  <a:solidFill>
                    <a:srgbClr val="2D3A4A"/>
                  </a:solidFill>
                </a:rPr>
                <a:t> pipeline builders feeding disease cluster summaries to an LLM</a:t>
              </a:r>
            </a:p>
          </p:txBody>
        </p:sp>
      </p:grpSp>
      <p:grpSp>
        <p:nvGrpSpPr>
          <p:cNvPr id="33" name="Group 32">
            <a:extLst>
              <a:ext uri="{FF2B5EF4-FFF2-40B4-BE49-F238E27FC236}">
                <a16:creationId xmlns:a16="http://schemas.microsoft.com/office/drawing/2014/main" id="{A589E1F3-8A03-8D22-2D4C-6FB1B0BFE08D}"/>
              </a:ext>
            </a:extLst>
          </p:cNvPr>
          <p:cNvGrpSpPr/>
          <p:nvPr/>
        </p:nvGrpSpPr>
        <p:grpSpPr>
          <a:xfrm>
            <a:off x="4688379" y="1518779"/>
            <a:ext cx="4181301" cy="1674694"/>
            <a:chOff x="4688379" y="932412"/>
            <a:chExt cx="4181301" cy="1504637"/>
          </a:xfrm>
        </p:grpSpPr>
        <p:sp>
          <p:nvSpPr>
            <p:cNvPr id="23" name="Rectangle 22"/>
            <p:cNvSpPr/>
            <p:nvPr/>
          </p:nvSpPr>
          <p:spPr>
            <a:xfrm>
              <a:off x="4690872" y="934248"/>
              <a:ext cx="4178808" cy="150280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688379" y="932412"/>
              <a:ext cx="50292" cy="1502801"/>
            </a:xfrm>
            <a:prstGeom prst="rect">
              <a:avLst/>
            </a:prstGeom>
            <a:solidFill>
              <a:srgbClr val="845E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38671" y="934248"/>
              <a:ext cx="4041648" cy="307777"/>
            </a:xfrm>
            <a:prstGeom prst="rect">
              <a:avLst/>
            </a:prstGeom>
            <a:noFill/>
          </p:spPr>
          <p:txBody>
            <a:bodyPr wrap="square">
              <a:spAutoFit/>
            </a:bodyPr>
            <a:lstStyle/>
            <a:p>
              <a:pPr algn="l"/>
              <a:r>
                <a:rPr sz="1400" b="1" i="0" dirty="0">
                  <a:solidFill>
                    <a:srgbClr val="0D1B3E"/>
                  </a:solidFill>
                  <a:latin typeface="Calibri"/>
                </a:rPr>
                <a:t>Drug Repurposing Signals</a:t>
              </a:r>
            </a:p>
          </p:txBody>
        </p:sp>
        <p:sp>
          <p:nvSpPr>
            <p:cNvPr id="26" name="TextBox 25"/>
            <p:cNvSpPr txBox="1"/>
            <p:nvPr/>
          </p:nvSpPr>
          <p:spPr>
            <a:xfrm>
              <a:off x="4738671" y="1182620"/>
              <a:ext cx="4041648" cy="553047"/>
            </a:xfrm>
            <a:prstGeom prst="rect">
              <a:avLst/>
            </a:prstGeom>
            <a:noFill/>
          </p:spPr>
          <p:txBody>
            <a:bodyPr wrap="square">
              <a:spAutoFit/>
            </a:bodyPr>
            <a:lstStyle/>
            <a:p>
              <a:pPr algn="l"/>
              <a:r>
                <a:rPr sz="1000" b="1" i="0" dirty="0">
                  <a:solidFill>
                    <a:srgbClr val="8AA0B4"/>
                  </a:solidFill>
                  <a:latin typeface="Calibri"/>
                </a:rPr>
                <a:t>WHAT IT DOES</a:t>
              </a:r>
              <a:endParaRPr lang="en-IN" sz="1000" b="1" i="0" dirty="0">
                <a:solidFill>
                  <a:srgbClr val="8AA0B4"/>
                </a:solidFill>
                <a:latin typeface="Calibri"/>
              </a:endParaRPr>
            </a:p>
            <a:p>
              <a:r>
                <a:rPr lang="en-US" sz="800" dirty="0">
                  <a:solidFill>
                    <a:srgbClr val="2D3A4A"/>
                  </a:solidFill>
                </a:rPr>
                <a:t>Identifies drugs studied across the greatest number of distinct conditions relative to trial volume. High condition breadth at moderate trial count = a drug explored beyond its label, the core repurposing signal.</a:t>
              </a:r>
            </a:p>
          </p:txBody>
        </p:sp>
        <p:sp>
          <p:nvSpPr>
            <p:cNvPr id="28" name="TextBox 27"/>
            <p:cNvSpPr txBox="1"/>
            <p:nvPr/>
          </p:nvSpPr>
          <p:spPr>
            <a:xfrm>
              <a:off x="4738671" y="1774452"/>
              <a:ext cx="4041648" cy="553047"/>
            </a:xfrm>
            <a:prstGeom prst="rect">
              <a:avLst/>
            </a:prstGeom>
            <a:noFill/>
          </p:spPr>
          <p:txBody>
            <a:bodyPr wrap="square">
              <a:spAutoFit/>
            </a:bodyPr>
            <a:lstStyle/>
            <a:p>
              <a:pPr algn="l"/>
              <a:r>
                <a:rPr sz="1000" b="1" i="0" dirty="0">
                  <a:solidFill>
                    <a:srgbClr val="8AA0B4"/>
                  </a:solidFill>
                  <a:latin typeface="Calibri"/>
                </a:rPr>
                <a:t>WHO USES IT</a:t>
              </a:r>
              <a:endParaRPr lang="en-IN" sz="1000" b="1" i="0" dirty="0">
                <a:solidFill>
                  <a:srgbClr val="8AA0B4"/>
                </a:solidFill>
                <a:latin typeface="Calibri"/>
              </a:endParaRPr>
            </a:p>
            <a:p>
              <a:r>
                <a:rPr lang="en-US" sz="800" dirty="0">
                  <a:solidFill>
                    <a:srgbClr val="2D3A4A"/>
                  </a:solidFill>
                </a:rPr>
                <a:t>Drug repositioning researchers; biotech startups seeking off patent compounds; AI drug discovery teams building training datasets; rare disease researchers needing established safety profiles.</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graphicFrame>
        <p:nvGraphicFramePr>
          <p:cNvPr id="20" name="Chart 0">
            <a:extLst>
              <a:ext uri="{FF2B5EF4-FFF2-40B4-BE49-F238E27FC236}">
                <a16:creationId xmlns:a16="http://schemas.microsoft.com/office/drawing/2014/main" id="{457B37CD-0C50-7B2F-50C0-F679DA9F4724}"/>
              </a:ext>
            </a:extLst>
          </p:cNvPr>
          <p:cNvGraphicFramePr/>
          <p:nvPr>
            <p:extLst>
              <p:ext uri="{D42A27DB-BD31-4B8C-83A1-F6EECF244321}">
                <p14:modId xmlns:p14="http://schemas.microsoft.com/office/powerpoint/2010/main" val="3960714347"/>
              </p:ext>
            </p:extLst>
          </p:nvPr>
        </p:nvGraphicFramePr>
        <p:xfrm>
          <a:off x="3061854" y="1112259"/>
          <a:ext cx="3283528" cy="2962654"/>
        </p:xfrm>
        <a:graphic>
          <a:graphicData uri="http://schemas.openxmlformats.org/drawingml/2006/chart">
            <c:chart xmlns:c="http://schemas.openxmlformats.org/drawingml/2006/chart" xmlns:r="http://schemas.openxmlformats.org/officeDocument/2006/relationships" r:id="rId2"/>
          </a:graphicData>
        </a:graphic>
      </p:graphicFrame>
      <p:sp>
        <p:nvSpPr>
          <p:cNvPr id="2" name="Rectangle 1"/>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54864"/>
            <a:ext cx="8229600" cy="261610"/>
          </a:xfrm>
          <a:prstGeom prst="rect">
            <a:avLst/>
          </a:prstGeom>
          <a:noFill/>
        </p:spPr>
        <p:txBody>
          <a:bodyPr wrap="square">
            <a:spAutoFit/>
          </a:bodyPr>
          <a:lstStyle/>
          <a:p>
            <a:pPr algn="l"/>
            <a:r>
              <a:rPr sz="1100" b="1" i="0" dirty="0">
                <a:solidFill>
                  <a:srgbClr val="845EC2"/>
                </a:solidFill>
                <a:latin typeface="Calibri"/>
              </a:rPr>
              <a:t>04  /  NETWORK &amp; GRAPH ANALYTICS</a:t>
            </a:r>
            <a:r>
              <a:rPr lang="en-IN" sz="1100" b="1" i="0" dirty="0">
                <a:solidFill>
                  <a:srgbClr val="845EC2"/>
                </a:solidFill>
                <a:latin typeface="Calibri"/>
              </a:rPr>
              <a:t> – Centrality scoring</a:t>
            </a:r>
            <a:endParaRPr sz="1100" b="1" i="0" dirty="0">
              <a:solidFill>
                <a:srgbClr val="845EC2"/>
              </a:solidFill>
              <a:latin typeface="Calibri"/>
            </a:endParaRPr>
          </a:p>
        </p:txBody>
      </p:sp>
      <p:graphicFrame>
        <p:nvGraphicFramePr>
          <p:cNvPr id="6" name="Chart 0">
            <a:extLst>
              <a:ext uri="{FF2B5EF4-FFF2-40B4-BE49-F238E27FC236}">
                <a16:creationId xmlns:a16="http://schemas.microsoft.com/office/drawing/2014/main" id="{53569A40-49EF-CA3F-8759-59CBA57019F3}"/>
              </a:ext>
            </a:extLst>
          </p:cNvPr>
          <p:cNvGraphicFramePr/>
          <p:nvPr>
            <p:extLst>
              <p:ext uri="{D42A27DB-BD31-4B8C-83A1-F6EECF244321}">
                <p14:modId xmlns:p14="http://schemas.microsoft.com/office/powerpoint/2010/main" val="3181654972"/>
              </p:ext>
            </p:extLst>
          </p:nvPr>
        </p:nvGraphicFramePr>
        <p:xfrm>
          <a:off x="76197" y="1112258"/>
          <a:ext cx="3034145" cy="296265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15">
            <a:extLst>
              <a:ext uri="{FF2B5EF4-FFF2-40B4-BE49-F238E27FC236}">
                <a16:creationId xmlns:a16="http://schemas.microsoft.com/office/drawing/2014/main" id="{756AEA99-C825-D378-BB6F-1563D2D935A3}"/>
              </a:ext>
            </a:extLst>
          </p:cNvPr>
          <p:cNvSpPr/>
          <p:nvPr/>
        </p:nvSpPr>
        <p:spPr>
          <a:xfrm>
            <a:off x="1136069" y="4194625"/>
            <a:ext cx="3948545" cy="256032"/>
          </a:xfrm>
          <a:prstGeom prst="rect">
            <a:avLst/>
          </a:prstGeom>
          <a:noFill/>
          <a:ln/>
        </p:spPr>
        <p:txBody>
          <a:bodyPr wrap="square" rtlCol="0" anchor="ctr"/>
          <a:lstStyle/>
          <a:p>
            <a:pPr marL="0" indent="0" algn="ctr">
              <a:buNone/>
            </a:pPr>
            <a:r>
              <a:rPr lang="en-US" sz="950" b="1" dirty="0">
                <a:solidFill>
                  <a:srgbClr val="5B4FCF"/>
                </a:solidFill>
                <a:latin typeface="Calibri" pitchFamily="34" charset="0"/>
                <a:ea typeface="Calibri" pitchFamily="34" charset="-122"/>
                <a:cs typeface="Calibri" pitchFamily="34" charset="-120"/>
              </a:rPr>
              <a:t>All top nodes are DISEASE CONDITIONS — confirming the graph's condition centric structure driven by trial volume per disease area</a:t>
            </a:r>
            <a:endParaRPr lang="en-US" sz="950" dirty="0"/>
          </a:p>
        </p:txBody>
      </p:sp>
      <p:sp>
        <p:nvSpPr>
          <p:cNvPr id="22" name="TextBox 21">
            <a:extLst>
              <a:ext uri="{FF2B5EF4-FFF2-40B4-BE49-F238E27FC236}">
                <a16:creationId xmlns:a16="http://schemas.microsoft.com/office/drawing/2014/main" id="{095B4D5F-9F7D-05EC-CF79-B5B9C9A0B855}"/>
              </a:ext>
            </a:extLst>
          </p:cNvPr>
          <p:cNvSpPr txBox="1"/>
          <p:nvPr/>
        </p:nvSpPr>
        <p:spPr>
          <a:xfrm>
            <a:off x="1073729" y="835260"/>
            <a:ext cx="1295400" cy="276999"/>
          </a:xfrm>
          <a:prstGeom prst="rect">
            <a:avLst/>
          </a:prstGeom>
          <a:noFill/>
        </p:spPr>
        <p:txBody>
          <a:bodyPr wrap="square">
            <a:spAutoFit/>
          </a:bodyPr>
          <a:lstStyle/>
          <a:p>
            <a:r>
              <a:rPr lang="en-IN" sz="1200" b="1" i="0" dirty="0">
                <a:latin typeface="Calibri"/>
              </a:rPr>
              <a:t>Degree centrality</a:t>
            </a:r>
            <a:endParaRPr lang="en-IN" sz="1200" dirty="0"/>
          </a:p>
        </p:txBody>
      </p:sp>
      <p:sp>
        <p:nvSpPr>
          <p:cNvPr id="24" name="TextBox 23">
            <a:extLst>
              <a:ext uri="{FF2B5EF4-FFF2-40B4-BE49-F238E27FC236}">
                <a16:creationId xmlns:a16="http://schemas.microsoft.com/office/drawing/2014/main" id="{87DD3BA8-9567-8451-40A5-52AE03A5EFF2}"/>
              </a:ext>
            </a:extLst>
          </p:cNvPr>
          <p:cNvSpPr txBox="1"/>
          <p:nvPr/>
        </p:nvSpPr>
        <p:spPr>
          <a:xfrm>
            <a:off x="3889662" y="835260"/>
            <a:ext cx="1676400" cy="276999"/>
          </a:xfrm>
          <a:prstGeom prst="rect">
            <a:avLst/>
          </a:prstGeom>
          <a:noFill/>
        </p:spPr>
        <p:txBody>
          <a:bodyPr wrap="square">
            <a:spAutoFit/>
          </a:bodyPr>
          <a:lstStyle/>
          <a:p>
            <a:r>
              <a:rPr lang="en-IN" sz="1200" b="1" i="0" dirty="0">
                <a:latin typeface="Calibri"/>
              </a:rPr>
              <a:t>Betweenness centrality</a:t>
            </a:r>
            <a:endParaRPr lang="en-IN" sz="1200" dirty="0"/>
          </a:p>
        </p:txBody>
      </p:sp>
      <p:sp>
        <p:nvSpPr>
          <p:cNvPr id="25" name="Shape 3">
            <a:extLst>
              <a:ext uri="{FF2B5EF4-FFF2-40B4-BE49-F238E27FC236}">
                <a16:creationId xmlns:a16="http://schemas.microsoft.com/office/drawing/2014/main" id="{9B4421E1-48A8-0064-2535-C8D43A77E0C5}"/>
              </a:ext>
            </a:extLst>
          </p:cNvPr>
          <p:cNvSpPr/>
          <p:nvPr/>
        </p:nvSpPr>
        <p:spPr>
          <a:xfrm>
            <a:off x="6378632" y="599102"/>
            <a:ext cx="2751514" cy="872893"/>
          </a:xfrm>
          <a:prstGeom prst="rect">
            <a:avLst/>
          </a:prstGeom>
          <a:solidFill>
            <a:srgbClr val="FFFFFF"/>
          </a:solidFill>
          <a:ln w="12700">
            <a:solidFill>
              <a:srgbClr val="5B4FCF"/>
            </a:solidFill>
            <a:prstDash val="solid"/>
          </a:ln>
          <a:effectLst>
            <a:outerShdw blurRad="101600" dist="38100" dir="8100000" algn="bl" rotWithShape="0">
              <a:srgbClr val="000000">
                <a:alpha val="10000"/>
              </a:srgbClr>
            </a:outerShdw>
          </a:effectLst>
        </p:spPr>
      </p:sp>
      <p:sp>
        <p:nvSpPr>
          <p:cNvPr id="26" name="Text 5">
            <a:extLst>
              <a:ext uri="{FF2B5EF4-FFF2-40B4-BE49-F238E27FC236}">
                <a16:creationId xmlns:a16="http://schemas.microsoft.com/office/drawing/2014/main" id="{7155C457-053A-CF85-A082-C87C3126585B}"/>
              </a:ext>
            </a:extLst>
          </p:cNvPr>
          <p:cNvSpPr/>
          <p:nvPr/>
        </p:nvSpPr>
        <p:spPr>
          <a:xfrm>
            <a:off x="6378632" y="579599"/>
            <a:ext cx="659475" cy="274320"/>
          </a:xfrm>
          <a:prstGeom prst="rect">
            <a:avLst/>
          </a:prstGeom>
          <a:noFill/>
          <a:ln/>
        </p:spPr>
        <p:txBody>
          <a:bodyPr wrap="square" rtlCol="0" anchor="ctr"/>
          <a:lstStyle/>
          <a:p>
            <a:pPr marL="0" indent="0">
              <a:buNone/>
            </a:pPr>
            <a:r>
              <a:rPr lang="en-US" sz="1100" b="1" dirty="0">
                <a:solidFill>
                  <a:srgbClr val="0F1F3D"/>
                </a:solidFill>
                <a:latin typeface="Calibri" pitchFamily="34" charset="0"/>
                <a:ea typeface="Calibri" pitchFamily="34" charset="-122"/>
                <a:cs typeface="Calibri" pitchFamily="34" charset="-120"/>
              </a:rPr>
              <a:t>Obesity</a:t>
            </a:r>
            <a:endParaRPr lang="en-US" sz="1100" dirty="0"/>
          </a:p>
        </p:txBody>
      </p:sp>
      <p:sp>
        <p:nvSpPr>
          <p:cNvPr id="27" name="Text 6">
            <a:extLst>
              <a:ext uri="{FF2B5EF4-FFF2-40B4-BE49-F238E27FC236}">
                <a16:creationId xmlns:a16="http://schemas.microsoft.com/office/drawing/2014/main" id="{FC4F8C2B-741D-369E-1B59-8EDC2F5FB301}"/>
              </a:ext>
            </a:extLst>
          </p:cNvPr>
          <p:cNvSpPr/>
          <p:nvPr/>
        </p:nvSpPr>
        <p:spPr>
          <a:xfrm>
            <a:off x="6345381" y="725793"/>
            <a:ext cx="2772293" cy="784067"/>
          </a:xfrm>
          <a:prstGeom prst="rect">
            <a:avLst/>
          </a:prstGeom>
          <a:noFill/>
          <a:ln/>
        </p:spPr>
        <p:txBody>
          <a:bodyPr wrap="square" rtlCol="0" anchor="ctr"/>
          <a:lstStyle/>
          <a:p>
            <a:pPr marL="0" indent="0" algn="just">
              <a:buNone/>
            </a:pPr>
            <a:r>
              <a:rPr lang="en-US" sz="1000" dirty="0">
                <a:solidFill>
                  <a:srgbClr val="64748B"/>
                </a:solidFill>
                <a:latin typeface="Calibri" pitchFamily="34" charset="0"/>
                <a:ea typeface="Calibri" pitchFamily="34" charset="-122"/>
                <a:cs typeface="Calibri" pitchFamily="34" charset="-120"/>
              </a:rPr>
              <a:t>Highest degree: GLP-1 agonists, SGLT2 inhibitors, bariatric, dietary, and behavioral trials all converge on this node. Reflects the global obesity epidemic driving massive trial investment.</a:t>
            </a:r>
            <a:endParaRPr lang="en-US" sz="1000" dirty="0"/>
          </a:p>
        </p:txBody>
      </p:sp>
      <p:sp>
        <p:nvSpPr>
          <p:cNvPr id="28" name="Shape 7">
            <a:extLst>
              <a:ext uri="{FF2B5EF4-FFF2-40B4-BE49-F238E27FC236}">
                <a16:creationId xmlns:a16="http://schemas.microsoft.com/office/drawing/2014/main" id="{76562BBD-1F19-F4F4-4024-55EFA6E7718C}"/>
              </a:ext>
            </a:extLst>
          </p:cNvPr>
          <p:cNvSpPr/>
          <p:nvPr/>
        </p:nvSpPr>
        <p:spPr>
          <a:xfrm>
            <a:off x="6378634" y="1504993"/>
            <a:ext cx="2751514" cy="883204"/>
          </a:xfrm>
          <a:prstGeom prst="rect">
            <a:avLst/>
          </a:prstGeom>
          <a:solidFill>
            <a:srgbClr val="FFFFFF"/>
          </a:solidFill>
          <a:ln w="12700">
            <a:solidFill>
              <a:srgbClr val="7B6FDF"/>
            </a:solidFill>
            <a:prstDash val="solid"/>
          </a:ln>
          <a:effectLst>
            <a:outerShdw blurRad="101600" dist="38100" dir="8100000" algn="bl" rotWithShape="0">
              <a:srgbClr val="000000">
                <a:alpha val="10000"/>
              </a:srgbClr>
            </a:outerShdw>
          </a:effectLst>
        </p:spPr>
      </p:sp>
      <p:sp>
        <p:nvSpPr>
          <p:cNvPr id="29" name="Text 9">
            <a:extLst>
              <a:ext uri="{FF2B5EF4-FFF2-40B4-BE49-F238E27FC236}">
                <a16:creationId xmlns:a16="http://schemas.microsoft.com/office/drawing/2014/main" id="{2E33019F-042F-30A7-97DF-617CDE7CE179}"/>
              </a:ext>
            </a:extLst>
          </p:cNvPr>
          <p:cNvSpPr/>
          <p:nvPr/>
        </p:nvSpPr>
        <p:spPr>
          <a:xfrm>
            <a:off x="6382791" y="1503594"/>
            <a:ext cx="1468583" cy="274320"/>
          </a:xfrm>
          <a:prstGeom prst="rect">
            <a:avLst/>
          </a:prstGeom>
          <a:noFill/>
          <a:ln/>
        </p:spPr>
        <p:txBody>
          <a:bodyPr wrap="square" rtlCol="0" anchor="ctr"/>
          <a:lstStyle/>
          <a:p>
            <a:pPr marL="0" indent="0">
              <a:buNone/>
            </a:pPr>
            <a:r>
              <a:rPr lang="en-US" sz="1100" b="1" dirty="0">
                <a:solidFill>
                  <a:srgbClr val="0F1F3D"/>
                </a:solidFill>
                <a:latin typeface="Calibri" pitchFamily="34" charset="0"/>
                <a:ea typeface="Calibri" pitchFamily="34" charset="-122"/>
                <a:cs typeface="Calibri" pitchFamily="34" charset="-120"/>
              </a:rPr>
              <a:t>Breast Cancer</a:t>
            </a:r>
            <a:endParaRPr lang="en-US" sz="1100" dirty="0"/>
          </a:p>
        </p:txBody>
      </p:sp>
      <p:sp>
        <p:nvSpPr>
          <p:cNvPr id="30" name="Text 10">
            <a:extLst>
              <a:ext uri="{FF2B5EF4-FFF2-40B4-BE49-F238E27FC236}">
                <a16:creationId xmlns:a16="http://schemas.microsoft.com/office/drawing/2014/main" id="{32453D66-7ACE-BBB4-014F-0D628E3722CE}"/>
              </a:ext>
            </a:extLst>
          </p:cNvPr>
          <p:cNvSpPr/>
          <p:nvPr/>
        </p:nvSpPr>
        <p:spPr>
          <a:xfrm>
            <a:off x="6345381" y="1721186"/>
            <a:ext cx="2776451" cy="637260"/>
          </a:xfrm>
          <a:prstGeom prst="rect">
            <a:avLst/>
          </a:prstGeom>
          <a:noFill/>
          <a:ln/>
        </p:spPr>
        <p:txBody>
          <a:bodyPr wrap="square" rtlCol="0" anchor="ctr"/>
          <a:lstStyle/>
          <a:p>
            <a:pPr marL="0" indent="0" algn="just">
              <a:buNone/>
            </a:pPr>
            <a:r>
              <a:rPr lang="en-US" sz="1000" dirty="0">
                <a:solidFill>
                  <a:srgbClr val="64748B"/>
                </a:solidFill>
                <a:latin typeface="Calibri" pitchFamily="34" charset="0"/>
                <a:ea typeface="Calibri" pitchFamily="34" charset="-122"/>
                <a:cs typeface="Calibri" pitchFamily="34" charset="-120"/>
              </a:rPr>
              <a:t>Tested with the widest variety of drugs/chemotherapy backbones, targeted therapies (CDK4/6, HER2), immunotherapy, and hormonal agents all connect here.</a:t>
            </a:r>
            <a:endParaRPr lang="en-US" sz="1000" dirty="0"/>
          </a:p>
        </p:txBody>
      </p:sp>
      <p:sp>
        <p:nvSpPr>
          <p:cNvPr id="31" name="Shape 11">
            <a:extLst>
              <a:ext uri="{FF2B5EF4-FFF2-40B4-BE49-F238E27FC236}">
                <a16:creationId xmlns:a16="http://schemas.microsoft.com/office/drawing/2014/main" id="{A30EBF1C-DFEB-BF4C-B9BB-D0BAEEE5B176}"/>
              </a:ext>
            </a:extLst>
          </p:cNvPr>
          <p:cNvSpPr/>
          <p:nvPr/>
        </p:nvSpPr>
        <p:spPr>
          <a:xfrm>
            <a:off x="6378634" y="2434898"/>
            <a:ext cx="2751514" cy="973939"/>
          </a:xfrm>
          <a:prstGeom prst="rect">
            <a:avLst/>
          </a:prstGeom>
          <a:solidFill>
            <a:srgbClr val="FFFFFF"/>
          </a:solidFill>
          <a:ln w="12700">
            <a:solidFill>
              <a:srgbClr val="0D9488"/>
            </a:solidFill>
            <a:prstDash val="solid"/>
          </a:ln>
          <a:effectLst>
            <a:outerShdw blurRad="101600" dist="38100" dir="8100000" algn="bl" rotWithShape="0">
              <a:srgbClr val="000000">
                <a:alpha val="10000"/>
              </a:srgbClr>
            </a:outerShdw>
          </a:effectLst>
        </p:spPr>
      </p:sp>
      <p:sp>
        <p:nvSpPr>
          <p:cNvPr id="32" name="Text 13">
            <a:extLst>
              <a:ext uri="{FF2B5EF4-FFF2-40B4-BE49-F238E27FC236}">
                <a16:creationId xmlns:a16="http://schemas.microsoft.com/office/drawing/2014/main" id="{26A4207F-D5A6-4CE3-1542-5C8C0E53EEAD}"/>
              </a:ext>
            </a:extLst>
          </p:cNvPr>
          <p:cNvSpPr/>
          <p:nvPr/>
        </p:nvSpPr>
        <p:spPr>
          <a:xfrm>
            <a:off x="6378632" y="2445599"/>
            <a:ext cx="1371600" cy="274320"/>
          </a:xfrm>
          <a:prstGeom prst="rect">
            <a:avLst/>
          </a:prstGeom>
          <a:noFill/>
          <a:ln/>
        </p:spPr>
        <p:txBody>
          <a:bodyPr wrap="square" rtlCol="0" anchor="ctr"/>
          <a:lstStyle/>
          <a:p>
            <a:pPr marL="0" indent="0">
              <a:buNone/>
            </a:pPr>
            <a:r>
              <a:rPr lang="en-US" sz="1100" b="1" dirty="0">
                <a:solidFill>
                  <a:srgbClr val="0F1F3D"/>
                </a:solidFill>
                <a:latin typeface="Calibri" pitchFamily="34" charset="0"/>
                <a:ea typeface="Calibri" pitchFamily="34" charset="-122"/>
                <a:cs typeface="Calibri" pitchFamily="34" charset="-120"/>
              </a:rPr>
              <a:t>Pain &amp; Heart Failure</a:t>
            </a:r>
            <a:endParaRPr lang="en-US" sz="1100" dirty="0"/>
          </a:p>
        </p:txBody>
      </p:sp>
      <p:sp>
        <p:nvSpPr>
          <p:cNvPr id="33" name="Text 14">
            <a:extLst>
              <a:ext uri="{FF2B5EF4-FFF2-40B4-BE49-F238E27FC236}">
                <a16:creationId xmlns:a16="http://schemas.microsoft.com/office/drawing/2014/main" id="{14B65308-FBDF-ADB6-5030-03A791CB077F}"/>
              </a:ext>
            </a:extLst>
          </p:cNvPr>
          <p:cNvSpPr/>
          <p:nvPr/>
        </p:nvSpPr>
        <p:spPr>
          <a:xfrm>
            <a:off x="6350923" y="2700908"/>
            <a:ext cx="2781990" cy="630630"/>
          </a:xfrm>
          <a:prstGeom prst="rect">
            <a:avLst/>
          </a:prstGeom>
          <a:noFill/>
          <a:ln/>
        </p:spPr>
        <p:txBody>
          <a:bodyPr wrap="square" rtlCol="0" anchor="ctr"/>
          <a:lstStyle/>
          <a:p>
            <a:pPr marL="0" indent="0" algn="just">
              <a:buNone/>
            </a:pPr>
            <a:r>
              <a:rPr lang="en-US" sz="1000" dirty="0">
                <a:solidFill>
                  <a:srgbClr val="64748B"/>
                </a:solidFill>
                <a:latin typeface="Calibri" pitchFamily="34" charset="0"/>
                <a:ea typeface="Calibri" pitchFamily="34" charset="-122"/>
                <a:cs typeface="Calibri" pitchFamily="34" charset="-120"/>
              </a:rPr>
              <a:t>Despite appearing in middle of the list in degree, both score very high in betweenness, they act as bridges between analgesic, surgical, and cardiovascular clusters.</a:t>
            </a:r>
            <a:endParaRPr lang="en-US" sz="1000" dirty="0"/>
          </a:p>
        </p:txBody>
      </p:sp>
      <p:sp>
        <p:nvSpPr>
          <p:cNvPr id="34" name="Shape 3">
            <a:extLst>
              <a:ext uri="{FF2B5EF4-FFF2-40B4-BE49-F238E27FC236}">
                <a16:creationId xmlns:a16="http://schemas.microsoft.com/office/drawing/2014/main" id="{6FE9CE99-A1BC-CF73-10A7-6F6E5F8DEC7B}"/>
              </a:ext>
            </a:extLst>
          </p:cNvPr>
          <p:cNvSpPr/>
          <p:nvPr/>
        </p:nvSpPr>
        <p:spPr>
          <a:xfrm>
            <a:off x="6386944" y="3459766"/>
            <a:ext cx="2741818" cy="1404114"/>
          </a:xfrm>
          <a:prstGeom prst="rect">
            <a:avLst/>
          </a:prstGeom>
          <a:solidFill>
            <a:srgbClr val="FFF1F1"/>
          </a:solidFill>
          <a:ln w="12700">
            <a:solidFill>
              <a:srgbClr val="E05252"/>
            </a:solidFill>
            <a:prstDash val="solid"/>
          </a:ln>
          <a:effectLst>
            <a:outerShdw blurRad="101600" dist="38100" dir="8100000" algn="bl" rotWithShape="0">
              <a:srgbClr val="000000">
                <a:alpha val="10000"/>
              </a:srgbClr>
            </a:outerShdw>
          </a:effectLst>
        </p:spPr>
      </p:sp>
      <p:sp>
        <p:nvSpPr>
          <p:cNvPr id="35" name="Text 5">
            <a:extLst>
              <a:ext uri="{FF2B5EF4-FFF2-40B4-BE49-F238E27FC236}">
                <a16:creationId xmlns:a16="http://schemas.microsoft.com/office/drawing/2014/main" id="{069A83BE-9048-D270-E28A-75D91D324924}"/>
              </a:ext>
            </a:extLst>
          </p:cNvPr>
          <p:cNvSpPr/>
          <p:nvPr/>
        </p:nvSpPr>
        <p:spPr>
          <a:xfrm>
            <a:off x="6345381" y="3426802"/>
            <a:ext cx="1824641" cy="320040"/>
          </a:xfrm>
          <a:prstGeom prst="rect">
            <a:avLst/>
          </a:prstGeom>
          <a:noFill/>
          <a:ln/>
        </p:spPr>
        <p:txBody>
          <a:bodyPr wrap="square" rtlCol="0" anchor="ctr"/>
          <a:lstStyle/>
          <a:p>
            <a:pPr marL="0" indent="0">
              <a:buNone/>
            </a:pPr>
            <a:r>
              <a:rPr lang="en-US" sz="1100" b="1" dirty="0">
                <a:solidFill>
                  <a:srgbClr val="E05252"/>
                </a:solidFill>
                <a:latin typeface="Calibri" pitchFamily="34" charset="0"/>
                <a:ea typeface="Calibri" pitchFamily="34" charset="-122"/>
                <a:cs typeface="Calibri" pitchFamily="34" charset="-120"/>
              </a:rPr>
              <a:t>Dexamethasone (Only Drug)</a:t>
            </a:r>
            <a:endParaRPr lang="en-US" sz="1100" dirty="0"/>
          </a:p>
        </p:txBody>
      </p:sp>
      <p:sp>
        <p:nvSpPr>
          <p:cNvPr id="36" name="Text 6">
            <a:extLst>
              <a:ext uri="{FF2B5EF4-FFF2-40B4-BE49-F238E27FC236}">
                <a16:creationId xmlns:a16="http://schemas.microsoft.com/office/drawing/2014/main" id="{BF0FB19C-C9D2-CA6B-3036-07860F48C4BF}"/>
              </a:ext>
            </a:extLst>
          </p:cNvPr>
          <p:cNvSpPr/>
          <p:nvPr/>
        </p:nvSpPr>
        <p:spPr>
          <a:xfrm>
            <a:off x="6345381" y="3652990"/>
            <a:ext cx="2741818" cy="1196349"/>
          </a:xfrm>
          <a:prstGeom prst="rect">
            <a:avLst/>
          </a:prstGeom>
          <a:noFill/>
          <a:ln/>
        </p:spPr>
        <p:txBody>
          <a:bodyPr wrap="square" rtlCol="0" anchor="ctr"/>
          <a:lstStyle/>
          <a:p>
            <a:pPr marL="0" indent="0">
              <a:lnSpc>
                <a:spcPct val="130000"/>
              </a:lnSpc>
              <a:buNone/>
            </a:pPr>
            <a:r>
              <a:rPr lang="en-US" sz="1000" dirty="0">
                <a:solidFill>
                  <a:srgbClr val="64748B"/>
                </a:solidFill>
                <a:latin typeface="Calibri" pitchFamily="34" charset="0"/>
                <a:ea typeface="Calibri" pitchFamily="34" charset="-122"/>
                <a:cs typeface="Calibri" pitchFamily="34" charset="-120"/>
              </a:rPr>
              <a:t>The sole pharmaceutical agent in the betweenness top 25. Used in oncology premedication, COVID19 (RECOVERY trial), surgical anaesthesia, sepsis, and </a:t>
            </a:r>
            <a:r>
              <a:rPr lang="en-US" sz="1000" dirty="0" err="1">
                <a:solidFill>
                  <a:srgbClr val="64748B"/>
                </a:solidFill>
                <a:latin typeface="Calibri" pitchFamily="34" charset="0"/>
                <a:ea typeface="Calibri" pitchFamily="34" charset="-122"/>
                <a:cs typeface="Calibri" pitchFamily="34" charset="-120"/>
              </a:rPr>
              <a:t>haematology</a:t>
            </a:r>
            <a:r>
              <a:rPr lang="en-US" sz="1000" dirty="0">
                <a:solidFill>
                  <a:srgbClr val="64748B"/>
                </a:solidFill>
                <a:latin typeface="Calibri" pitchFamily="34" charset="0"/>
                <a:ea typeface="Calibri" pitchFamily="34" charset="-122"/>
                <a:cs typeface="Calibri" pitchFamily="34" charset="-120"/>
              </a:rPr>
              <a:t>, spanning ALL major disease communities simultaneously.</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CCCFA2-45B7-511A-3235-42A6C7C9A6DB}"/>
              </a:ext>
            </a:extLst>
          </p:cNvPr>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2BB924B-62B5-B4F1-AC10-626FFD046151}"/>
              </a:ext>
            </a:extLst>
          </p:cNvPr>
          <p:cNvSpPr txBox="1"/>
          <p:nvPr/>
        </p:nvSpPr>
        <p:spPr>
          <a:xfrm>
            <a:off x="320040" y="54864"/>
            <a:ext cx="8229600" cy="261610"/>
          </a:xfrm>
          <a:prstGeom prst="rect">
            <a:avLst/>
          </a:prstGeom>
          <a:noFill/>
        </p:spPr>
        <p:txBody>
          <a:bodyPr wrap="square">
            <a:spAutoFit/>
          </a:bodyPr>
          <a:lstStyle/>
          <a:p>
            <a:pPr algn="l"/>
            <a:r>
              <a:rPr sz="1100" b="1" i="0" dirty="0">
                <a:solidFill>
                  <a:srgbClr val="845EC2"/>
                </a:solidFill>
                <a:latin typeface="Calibri"/>
              </a:rPr>
              <a:t>04  /  NETWORK &amp; GRAPH ANALYTICS</a:t>
            </a:r>
            <a:r>
              <a:rPr lang="en-IN" sz="1100" b="1" i="0" dirty="0">
                <a:solidFill>
                  <a:srgbClr val="845EC2"/>
                </a:solidFill>
                <a:latin typeface="Calibri"/>
              </a:rPr>
              <a:t> – Community detection</a:t>
            </a:r>
            <a:endParaRPr sz="1100" b="1" i="0" dirty="0">
              <a:solidFill>
                <a:srgbClr val="845EC2"/>
              </a:solidFill>
              <a:latin typeface="Calibri"/>
            </a:endParaRPr>
          </a:p>
        </p:txBody>
      </p:sp>
      <p:sp>
        <p:nvSpPr>
          <p:cNvPr id="21" name="Text 19">
            <a:extLst>
              <a:ext uri="{FF2B5EF4-FFF2-40B4-BE49-F238E27FC236}">
                <a16:creationId xmlns:a16="http://schemas.microsoft.com/office/drawing/2014/main" id="{0A767577-31D6-D174-8017-CAB2F30FDC03}"/>
              </a:ext>
            </a:extLst>
          </p:cNvPr>
          <p:cNvSpPr/>
          <p:nvPr/>
        </p:nvSpPr>
        <p:spPr>
          <a:xfrm>
            <a:off x="56806" y="1383376"/>
            <a:ext cx="7105994" cy="292608"/>
          </a:xfrm>
          <a:prstGeom prst="rect">
            <a:avLst/>
          </a:prstGeom>
          <a:noFill/>
          <a:ln/>
        </p:spPr>
        <p:txBody>
          <a:bodyPr wrap="square"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The extreme skew (59% singletons) is expected in large bipartite trial graphs as rare drug condition pairs from small trials form isolated nodes, while the core knowledge concentrates in ~28 bigger communities representing major therapeutic areas.</a:t>
            </a:r>
            <a:endParaRPr lang="en-US" sz="950" dirty="0"/>
          </a:p>
        </p:txBody>
      </p:sp>
      <p:grpSp>
        <p:nvGrpSpPr>
          <p:cNvPr id="40" name="Group 39">
            <a:extLst>
              <a:ext uri="{FF2B5EF4-FFF2-40B4-BE49-F238E27FC236}">
                <a16:creationId xmlns:a16="http://schemas.microsoft.com/office/drawing/2014/main" id="{D880155D-BEF1-E61E-2D73-748B345C74D4}"/>
              </a:ext>
            </a:extLst>
          </p:cNvPr>
          <p:cNvGrpSpPr/>
          <p:nvPr/>
        </p:nvGrpSpPr>
        <p:grpSpPr>
          <a:xfrm>
            <a:off x="56806" y="446948"/>
            <a:ext cx="2326176" cy="777240"/>
            <a:chOff x="56806" y="446948"/>
            <a:chExt cx="2326176" cy="777240"/>
          </a:xfrm>
        </p:grpSpPr>
        <p:sp>
          <p:nvSpPr>
            <p:cNvPr id="37" name="Shape 3">
              <a:extLst>
                <a:ext uri="{FF2B5EF4-FFF2-40B4-BE49-F238E27FC236}">
                  <a16:creationId xmlns:a16="http://schemas.microsoft.com/office/drawing/2014/main" id="{D3AD5302-6422-D5A5-DF33-F05226337D9A}"/>
                </a:ext>
              </a:extLst>
            </p:cNvPr>
            <p:cNvSpPr/>
            <p:nvPr/>
          </p:nvSpPr>
          <p:spPr>
            <a:xfrm>
              <a:off x="56806" y="446948"/>
              <a:ext cx="2326176" cy="7772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2" name="Text 4">
              <a:extLst>
                <a:ext uri="{FF2B5EF4-FFF2-40B4-BE49-F238E27FC236}">
                  <a16:creationId xmlns:a16="http://schemas.microsoft.com/office/drawing/2014/main" id="{B17DEA52-F3D7-98F6-1F5F-F6167371285B}"/>
                </a:ext>
              </a:extLst>
            </p:cNvPr>
            <p:cNvSpPr/>
            <p:nvPr/>
          </p:nvSpPr>
          <p:spPr>
            <a:xfrm>
              <a:off x="63733" y="490451"/>
              <a:ext cx="1003066" cy="685800"/>
            </a:xfrm>
            <a:prstGeom prst="rect">
              <a:avLst/>
            </a:prstGeom>
            <a:noFill/>
            <a:ln/>
          </p:spPr>
          <p:txBody>
            <a:bodyPr wrap="square"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15,585</a:t>
              </a:r>
              <a:endParaRPr lang="en-US" sz="2200" dirty="0"/>
            </a:p>
          </p:txBody>
        </p:sp>
        <p:sp>
          <p:nvSpPr>
            <p:cNvPr id="23" name="Shape 5">
              <a:extLst>
                <a:ext uri="{FF2B5EF4-FFF2-40B4-BE49-F238E27FC236}">
                  <a16:creationId xmlns:a16="http://schemas.microsoft.com/office/drawing/2014/main" id="{6108FBC0-7449-A5D2-30DE-6DE523BA46FB}"/>
                </a:ext>
              </a:extLst>
            </p:cNvPr>
            <p:cNvSpPr/>
            <p:nvPr/>
          </p:nvSpPr>
          <p:spPr>
            <a:xfrm>
              <a:off x="1043253" y="597962"/>
              <a:ext cx="0" cy="502920"/>
            </a:xfrm>
            <a:prstGeom prst="line">
              <a:avLst/>
            </a:prstGeom>
            <a:noFill/>
            <a:ln w="12700">
              <a:solidFill>
                <a:srgbClr val="E2E8F0"/>
              </a:solidFill>
              <a:prstDash val="solid"/>
            </a:ln>
          </p:spPr>
        </p:sp>
        <p:sp>
          <p:nvSpPr>
            <p:cNvPr id="24" name="Text 6">
              <a:extLst>
                <a:ext uri="{FF2B5EF4-FFF2-40B4-BE49-F238E27FC236}">
                  <a16:creationId xmlns:a16="http://schemas.microsoft.com/office/drawing/2014/main" id="{DB56ABE5-FB36-0449-46D7-1D5B5ABCCC61}"/>
                </a:ext>
              </a:extLst>
            </p:cNvPr>
            <p:cNvSpPr/>
            <p:nvPr/>
          </p:nvSpPr>
          <p:spPr>
            <a:xfrm>
              <a:off x="1073726" y="581891"/>
              <a:ext cx="1309256" cy="5029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Total Communities</a:t>
              </a:r>
              <a:endParaRPr lang="en-US" sz="1100" dirty="0"/>
            </a:p>
          </p:txBody>
        </p:sp>
      </p:grpSp>
      <p:grpSp>
        <p:nvGrpSpPr>
          <p:cNvPr id="39" name="Group 38">
            <a:extLst>
              <a:ext uri="{FF2B5EF4-FFF2-40B4-BE49-F238E27FC236}">
                <a16:creationId xmlns:a16="http://schemas.microsoft.com/office/drawing/2014/main" id="{B14C45BB-A1DD-C0C0-B2E5-8E36FFD94FDE}"/>
              </a:ext>
            </a:extLst>
          </p:cNvPr>
          <p:cNvGrpSpPr/>
          <p:nvPr/>
        </p:nvGrpSpPr>
        <p:grpSpPr>
          <a:xfrm>
            <a:off x="2518756" y="452490"/>
            <a:ext cx="1916084" cy="777240"/>
            <a:chOff x="2495204" y="446948"/>
            <a:chExt cx="1916084" cy="777240"/>
          </a:xfrm>
        </p:grpSpPr>
        <p:sp>
          <p:nvSpPr>
            <p:cNvPr id="25" name="Shape 7">
              <a:extLst>
                <a:ext uri="{FF2B5EF4-FFF2-40B4-BE49-F238E27FC236}">
                  <a16:creationId xmlns:a16="http://schemas.microsoft.com/office/drawing/2014/main" id="{0D2C852D-37C7-590F-6447-1276D69FC362}"/>
                </a:ext>
              </a:extLst>
            </p:cNvPr>
            <p:cNvSpPr/>
            <p:nvPr/>
          </p:nvSpPr>
          <p:spPr>
            <a:xfrm>
              <a:off x="2495204" y="446948"/>
              <a:ext cx="1916084" cy="7772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6" name="Text 8">
              <a:extLst>
                <a:ext uri="{FF2B5EF4-FFF2-40B4-BE49-F238E27FC236}">
                  <a16:creationId xmlns:a16="http://schemas.microsoft.com/office/drawing/2014/main" id="{9B051F56-E865-BEAC-C262-3C76764D69A3}"/>
                </a:ext>
              </a:extLst>
            </p:cNvPr>
            <p:cNvSpPr/>
            <p:nvPr/>
          </p:nvSpPr>
          <p:spPr>
            <a:xfrm>
              <a:off x="2495204" y="483524"/>
              <a:ext cx="901931" cy="685800"/>
            </a:xfrm>
            <a:prstGeom prst="rect">
              <a:avLst/>
            </a:prstGeom>
            <a:noFill/>
            <a:ln/>
          </p:spPr>
          <p:txBody>
            <a:bodyPr wrap="square"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59.3%</a:t>
              </a:r>
              <a:endParaRPr lang="en-US" sz="2200" dirty="0"/>
            </a:p>
          </p:txBody>
        </p:sp>
        <p:sp>
          <p:nvSpPr>
            <p:cNvPr id="27" name="Shape 9">
              <a:extLst>
                <a:ext uri="{FF2B5EF4-FFF2-40B4-BE49-F238E27FC236}">
                  <a16:creationId xmlns:a16="http://schemas.microsoft.com/office/drawing/2014/main" id="{425A4E0E-6665-95DE-3164-4A4968580550}"/>
                </a:ext>
              </a:extLst>
            </p:cNvPr>
            <p:cNvSpPr/>
            <p:nvPr/>
          </p:nvSpPr>
          <p:spPr>
            <a:xfrm>
              <a:off x="3417917" y="554459"/>
              <a:ext cx="0" cy="502920"/>
            </a:xfrm>
            <a:prstGeom prst="line">
              <a:avLst/>
            </a:prstGeom>
            <a:noFill/>
            <a:ln w="12700">
              <a:solidFill>
                <a:srgbClr val="E2E8F0"/>
              </a:solidFill>
              <a:prstDash val="solid"/>
            </a:ln>
          </p:spPr>
        </p:sp>
        <p:sp>
          <p:nvSpPr>
            <p:cNvPr id="28" name="Text 10">
              <a:extLst>
                <a:ext uri="{FF2B5EF4-FFF2-40B4-BE49-F238E27FC236}">
                  <a16:creationId xmlns:a16="http://schemas.microsoft.com/office/drawing/2014/main" id="{1F2D5B1E-7875-B18E-AB4F-194B24A644C6}"/>
                </a:ext>
              </a:extLst>
            </p:cNvPr>
            <p:cNvSpPr/>
            <p:nvPr/>
          </p:nvSpPr>
          <p:spPr>
            <a:xfrm>
              <a:off x="3509357" y="581891"/>
              <a:ext cx="901931" cy="5029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Singleton or</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Pair Clusters</a:t>
              </a:r>
              <a:endParaRPr lang="en-US" sz="1100" dirty="0"/>
            </a:p>
          </p:txBody>
        </p:sp>
      </p:grpSp>
      <p:grpSp>
        <p:nvGrpSpPr>
          <p:cNvPr id="38" name="Group 37">
            <a:extLst>
              <a:ext uri="{FF2B5EF4-FFF2-40B4-BE49-F238E27FC236}">
                <a16:creationId xmlns:a16="http://schemas.microsoft.com/office/drawing/2014/main" id="{9E59D101-3803-B0FC-2627-F857E0DE1089}"/>
              </a:ext>
            </a:extLst>
          </p:cNvPr>
          <p:cNvGrpSpPr/>
          <p:nvPr/>
        </p:nvGrpSpPr>
        <p:grpSpPr>
          <a:xfrm>
            <a:off x="4570614" y="452490"/>
            <a:ext cx="1711033" cy="777240"/>
            <a:chOff x="4502727" y="446948"/>
            <a:chExt cx="1711033" cy="777240"/>
          </a:xfrm>
        </p:grpSpPr>
        <p:sp>
          <p:nvSpPr>
            <p:cNvPr id="33" name="Shape 15">
              <a:extLst>
                <a:ext uri="{FF2B5EF4-FFF2-40B4-BE49-F238E27FC236}">
                  <a16:creationId xmlns:a16="http://schemas.microsoft.com/office/drawing/2014/main" id="{DC521E29-1331-73BE-B244-D8C1A044029C}"/>
                </a:ext>
              </a:extLst>
            </p:cNvPr>
            <p:cNvSpPr/>
            <p:nvPr/>
          </p:nvSpPr>
          <p:spPr>
            <a:xfrm>
              <a:off x="4502727" y="446948"/>
              <a:ext cx="1711033" cy="7772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34" name="Text 16">
              <a:extLst>
                <a:ext uri="{FF2B5EF4-FFF2-40B4-BE49-F238E27FC236}">
                  <a16:creationId xmlns:a16="http://schemas.microsoft.com/office/drawing/2014/main" id="{C670FD78-029F-612D-C876-FBE7BC889527}"/>
                </a:ext>
              </a:extLst>
            </p:cNvPr>
            <p:cNvSpPr/>
            <p:nvPr/>
          </p:nvSpPr>
          <p:spPr>
            <a:xfrm>
              <a:off x="4502727" y="502920"/>
              <a:ext cx="581888" cy="685800"/>
            </a:xfrm>
            <a:prstGeom prst="rect">
              <a:avLst/>
            </a:prstGeom>
            <a:noFill/>
            <a:ln/>
          </p:spPr>
          <p:txBody>
            <a:bodyPr wrap="square"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28</a:t>
              </a:r>
              <a:endParaRPr lang="en-US" sz="2200" dirty="0"/>
            </a:p>
          </p:txBody>
        </p:sp>
        <p:sp>
          <p:nvSpPr>
            <p:cNvPr id="35" name="Shape 17">
              <a:extLst>
                <a:ext uri="{FF2B5EF4-FFF2-40B4-BE49-F238E27FC236}">
                  <a16:creationId xmlns:a16="http://schemas.microsoft.com/office/drawing/2014/main" id="{DCFF6287-BBCD-D6C7-35DA-A39595011817}"/>
                </a:ext>
              </a:extLst>
            </p:cNvPr>
            <p:cNvSpPr/>
            <p:nvPr/>
          </p:nvSpPr>
          <p:spPr>
            <a:xfrm>
              <a:off x="5084614" y="603504"/>
              <a:ext cx="0" cy="502920"/>
            </a:xfrm>
            <a:prstGeom prst="line">
              <a:avLst/>
            </a:prstGeom>
            <a:noFill/>
            <a:ln w="12700">
              <a:solidFill>
                <a:srgbClr val="E2E8F0"/>
              </a:solidFill>
              <a:prstDash val="solid"/>
            </a:ln>
          </p:spPr>
        </p:sp>
        <p:sp>
          <p:nvSpPr>
            <p:cNvPr id="36" name="Text 18">
              <a:extLst>
                <a:ext uri="{FF2B5EF4-FFF2-40B4-BE49-F238E27FC236}">
                  <a16:creationId xmlns:a16="http://schemas.microsoft.com/office/drawing/2014/main" id="{B1E998A6-690B-55CE-2A62-FF1E7DD65EA1}"/>
                </a:ext>
              </a:extLst>
            </p:cNvPr>
            <p:cNvSpPr/>
            <p:nvPr/>
          </p:nvSpPr>
          <p:spPr>
            <a:xfrm>
              <a:off x="5176054" y="630936"/>
              <a:ext cx="1037706" cy="5029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Mega clusters</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(&gt;1,000 nodes)</a:t>
              </a:r>
              <a:endParaRPr lang="en-US" sz="1100" dirty="0"/>
            </a:p>
          </p:txBody>
        </p:sp>
      </p:grpSp>
      <p:sp>
        <p:nvSpPr>
          <p:cNvPr id="41" name="Shape 3">
            <a:extLst>
              <a:ext uri="{FF2B5EF4-FFF2-40B4-BE49-F238E27FC236}">
                <a16:creationId xmlns:a16="http://schemas.microsoft.com/office/drawing/2014/main" id="{5533CBC9-8834-D09F-B275-A8AA385782ED}"/>
              </a:ext>
            </a:extLst>
          </p:cNvPr>
          <p:cNvSpPr/>
          <p:nvPr/>
        </p:nvSpPr>
        <p:spPr>
          <a:xfrm>
            <a:off x="152051" y="1829771"/>
            <a:ext cx="4160520" cy="11704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42" name="Shape 4">
            <a:extLst>
              <a:ext uri="{FF2B5EF4-FFF2-40B4-BE49-F238E27FC236}">
                <a16:creationId xmlns:a16="http://schemas.microsoft.com/office/drawing/2014/main" id="{59E537AB-F0AB-88C2-8507-299524A7FCD7}"/>
              </a:ext>
            </a:extLst>
          </p:cNvPr>
          <p:cNvSpPr/>
          <p:nvPr/>
        </p:nvSpPr>
        <p:spPr>
          <a:xfrm>
            <a:off x="152051" y="1829771"/>
            <a:ext cx="4160520" cy="73152"/>
          </a:xfrm>
          <a:prstGeom prst="rect">
            <a:avLst/>
          </a:prstGeom>
          <a:solidFill>
            <a:srgbClr val="5B4FCF"/>
          </a:solidFill>
          <a:ln/>
        </p:spPr>
      </p:sp>
      <p:sp>
        <p:nvSpPr>
          <p:cNvPr id="43" name="Shape 5">
            <a:extLst>
              <a:ext uri="{FF2B5EF4-FFF2-40B4-BE49-F238E27FC236}">
                <a16:creationId xmlns:a16="http://schemas.microsoft.com/office/drawing/2014/main" id="{234927FC-AEC1-7526-1E52-0DDCD2B1FDE4}"/>
              </a:ext>
            </a:extLst>
          </p:cNvPr>
          <p:cNvSpPr/>
          <p:nvPr/>
        </p:nvSpPr>
        <p:spPr>
          <a:xfrm>
            <a:off x="152051" y="1902923"/>
            <a:ext cx="594360" cy="1097280"/>
          </a:xfrm>
          <a:prstGeom prst="rect">
            <a:avLst/>
          </a:prstGeom>
          <a:solidFill>
            <a:srgbClr val="5B4FCF">
              <a:alpha val="12000"/>
            </a:srgbClr>
          </a:solidFill>
          <a:ln/>
        </p:spPr>
      </p:sp>
      <p:sp>
        <p:nvSpPr>
          <p:cNvPr id="44" name="Text 6">
            <a:extLst>
              <a:ext uri="{FF2B5EF4-FFF2-40B4-BE49-F238E27FC236}">
                <a16:creationId xmlns:a16="http://schemas.microsoft.com/office/drawing/2014/main" id="{EA5D6A34-6E12-C5FE-6F02-F104F52AA3BE}"/>
              </a:ext>
            </a:extLst>
          </p:cNvPr>
          <p:cNvSpPr/>
          <p:nvPr/>
        </p:nvSpPr>
        <p:spPr>
          <a:xfrm>
            <a:off x="110489" y="1916637"/>
            <a:ext cx="696191" cy="411480"/>
          </a:xfrm>
          <a:prstGeom prst="rect">
            <a:avLst/>
          </a:prstGeom>
          <a:noFill/>
          <a:ln/>
        </p:spPr>
        <p:txBody>
          <a:bodyPr wrap="square" rtlCol="0" anchor="ctr"/>
          <a:lstStyle/>
          <a:p>
            <a:pPr marL="0" indent="0" algn="ctr">
              <a:buNone/>
            </a:pPr>
            <a:r>
              <a:rPr lang="en-US" sz="800" b="1" dirty="0">
                <a:solidFill>
                  <a:srgbClr val="5B4FCF"/>
                </a:solidFill>
                <a:latin typeface="Calibri" pitchFamily="34" charset="0"/>
                <a:ea typeface="Calibri" pitchFamily="34" charset="-122"/>
                <a:cs typeface="Calibri" pitchFamily="34" charset="-120"/>
              </a:rPr>
              <a:t>Community </a:t>
            </a:r>
          </a:p>
          <a:p>
            <a:pPr marL="0" indent="0" algn="ctr">
              <a:buNone/>
            </a:pPr>
            <a:r>
              <a:rPr lang="en-US" sz="800" b="1" dirty="0">
                <a:solidFill>
                  <a:srgbClr val="5B4FCF"/>
                </a:solidFill>
                <a:latin typeface="Calibri" pitchFamily="34" charset="0"/>
                <a:ea typeface="Calibri" pitchFamily="34" charset="-122"/>
                <a:cs typeface="Calibri" pitchFamily="34" charset="-120"/>
              </a:rPr>
              <a:t>#9</a:t>
            </a:r>
            <a:endParaRPr lang="en-US" sz="800" dirty="0"/>
          </a:p>
        </p:txBody>
      </p:sp>
      <p:sp>
        <p:nvSpPr>
          <p:cNvPr id="47" name="Text 9">
            <a:extLst>
              <a:ext uri="{FF2B5EF4-FFF2-40B4-BE49-F238E27FC236}">
                <a16:creationId xmlns:a16="http://schemas.microsoft.com/office/drawing/2014/main" id="{9820D0CB-CA61-345C-07F7-48DA70C144A6}"/>
              </a:ext>
            </a:extLst>
          </p:cNvPr>
          <p:cNvSpPr/>
          <p:nvPr/>
        </p:nvSpPr>
        <p:spPr>
          <a:xfrm>
            <a:off x="792131" y="1921211"/>
            <a:ext cx="3429000" cy="256032"/>
          </a:xfrm>
          <a:prstGeom prst="rect">
            <a:avLst/>
          </a:prstGeom>
          <a:noFill/>
          <a:ln/>
        </p:spPr>
        <p:txBody>
          <a:bodyPr wrap="square" rtlCol="0" anchor="ctr"/>
          <a:lstStyle/>
          <a:p>
            <a:pPr marL="0" indent="0">
              <a:buNone/>
            </a:pPr>
            <a:r>
              <a:rPr lang="en-US" sz="1050" b="1" dirty="0">
                <a:solidFill>
                  <a:srgbClr val="0F1F3D"/>
                </a:solidFill>
                <a:latin typeface="Calibri" pitchFamily="34" charset="0"/>
                <a:ea typeface="Calibri" pitchFamily="34" charset="-122"/>
                <a:cs typeface="Calibri" pitchFamily="34" charset="-120"/>
              </a:rPr>
              <a:t>Metabolic &amp; Behavioral Health</a:t>
            </a:r>
            <a:endParaRPr lang="en-US" sz="1050" dirty="0"/>
          </a:p>
        </p:txBody>
      </p:sp>
      <p:sp>
        <p:nvSpPr>
          <p:cNvPr id="48" name="Text 10">
            <a:extLst>
              <a:ext uri="{FF2B5EF4-FFF2-40B4-BE49-F238E27FC236}">
                <a16:creationId xmlns:a16="http://schemas.microsoft.com/office/drawing/2014/main" id="{3F5B6EC6-1BE0-6031-3AD1-4DA7592789AB}"/>
              </a:ext>
            </a:extLst>
          </p:cNvPr>
          <p:cNvSpPr/>
          <p:nvPr/>
        </p:nvSpPr>
        <p:spPr>
          <a:xfrm>
            <a:off x="792131" y="2177243"/>
            <a:ext cx="3429000" cy="548640"/>
          </a:xfrm>
          <a:prstGeom prst="rect">
            <a:avLst/>
          </a:prstGeom>
          <a:noFill/>
          <a:ln/>
        </p:spPr>
        <p:txBody>
          <a:bodyPr wrap="square" rtlCol="0" anchor="ctr"/>
          <a:lstStyle/>
          <a:p>
            <a:pPr marL="0" indent="0">
              <a:lnSpc>
                <a:spcPct val="125000"/>
              </a:lnSpc>
              <a:buNone/>
            </a:pPr>
            <a:r>
              <a:rPr lang="en-US" sz="850" dirty="0">
                <a:solidFill>
                  <a:srgbClr val="64748B"/>
                </a:solidFill>
                <a:latin typeface="Calibri" pitchFamily="34" charset="0"/>
                <a:ea typeface="Calibri" pitchFamily="34" charset="-122"/>
                <a:cs typeface="Calibri" pitchFamily="34" charset="-120"/>
              </a:rPr>
              <a:t>Largest cluster. Centers on Type 2 Diabetes + Depression + Obesity co-comorbidity. Dominated by behavioral interventions (CBT, motivational interviewing, mindfulness), antidepressants (Escitalopram), and lifestyle programs.</a:t>
            </a:r>
            <a:endParaRPr lang="en-US" sz="850" dirty="0"/>
          </a:p>
        </p:txBody>
      </p:sp>
      <p:sp>
        <p:nvSpPr>
          <p:cNvPr id="49" name="Text 11">
            <a:extLst>
              <a:ext uri="{FF2B5EF4-FFF2-40B4-BE49-F238E27FC236}">
                <a16:creationId xmlns:a16="http://schemas.microsoft.com/office/drawing/2014/main" id="{7107AD42-A316-281E-3D48-B84792A14902}"/>
              </a:ext>
            </a:extLst>
          </p:cNvPr>
          <p:cNvSpPr/>
          <p:nvPr/>
        </p:nvSpPr>
        <p:spPr>
          <a:xfrm>
            <a:off x="792131" y="2744171"/>
            <a:ext cx="3429000" cy="182880"/>
          </a:xfrm>
          <a:prstGeom prst="rect">
            <a:avLst/>
          </a:prstGeom>
          <a:noFill/>
          <a:ln/>
        </p:spPr>
        <p:txBody>
          <a:bodyPr wrap="square" rtlCol="0" anchor="ctr"/>
          <a:lstStyle/>
          <a:p>
            <a:pPr marL="0" indent="0">
              <a:buNone/>
            </a:pPr>
            <a:r>
              <a:rPr lang="en-US" sz="800" i="1" dirty="0">
                <a:solidFill>
                  <a:srgbClr val="5B4FCF"/>
                </a:solidFill>
                <a:latin typeface="Calibri" pitchFamily="34" charset="0"/>
                <a:ea typeface="Calibri" pitchFamily="34" charset="-122"/>
                <a:cs typeface="Calibri" pitchFamily="34" charset="-120"/>
              </a:rPr>
              <a:t>T2D · Depression · CBT · Gastric Bypass · Sleep</a:t>
            </a:r>
            <a:endParaRPr lang="en-US" sz="800" dirty="0"/>
          </a:p>
        </p:txBody>
      </p:sp>
      <p:sp>
        <p:nvSpPr>
          <p:cNvPr id="50" name="Shape 12">
            <a:extLst>
              <a:ext uri="{FF2B5EF4-FFF2-40B4-BE49-F238E27FC236}">
                <a16:creationId xmlns:a16="http://schemas.microsoft.com/office/drawing/2014/main" id="{D0E0028C-F247-D6DA-7127-F8E224991E69}"/>
              </a:ext>
            </a:extLst>
          </p:cNvPr>
          <p:cNvSpPr/>
          <p:nvPr/>
        </p:nvSpPr>
        <p:spPr>
          <a:xfrm>
            <a:off x="152051" y="3385635"/>
            <a:ext cx="4160520" cy="11704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51" name="Shape 13">
            <a:extLst>
              <a:ext uri="{FF2B5EF4-FFF2-40B4-BE49-F238E27FC236}">
                <a16:creationId xmlns:a16="http://schemas.microsoft.com/office/drawing/2014/main" id="{E5D40612-F296-EC1A-5C8F-6852D959BDD7}"/>
              </a:ext>
            </a:extLst>
          </p:cNvPr>
          <p:cNvSpPr/>
          <p:nvPr/>
        </p:nvSpPr>
        <p:spPr>
          <a:xfrm>
            <a:off x="152051" y="3385635"/>
            <a:ext cx="4160520" cy="73152"/>
          </a:xfrm>
          <a:prstGeom prst="rect">
            <a:avLst/>
          </a:prstGeom>
          <a:solidFill>
            <a:srgbClr val="0D9488"/>
          </a:solidFill>
          <a:ln/>
        </p:spPr>
      </p:sp>
      <p:sp>
        <p:nvSpPr>
          <p:cNvPr id="52" name="Shape 14">
            <a:extLst>
              <a:ext uri="{FF2B5EF4-FFF2-40B4-BE49-F238E27FC236}">
                <a16:creationId xmlns:a16="http://schemas.microsoft.com/office/drawing/2014/main" id="{C08D9D82-11D0-BE98-B490-5C1FA62061D2}"/>
              </a:ext>
            </a:extLst>
          </p:cNvPr>
          <p:cNvSpPr/>
          <p:nvPr/>
        </p:nvSpPr>
        <p:spPr>
          <a:xfrm>
            <a:off x="152051" y="3458787"/>
            <a:ext cx="594360" cy="1097280"/>
          </a:xfrm>
          <a:prstGeom prst="rect">
            <a:avLst/>
          </a:prstGeom>
          <a:solidFill>
            <a:srgbClr val="0D9488">
              <a:alpha val="12000"/>
            </a:srgbClr>
          </a:solidFill>
          <a:ln/>
        </p:spPr>
      </p:sp>
      <p:sp>
        <p:nvSpPr>
          <p:cNvPr id="53" name="Text 15">
            <a:extLst>
              <a:ext uri="{FF2B5EF4-FFF2-40B4-BE49-F238E27FC236}">
                <a16:creationId xmlns:a16="http://schemas.microsoft.com/office/drawing/2014/main" id="{39D31A00-9B57-866C-1C2A-FA90D08500F2}"/>
              </a:ext>
            </a:extLst>
          </p:cNvPr>
          <p:cNvSpPr/>
          <p:nvPr/>
        </p:nvSpPr>
        <p:spPr>
          <a:xfrm>
            <a:off x="110489" y="3458787"/>
            <a:ext cx="689956" cy="411480"/>
          </a:xfrm>
          <a:prstGeom prst="rect">
            <a:avLst/>
          </a:prstGeom>
          <a:noFill/>
          <a:ln/>
        </p:spPr>
        <p:txBody>
          <a:bodyPr wrap="square" rtlCol="0" anchor="ctr"/>
          <a:lstStyle/>
          <a:p>
            <a:pPr algn="ctr"/>
            <a:r>
              <a:rPr lang="en-US" sz="800" b="1" dirty="0">
                <a:solidFill>
                  <a:srgbClr val="0D9488"/>
                </a:solidFill>
                <a:latin typeface="Calibri" pitchFamily="34" charset="0"/>
                <a:ea typeface="Calibri" pitchFamily="34" charset="-122"/>
                <a:cs typeface="Calibri" pitchFamily="34" charset="-120"/>
              </a:rPr>
              <a:t>Community</a:t>
            </a:r>
            <a:r>
              <a:rPr lang="en-US" sz="800" b="1" dirty="0">
                <a:solidFill>
                  <a:srgbClr val="5B4FCF"/>
                </a:solidFill>
                <a:latin typeface="Calibri" pitchFamily="34" charset="0"/>
                <a:ea typeface="Calibri" pitchFamily="34" charset="-122"/>
                <a:cs typeface="Calibri" pitchFamily="34" charset="-120"/>
              </a:rPr>
              <a:t> </a:t>
            </a:r>
          </a:p>
          <a:p>
            <a:pPr algn="ctr"/>
            <a:r>
              <a:rPr lang="en-US" sz="800" b="1" dirty="0">
                <a:solidFill>
                  <a:srgbClr val="0D9488"/>
                </a:solidFill>
                <a:latin typeface="Calibri" pitchFamily="34" charset="0"/>
                <a:ea typeface="Calibri" pitchFamily="34" charset="-122"/>
                <a:cs typeface="Calibri" pitchFamily="34" charset="-120"/>
              </a:rPr>
              <a:t>#6</a:t>
            </a:r>
            <a:endParaRPr lang="en-US" sz="800" dirty="0"/>
          </a:p>
        </p:txBody>
      </p:sp>
      <p:sp>
        <p:nvSpPr>
          <p:cNvPr id="56" name="Text 18">
            <a:extLst>
              <a:ext uri="{FF2B5EF4-FFF2-40B4-BE49-F238E27FC236}">
                <a16:creationId xmlns:a16="http://schemas.microsoft.com/office/drawing/2014/main" id="{D8E05B9E-0119-E689-2946-73A9D31FAE96}"/>
              </a:ext>
            </a:extLst>
          </p:cNvPr>
          <p:cNvSpPr/>
          <p:nvPr/>
        </p:nvSpPr>
        <p:spPr>
          <a:xfrm>
            <a:off x="792131" y="3477075"/>
            <a:ext cx="3429000" cy="256032"/>
          </a:xfrm>
          <a:prstGeom prst="rect">
            <a:avLst/>
          </a:prstGeom>
          <a:noFill/>
          <a:ln/>
        </p:spPr>
        <p:txBody>
          <a:bodyPr wrap="square" rtlCol="0" anchor="ctr"/>
          <a:lstStyle/>
          <a:p>
            <a:pPr marL="0" indent="0">
              <a:buNone/>
            </a:pPr>
            <a:r>
              <a:rPr lang="en-US" sz="1050" b="1" dirty="0">
                <a:solidFill>
                  <a:srgbClr val="0F1F3D"/>
                </a:solidFill>
                <a:latin typeface="Calibri" pitchFamily="34" charset="0"/>
                <a:ea typeface="Calibri" pitchFamily="34" charset="-122"/>
                <a:cs typeface="Calibri" pitchFamily="34" charset="-120"/>
              </a:rPr>
              <a:t>Oncology + Hepatic/Metabolic Overlap</a:t>
            </a:r>
            <a:endParaRPr lang="en-US" sz="1050" dirty="0"/>
          </a:p>
        </p:txBody>
      </p:sp>
      <p:sp>
        <p:nvSpPr>
          <p:cNvPr id="57" name="Text 19">
            <a:extLst>
              <a:ext uri="{FF2B5EF4-FFF2-40B4-BE49-F238E27FC236}">
                <a16:creationId xmlns:a16="http://schemas.microsoft.com/office/drawing/2014/main" id="{27B3B7B7-745C-225C-DD92-584CFEC9F6F3}"/>
              </a:ext>
            </a:extLst>
          </p:cNvPr>
          <p:cNvSpPr/>
          <p:nvPr/>
        </p:nvSpPr>
        <p:spPr>
          <a:xfrm>
            <a:off x="792131" y="3733107"/>
            <a:ext cx="3429000" cy="548640"/>
          </a:xfrm>
          <a:prstGeom prst="rect">
            <a:avLst/>
          </a:prstGeom>
          <a:noFill/>
          <a:ln/>
        </p:spPr>
        <p:txBody>
          <a:bodyPr wrap="square" rtlCol="0" anchor="ctr"/>
          <a:lstStyle/>
          <a:p>
            <a:pPr marL="0" indent="0">
              <a:lnSpc>
                <a:spcPct val="125000"/>
              </a:lnSpc>
              <a:buNone/>
            </a:pPr>
            <a:r>
              <a:rPr lang="en-US" sz="850" dirty="0">
                <a:solidFill>
                  <a:srgbClr val="64748B"/>
                </a:solidFill>
                <a:latin typeface="Calibri" pitchFamily="34" charset="0"/>
                <a:ea typeface="Calibri" pitchFamily="34" charset="-122"/>
                <a:cs typeface="Calibri" pitchFamily="34" charset="-120"/>
              </a:rPr>
              <a:t>HCC and colorectal cancer trials co-occurring with metabolic agents (Metformin, Glipizide) and PD-1 inhibitors (Nivolumab, Sintilimab). Reflects trials optimizing metabolic health during cancer treatment.</a:t>
            </a:r>
            <a:endParaRPr lang="en-US" sz="850" dirty="0"/>
          </a:p>
        </p:txBody>
      </p:sp>
      <p:sp>
        <p:nvSpPr>
          <p:cNvPr id="58" name="Text 20">
            <a:extLst>
              <a:ext uri="{FF2B5EF4-FFF2-40B4-BE49-F238E27FC236}">
                <a16:creationId xmlns:a16="http://schemas.microsoft.com/office/drawing/2014/main" id="{0EF064C9-8FC2-4A8B-24B6-4DDE41473B75}"/>
              </a:ext>
            </a:extLst>
          </p:cNvPr>
          <p:cNvSpPr/>
          <p:nvPr/>
        </p:nvSpPr>
        <p:spPr>
          <a:xfrm>
            <a:off x="792131" y="4300035"/>
            <a:ext cx="3429000" cy="182880"/>
          </a:xfrm>
          <a:prstGeom prst="rect">
            <a:avLst/>
          </a:prstGeom>
          <a:noFill/>
          <a:ln/>
        </p:spPr>
        <p:txBody>
          <a:bodyPr wrap="square" rtlCol="0" anchor="ctr"/>
          <a:lstStyle/>
          <a:p>
            <a:pPr marL="0" indent="0">
              <a:buNone/>
            </a:pPr>
            <a:r>
              <a:rPr lang="en-US" sz="800" i="1" dirty="0">
                <a:solidFill>
                  <a:srgbClr val="0D9488"/>
                </a:solidFill>
                <a:latin typeface="Calibri" pitchFamily="34" charset="0"/>
                <a:ea typeface="Calibri" pitchFamily="34" charset="-122"/>
                <a:cs typeface="Calibri" pitchFamily="34" charset="-120"/>
              </a:rPr>
              <a:t>Liver Cancer · Nivolumab · Metformin · PegIFN · Tamoxifen</a:t>
            </a:r>
            <a:endParaRPr lang="en-US" sz="800" dirty="0"/>
          </a:p>
        </p:txBody>
      </p:sp>
      <p:sp>
        <p:nvSpPr>
          <p:cNvPr id="59" name="Shape 30">
            <a:extLst>
              <a:ext uri="{FF2B5EF4-FFF2-40B4-BE49-F238E27FC236}">
                <a16:creationId xmlns:a16="http://schemas.microsoft.com/office/drawing/2014/main" id="{216DCF01-D753-1A9B-1A58-64B99B72085E}"/>
              </a:ext>
            </a:extLst>
          </p:cNvPr>
          <p:cNvSpPr/>
          <p:nvPr/>
        </p:nvSpPr>
        <p:spPr>
          <a:xfrm>
            <a:off x="4586891" y="1829771"/>
            <a:ext cx="4160520" cy="11704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60" name="Shape 31">
            <a:extLst>
              <a:ext uri="{FF2B5EF4-FFF2-40B4-BE49-F238E27FC236}">
                <a16:creationId xmlns:a16="http://schemas.microsoft.com/office/drawing/2014/main" id="{C7C77423-6B1E-088F-23AD-9A12389A2E0C}"/>
              </a:ext>
            </a:extLst>
          </p:cNvPr>
          <p:cNvSpPr/>
          <p:nvPr/>
        </p:nvSpPr>
        <p:spPr>
          <a:xfrm>
            <a:off x="4586891" y="1829771"/>
            <a:ext cx="4160520" cy="73152"/>
          </a:xfrm>
          <a:prstGeom prst="rect">
            <a:avLst/>
          </a:prstGeom>
          <a:solidFill>
            <a:srgbClr val="378ADD"/>
          </a:solidFill>
          <a:ln/>
        </p:spPr>
      </p:sp>
      <p:sp>
        <p:nvSpPr>
          <p:cNvPr id="61" name="Shape 32">
            <a:extLst>
              <a:ext uri="{FF2B5EF4-FFF2-40B4-BE49-F238E27FC236}">
                <a16:creationId xmlns:a16="http://schemas.microsoft.com/office/drawing/2014/main" id="{B208EAB8-F584-00BE-9797-5989D4A7C3A0}"/>
              </a:ext>
            </a:extLst>
          </p:cNvPr>
          <p:cNvSpPr/>
          <p:nvPr/>
        </p:nvSpPr>
        <p:spPr>
          <a:xfrm>
            <a:off x="4586891" y="1902923"/>
            <a:ext cx="594360" cy="1097280"/>
          </a:xfrm>
          <a:prstGeom prst="rect">
            <a:avLst/>
          </a:prstGeom>
          <a:solidFill>
            <a:srgbClr val="378ADD">
              <a:alpha val="12000"/>
            </a:srgbClr>
          </a:solidFill>
          <a:ln/>
        </p:spPr>
      </p:sp>
      <p:sp>
        <p:nvSpPr>
          <p:cNvPr id="62" name="Text 33">
            <a:extLst>
              <a:ext uri="{FF2B5EF4-FFF2-40B4-BE49-F238E27FC236}">
                <a16:creationId xmlns:a16="http://schemas.microsoft.com/office/drawing/2014/main" id="{3E42232E-B0AE-CFFA-3A65-671050C6F2A0}"/>
              </a:ext>
            </a:extLst>
          </p:cNvPr>
          <p:cNvSpPr/>
          <p:nvPr/>
        </p:nvSpPr>
        <p:spPr>
          <a:xfrm>
            <a:off x="4538401" y="1902923"/>
            <a:ext cx="688571" cy="411480"/>
          </a:xfrm>
          <a:prstGeom prst="rect">
            <a:avLst/>
          </a:prstGeom>
          <a:noFill/>
          <a:ln/>
        </p:spPr>
        <p:txBody>
          <a:bodyPr wrap="square" rtlCol="0" anchor="ctr"/>
          <a:lstStyle/>
          <a:p>
            <a:pPr algn="ctr"/>
            <a:r>
              <a:rPr lang="en-US" sz="800" b="1" dirty="0">
                <a:solidFill>
                  <a:srgbClr val="569CE2"/>
                </a:solidFill>
                <a:latin typeface="Calibri" pitchFamily="34" charset="0"/>
                <a:ea typeface="Calibri" pitchFamily="34" charset="-122"/>
                <a:cs typeface="Calibri" pitchFamily="34" charset="-120"/>
              </a:rPr>
              <a:t>Community</a:t>
            </a:r>
            <a:r>
              <a:rPr lang="en-US" sz="800" b="1" dirty="0">
                <a:solidFill>
                  <a:srgbClr val="5B4FCF"/>
                </a:solidFill>
                <a:latin typeface="Calibri" pitchFamily="34" charset="0"/>
                <a:ea typeface="Calibri" pitchFamily="34" charset="-122"/>
                <a:cs typeface="Calibri" pitchFamily="34" charset="-120"/>
              </a:rPr>
              <a:t> </a:t>
            </a:r>
            <a:r>
              <a:rPr lang="en-US" sz="800" b="1" dirty="0">
                <a:solidFill>
                  <a:srgbClr val="378ADD"/>
                </a:solidFill>
                <a:latin typeface="Calibri" pitchFamily="34" charset="0"/>
                <a:ea typeface="Calibri" pitchFamily="34" charset="-122"/>
                <a:cs typeface="Calibri" pitchFamily="34" charset="-120"/>
              </a:rPr>
              <a:t>#68</a:t>
            </a:r>
            <a:endParaRPr lang="en-US" sz="800" dirty="0"/>
          </a:p>
        </p:txBody>
      </p:sp>
      <p:sp>
        <p:nvSpPr>
          <p:cNvPr id="65" name="Text 36">
            <a:extLst>
              <a:ext uri="{FF2B5EF4-FFF2-40B4-BE49-F238E27FC236}">
                <a16:creationId xmlns:a16="http://schemas.microsoft.com/office/drawing/2014/main" id="{F594790E-9BE2-C47A-378F-A0F4002E20A6}"/>
              </a:ext>
            </a:extLst>
          </p:cNvPr>
          <p:cNvSpPr/>
          <p:nvPr/>
        </p:nvSpPr>
        <p:spPr>
          <a:xfrm>
            <a:off x="5226971" y="1921211"/>
            <a:ext cx="3429000" cy="256032"/>
          </a:xfrm>
          <a:prstGeom prst="rect">
            <a:avLst/>
          </a:prstGeom>
          <a:noFill/>
          <a:ln/>
        </p:spPr>
        <p:txBody>
          <a:bodyPr wrap="square" rtlCol="0" anchor="ctr"/>
          <a:lstStyle/>
          <a:p>
            <a:pPr marL="0" indent="0">
              <a:buNone/>
            </a:pPr>
            <a:r>
              <a:rPr lang="en-US" sz="1050" b="1" dirty="0">
                <a:solidFill>
                  <a:srgbClr val="0F1F3D"/>
                </a:solidFill>
                <a:latin typeface="Calibri" pitchFamily="34" charset="0"/>
                <a:ea typeface="Calibri" pitchFamily="34" charset="-122"/>
                <a:cs typeface="Calibri" pitchFamily="34" charset="-120"/>
              </a:rPr>
              <a:t>Perioperative &amp; Anaesthesia Care</a:t>
            </a:r>
            <a:endParaRPr lang="en-US" sz="1050" dirty="0"/>
          </a:p>
        </p:txBody>
      </p:sp>
      <p:sp>
        <p:nvSpPr>
          <p:cNvPr id="66" name="Text 37">
            <a:extLst>
              <a:ext uri="{FF2B5EF4-FFF2-40B4-BE49-F238E27FC236}">
                <a16:creationId xmlns:a16="http://schemas.microsoft.com/office/drawing/2014/main" id="{4A4AD2DA-22CB-F6A6-1D4A-8A2C355F88A9}"/>
              </a:ext>
            </a:extLst>
          </p:cNvPr>
          <p:cNvSpPr/>
          <p:nvPr/>
        </p:nvSpPr>
        <p:spPr>
          <a:xfrm>
            <a:off x="5226971" y="2177243"/>
            <a:ext cx="3429000" cy="548640"/>
          </a:xfrm>
          <a:prstGeom prst="rect">
            <a:avLst/>
          </a:prstGeom>
          <a:noFill/>
          <a:ln/>
        </p:spPr>
        <p:txBody>
          <a:bodyPr wrap="square" rtlCol="0" anchor="ctr"/>
          <a:lstStyle/>
          <a:p>
            <a:pPr marL="0" indent="0">
              <a:lnSpc>
                <a:spcPct val="125000"/>
              </a:lnSpc>
              <a:buNone/>
            </a:pPr>
            <a:r>
              <a:rPr lang="en-US" sz="850" dirty="0">
                <a:solidFill>
                  <a:srgbClr val="64748B"/>
                </a:solidFill>
                <a:latin typeface="Calibri" pitchFamily="34" charset="0"/>
                <a:ea typeface="Calibri" pitchFamily="34" charset="-122"/>
                <a:cs typeface="Calibri" pitchFamily="34" charset="-120"/>
              </a:rPr>
              <a:t>Surgical drug trials: laparoscopic/bariatric surgery, cardiac and orthopaedic procedures. Key agents: Dexmedetomidine, Remifentanil, Lidocaine, Midazolam. Glucose monitoring devices link back to metabolic domain.</a:t>
            </a:r>
            <a:endParaRPr lang="en-US" sz="850" dirty="0"/>
          </a:p>
        </p:txBody>
      </p:sp>
      <p:sp>
        <p:nvSpPr>
          <p:cNvPr id="67" name="Text 38">
            <a:extLst>
              <a:ext uri="{FF2B5EF4-FFF2-40B4-BE49-F238E27FC236}">
                <a16:creationId xmlns:a16="http://schemas.microsoft.com/office/drawing/2014/main" id="{113123D2-06C1-4847-F4A7-2106F8205921}"/>
              </a:ext>
            </a:extLst>
          </p:cNvPr>
          <p:cNvSpPr/>
          <p:nvPr/>
        </p:nvSpPr>
        <p:spPr>
          <a:xfrm>
            <a:off x="5226971" y="2744171"/>
            <a:ext cx="3429000" cy="182880"/>
          </a:xfrm>
          <a:prstGeom prst="rect">
            <a:avLst/>
          </a:prstGeom>
          <a:noFill/>
          <a:ln/>
        </p:spPr>
        <p:txBody>
          <a:bodyPr wrap="square" rtlCol="0" anchor="ctr"/>
          <a:lstStyle/>
          <a:p>
            <a:pPr marL="0" indent="0">
              <a:buNone/>
            </a:pPr>
            <a:r>
              <a:rPr lang="en-US" sz="800" i="1" dirty="0">
                <a:solidFill>
                  <a:srgbClr val="378ADD"/>
                </a:solidFill>
                <a:latin typeface="Calibri" pitchFamily="34" charset="0"/>
                <a:ea typeface="Calibri" pitchFamily="34" charset="-122"/>
                <a:cs typeface="Calibri" pitchFamily="34" charset="-120"/>
              </a:rPr>
              <a:t>Dexmedetomidine · Remifentanil · Bariatric Surgery · PEEP</a:t>
            </a:r>
            <a:endParaRPr lang="en-US" sz="800" dirty="0"/>
          </a:p>
        </p:txBody>
      </p:sp>
      <p:sp>
        <p:nvSpPr>
          <p:cNvPr id="68" name="Shape 39">
            <a:extLst>
              <a:ext uri="{FF2B5EF4-FFF2-40B4-BE49-F238E27FC236}">
                <a16:creationId xmlns:a16="http://schemas.microsoft.com/office/drawing/2014/main" id="{B566EE50-65B5-6CD8-3B61-D403C39492D7}"/>
              </a:ext>
            </a:extLst>
          </p:cNvPr>
          <p:cNvSpPr/>
          <p:nvPr/>
        </p:nvSpPr>
        <p:spPr>
          <a:xfrm>
            <a:off x="4586891" y="3385635"/>
            <a:ext cx="4160520" cy="11704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69" name="Shape 40">
            <a:extLst>
              <a:ext uri="{FF2B5EF4-FFF2-40B4-BE49-F238E27FC236}">
                <a16:creationId xmlns:a16="http://schemas.microsoft.com/office/drawing/2014/main" id="{2195301B-4279-ACFB-214E-C135F0D51DB7}"/>
              </a:ext>
            </a:extLst>
          </p:cNvPr>
          <p:cNvSpPr/>
          <p:nvPr/>
        </p:nvSpPr>
        <p:spPr>
          <a:xfrm>
            <a:off x="4586891" y="3385635"/>
            <a:ext cx="4160520" cy="73152"/>
          </a:xfrm>
          <a:prstGeom prst="rect">
            <a:avLst/>
          </a:prstGeom>
          <a:solidFill>
            <a:srgbClr val="C026D3"/>
          </a:solidFill>
          <a:ln/>
        </p:spPr>
      </p:sp>
      <p:sp>
        <p:nvSpPr>
          <p:cNvPr id="70" name="Shape 41">
            <a:extLst>
              <a:ext uri="{FF2B5EF4-FFF2-40B4-BE49-F238E27FC236}">
                <a16:creationId xmlns:a16="http://schemas.microsoft.com/office/drawing/2014/main" id="{091424F9-2C99-BD06-AF1C-E255BF0343AA}"/>
              </a:ext>
            </a:extLst>
          </p:cNvPr>
          <p:cNvSpPr/>
          <p:nvPr/>
        </p:nvSpPr>
        <p:spPr>
          <a:xfrm>
            <a:off x="4586891" y="3458787"/>
            <a:ext cx="594360" cy="1097280"/>
          </a:xfrm>
          <a:prstGeom prst="rect">
            <a:avLst/>
          </a:prstGeom>
          <a:solidFill>
            <a:srgbClr val="C026D3">
              <a:alpha val="12000"/>
            </a:srgbClr>
          </a:solidFill>
          <a:ln/>
        </p:spPr>
      </p:sp>
      <p:sp>
        <p:nvSpPr>
          <p:cNvPr id="71" name="Text 42">
            <a:extLst>
              <a:ext uri="{FF2B5EF4-FFF2-40B4-BE49-F238E27FC236}">
                <a16:creationId xmlns:a16="http://schemas.microsoft.com/office/drawing/2014/main" id="{4E2FBDE0-A816-850F-3EF0-3089136BBE34}"/>
              </a:ext>
            </a:extLst>
          </p:cNvPr>
          <p:cNvSpPr/>
          <p:nvPr/>
        </p:nvSpPr>
        <p:spPr>
          <a:xfrm>
            <a:off x="4538402" y="3458787"/>
            <a:ext cx="688570" cy="411480"/>
          </a:xfrm>
          <a:prstGeom prst="rect">
            <a:avLst/>
          </a:prstGeom>
          <a:noFill/>
          <a:ln/>
        </p:spPr>
        <p:txBody>
          <a:bodyPr wrap="square" rtlCol="0" anchor="ctr"/>
          <a:lstStyle/>
          <a:p>
            <a:pPr algn="ctr"/>
            <a:r>
              <a:rPr lang="en-US" sz="800" b="1" dirty="0">
                <a:solidFill>
                  <a:srgbClr val="C026D3"/>
                </a:solidFill>
                <a:latin typeface="Calibri" pitchFamily="34" charset="0"/>
                <a:ea typeface="Calibri" pitchFamily="34" charset="-122"/>
                <a:cs typeface="Calibri" pitchFamily="34" charset="-120"/>
              </a:rPr>
              <a:t>Community</a:t>
            </a:r>
            <a:r>
              <a:rPr lang="en-US" sz="800" b="1" dirty="0">
                <a:solidFill>
                  <a:srgbClr val="5B4FCF"/>
                </a:solidFill>
                <a:latin typeface="Calibri" pitchFamily="34" charset="0"/>
                <a:ea typeface="Calibri" pitchFamily="34" charset="-122"/>
                <a:cs typeface="Calibri" pitchFamily="34" charset="-120"/>
              </a:rPr>
              <a:t> </a:t>
            </a:r>
          </a:p>
          <a:p>
            <a:pPr algn="ctr"/>
            <a:r>
              <a:rPr lang="en-US" sz="800" b="1" dirty="0">
                <a:solidFill>
                  <a:srgbClr val="C026D3"/>
                </a:solidFill>
                <a:latin typeface="Calibri" pitchFamily="34" charset="0"/>
                <a:ea typeface="Calibri" pitchFamily="34" charset="-122"/>
                <a:cs typeface="Calibri" pitchFamily="34" charset="-120"/>
              </a:rPr>
              <a:t>#15</a:t>
            </a:r>
            <a:endParaRPr lang="en-US" sz="800" dirty="0"/>
          </a:p>
        </p:txBody>
      </p:sp>
      <p:sp>
        <p:nvSpPr>
          <p:cNvPr id="74" name="Text 45">
            <a:extLst>
              <a:ext uri="{FF2B5EF4-FFF2-40B4-BE49-F238E27FC236}">
                <a16:creationId xmlns:a16="http://schemas.microsoft.com/office/drawing/2014/main" id="{5F3A3D4C-C0D0-8A19-4855-389E9E37C92E}"/>
              </a:ext>
            </a:extLst>
          </p:cNvPr>
          <p:cNvSpPr/>
          <p:nvPr/>
        </p:nvSpPr>
        <p:spPr>
          <a:xfrm>
            <a:off x="5226971" y="3477075"/>
            <a:ext cx="3429000" cy="256032"/>
          </a:xfrm>
          <a:prstGeom prst="rect">
            <a:avLst/>
          </a:prstGeom>
          <a:noFill/>
          <a:ln/>
        </p:spPr>
        <p:txBody>
          <a:bodyPr wrap="square" rtlCol="0" anchor="ctr"/>
          <a:lstStyle/>
          <a:p>
            <a:pPr marL="0" indent="0">
              <a:buNone/>
            </a:pPr>
            <a:r>
              <a:rPr lang="en-US" sz="1050" b="1" dirty="0">
                <a:solidFill>
                  <a:srgbClr val="0F1F3D"/>
                </a:solidFill>
                <a:latin typeface="Calibri" pitchFamily="34" charset="0"/>
                <a:ea typeface="Calibri" pitchFamily="34" charset="-122"/>
                <a:cs typeface="Calibri" pitchFamily="34" charset="-120"/>
              </a:rPr>
              <a:t>Neurological &amp; Musculoskeletal Rehab</a:t>
            </a:r>
            <a:endParaRPr lang="en-US" sz="1050" dirty="0"/>
          </a:p>
        </p:txBody>
      </p:sp>
      <p:sp>
        <p:nvSpPr>
          <p:cNvPr id="75" name="Text 46">
            <a:extLst>
              <a:ext uri="{FF2B5EF4-FFF2-40B4-BE49-F238E27FC236}">
                <a16:creationId xmlns:a16="http://schemas.microsoft.com/office/drawing/2014/main" id="{0106911E-4FB2-289C-1FB5-2FFA2E627C42}"/>
              </a:ext>
            </a:extLst>
          </p:cNvPr>
          <p:cNvSpPr/>
          <p:nvPr/>
        </p:nvSpPr>
        <p:spPr>
          <a:xfrm>
            <a:off x="5226971" y="3733107"/>
            <a:ext cx="3429000" cy="548640"/>
          </a:xfrm>
          <a:prstGeom prst="rect">
            <a:avLst/>
          </a:prstGeom>
          <a:noFill/>
          <a:ln/>
        </p:spPr>
        <p:txBody>
          <a:bodyPr wrap="square" rtlCol="0" anchor="ctr"/>
          <a:lstStyle/>
          <a:p>
            <a:pPr marL="0" indent="0">
              <a:lnSpc>
                <a:spcPct val="125000"/>
              </a:lnSpc>
              <a:buNone/>
            </a:pPr>
            <a:r>
              <a:rPr lang="en-US" sz="850" dirty="0">
                <a:solidFill>
                  <a:srgbClr val="64748B"/>
                </a:solidFill>
                <a:latin typeface="Calibri" pitchFamily="34" charset="0"/>
                <a:ea typeface="Calibri" pitchFamily="34" charset="-122"/>
                <a:cs typeface="Calibri" pitchFamily="34" charset="-120"/>
              </a:rPr>
              <a:t>Neurodegenerative and musculoskeletal conditions with rehabilitation focus. MRI based diagnostics, exercise programs, stem cell therapies, hyperbaric oxygen. Parkinson's, cognitive decline, diabetic neuropathy.</a:t>
            </a:r>
            <a:endParaRPr lang="en-US" sz="850" dirty="0"/>
          </a:p>
        </p:txBody>
      </p:sp>
      <p:sp>
        <p:nvSpPr>
          <p:cNvPr id="76" name="Text 47">
            <a:extLst>
              <a:ext uri="{FF2B5EF4-FFF2-40B4-BE49-F238E27FC236}">
                <a16:creationId xmlns:a16="http://schemas.microsoft.com/office/drawing/2014/main" id="{57FC9713-7107-1261-5A96-70ADF1E15E82}"/>
              </a:ext>
            </a:extLst>
          </p:cNvPr>
          <p:cNvSpPr/>
          <p:nvPr/>
        </p:nvSpPr>
        <p:spPr>
          <a:xfrm>
            <a:off x="5226971" y="4300035"/>
            <a:ext cx="3429000" cy="182880"/>
          </a:xfrm>
          <a:prstGeom prst="rect">
            <a:avLst/>
          </a:prstGeom>
          <a:noFill/>
          <a:ln/>
        </p:spPr>
        <p:txBody>
          <a:bodyPr wrap="square" rtlCol="0" anchor="ctr"/>
          <a:lstStyle/>
          <a:p>
            <a:pPr marL="0" indent="0">
              <a:buNone/>
            </a:pPr>
            <a:r>
              <a:rPr lang="en-US" sz="800" i="1" dirty="0">
                <a:solidFill>
                  <a:srgbClr val="C026D3"/>
                </a:solidFill>
                <a:latin typeface="Calibri" pitchFamily="34" charset="0"/>
                <a:ea typeface="Calibri" pitchFamily="34" charset="-122"/>
                <a:cs typeface="Calibri" pitchFamily="34" charset="-120"/>
              </a:rPr>
              <a:t>Parkinson · Cognitive Decline · Hyperbaric O₂ · fMRI · Stem Cells</a:t>
            </a:r>
            <a:endParaRPr lang="en-US" sz="800" dirty="0"/>
          </a:p>
        </p:txBody>
      </p:sp>
      <p:sp>
        <p:nvSpPr>
          <p:cNvPr id="200" name="ConcludingBg"/>
          <p:cNvSpPr/>
          <p:nvPr/>
        </p:nvSpPr>
        <p:spPr>
          <a:xfrm>
            <a:off x="0" y="4668385"/>
            <a:ext cx="9144000" cy="480000"/>
          </a:xfrm>
          <a:prstGeom prst="rect">
            <a:avLst/>
          </a:prstGeom>
          <a:solidFill>
            <a:srgbClr val="0D1B3E">
              <a:alpha val="90000"/>
            </a:srgbClr>
          </a:solidFill>
          <a:ln>
            <a:noFill/>
          </a:ln>
        </p:spPr>
        <p:txBody>
          <a:bodyPr rtlCol="0" anchor="ctr"/>
          <a:lstStyle/>
          <a:p>
            <a:pPr algn="ctr"/>
            <a:endParaRPr/>
          </a:p>
        </p:txBody>
      </p:sp>
      <p:sp>
        <p:nvSpPr>
          <p:cNvPr id="201" name="ConcludingText"/>
          <p:cNvSpPr txBox="1"/>
          <p:nvPr/>
        </p:nvSpPr>
        <p:spPr>
          <a:xfrm>
            <a:off x="266700" y="4780644"/>
            <a:ext cx="8595360" cy="369332"/>
          </a:xfrm>
          <a:prstGeom prst="rect">
            <a:avLst/>
          </a:prstGeom>
          <a:noFill/>
        </p:spPr>
        <p:txBody>
          <a:bodyPr wrap="square" rtlCol="0" anchor="ctr">
            <a:spAutoFit/>
          </a:bodyPr>
          <a:lstStyle/>
          <a:p>
            <a:pPr algn="ctr"/>
            <a:r>
              <a:rPr lang="en-US" sz="900" b="0" i="1" dirty="0">
                <a:solidFill>
                  <a:srgbClr val="845EC2"/>
                </a:solidFill>
                <a:latin typeface="Calibri" pitchFamily="34" charset="0"/>
              </a:rPr>
              <a:t>The Louvain algorithm independently recovered clinically meaningful therapeutic clusters without any expert labeling. Community boundaries align precisely with real biomedical domains, validating the KG.</a:t>
            </a:r>
          </a:p>
        </p:txBody>
      </p:sp>
    </p:spTree>
    <p:extLst>
      <p:ext uri="{BB962C8B-B14F-4D97-AF65-F5344CB8AC3E}">
        <p14:creationId xmlns:p14="http://schemas.microsoft.com/office/powerpoint/2010/main" val="30734818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 name="Group 96">
            <a:extLst>
              <a:ext uri="{FF2B5EF4-FFF2-40B4-BE49-F238E27FC236}">
                <a16:creationId xmlns:a16="http://schemas.microsoft.com/office/drawing/2014/main" id="{7A21FB4C-2FA5-5DDA-3A90-4ED568C316DD}"/>
              </a:ext>
            </a:extLst>
          </p:cNvPr>
          <p:cNvGrpSpPr/>
          <p:nvPr/>
        </p:nvGrpSpPr>
        <p:grpSpPr>
          <a:xfrm>
            <a:off x="119147" y="729860"/>
            <a:ext cx="4210398" cy="1170432"/>
            <a:chOff x="119147" y="633154"/>
            <a:chExt cx="4210398" cy="1170432"/>
          </a:xfrm>
        </p:grpSpPr>
        <p:sp>
          <p:nvSpPr>
            <p:cNvPr id="23" name="Shape 21"/>
            <p:cNvSpPr/>
            <p:nvPr/>
          </p:nvSpPr>
          <p:spPr>
            <a:xfrm>
              <a:off x="169025" y="633154"/>
              <a:ext cx="4160520" cy="11704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4" name="Shape 22"/>
            <p:cNvSpPr/>
            <p:nvPr/>
          </p:nvSpPr>
          <p:spPr>
            <a:xfrm>
              <a:off x="169025" y="633154"/>
              <a:ext cx="4160520" cy="73152"/>
            </a:xfrm>
            <a:prstGeom prst="rect">
              <a:avLst/>
            </a:prstGeom>
            <a:solidFill>
              <a:srgbClr val="D97706"/>
            </a:solidFill>
            <a:ln/>
          </p:spPr>
        </p:sp>
        <p:sp>
          <p:nvSpPr>
            <p:cNvPr id="25" name="Shape 23"/>
            <p:cNvSpPr/>
            <p:nvPr/>
          </p:nvSpPr>
          <p:spPr>
            <a:xfrm>
              <a:off x="169025" y="706306"/>
              <a:ext cx="594360" cy="1097280"/>
            </a:xfrm>
            <a:prstGeom prst="rect">
              <a:avLst/>
            </a:prstGeom>
            <a:solidFill>
              <a:srgbClr val="D97706">
                <a:alpha val="12000"/>
              </a:srgbClr>
            </a:solidFill>
            <a:ln/>
          </p:spPr>
        </p:sp>
        <p:sp>
          <p:nvSpPr>
            <p:cNvPr id="26" name="Text 24"/>
            <p:cNvSpPr/>
            <p:nvPr/>
          </p:nvSpPr>
          <p:spPr>
            <a:xfrm>
              <a:off x="119147" y="706306"/>
              <a:ext cx="685800" cy="411480"/>
            </a:xfrm>
            <a:prstGeom prst="rect">
              <a:avLst/>
            </a:prstGeom>
            <a:noFill/>
            <a:ln/>
          </p:spPr>
          <p:txBody>
            <a:bodyPr wrap="square" rtlCol="0" anchor="ctr"/>
            <a:lstStyle/>
            <a:p>
              <a:pPr algn="ctr"/>
              <a:r>
                <a:rPr lang="en-US" sz="800" b="1" dirty="0">
                  <a:solidFill>
                    <a:srgbClr val="D97706"/>
                  </a:solidFill>
                  <a:latin typeface="Calibri" pitchFamily="34" charset="0"/>
                  <a:ea typeface="Calibri" pitchFamily="34" charset="-122"/>
                  <a:cs typeface="Calibri" pitchFamily="34" charset="-120"/>
                </a:rPr>
                <a:t>Community</a:t>
              </a:r>
              <a:r>
                <a:rPr lang="en-US" sz="800" b="1" dirty="0">
                  <a:solidFill>
                    <a:srgbClr val="5B4FCF"/>
                  </a:solidFill>
                  <a:latin typeface="Calibri" pitchFamily="34" charset="0"/>
                  <a:ea typeface="Calibri" pitchFamily="34" charset="-122"/>
                  <a:cs typeface="Calibri" pitchFamily="34" charset="-120"/>
                </a:rPr>
                <a:t> </a:t>
              </a:r>
            </a:p>
            <a:p>
              <a:pPr algn="ctr"/>
              <a:r>
                <a:rPr lang="en-US" sz="800" b="1" dirty="0">
                  <a:solidFill>
                    <a:srgbClr val="D97706"/>
                  </a:solidFill>
                  <a:latin typeface="Calibri" pitchFamily="34" charset="0"/>
                  <a:ea typeface="Calibri" pitchFamily="34" charset="-122"/>
                  <a:cs typeface="Calibri" pitchFamily="34" charset="-120"/>
                </a:rPr>
                <a:t>#82</a:t>
              </a:r>
              <a:endParaRPr lang="en-US" sz="800" dirty="0"/>
            </a:p>
          </p:txBody>
        </p:sp>
        <p:sp>
          <p:nvSpPr>
            <p:cNvPr id="29" name="Text 27"/>
            <p:cNvSpPr/>
            <p:nvPr/>
          </p:nvSpPr>
          <p:spPr>
            <a:xfrm>
              <a:off x="809105" y="724594"/>
              <a:ext cx="3429000" cy="256032"/>
            </a:xfrm>
            <a:prstGeom prst="rect">
              <a:avLst/>
            </a:prstGeom>
            <a:noFill/>
            <a:ln/>
          </p:spPr>
          <p:txBody>
            <a:bodyPr wrap="square" rtlCol="0" anchor="ctr"/>
            <a:lstStyle/>
            <a:p>
              <a:pPr marL="0" indent="0">
                <a:buNone/>
              </a:pPr>
              <a:r>
                <a:rPr lang="en-US" sz="1050" b="1" dirty="0">
                  <a:solidFill>
                    <a:srgbClr val="0F1F3D"/>
                  </a:solidFill>
                  <a:latin typeface="Calibri" pitchFamily="34" charset="0"/>
                  <a:ea typeface="Calibri" pitchFamily="34" charset="-122"/>
                  <a:cs typeface="Calibri" pitchFamily="34" charset="-120"/>
                </a:rPr>
                <a:t>Diabetes Pharmacotherapy</a:t>
              </a:r>
              <a:endParaRPr lang="en-US" sz="1050" dirty="0"/>
            </a:p>
          </p:txBody>
        </p:sp>
        <p:sp>
          <p:nvSpPr>
            <p:cNvPr id="30" name="Text 28"/>
            <p:cNvSpPr/>
            <p:nvPr/>
          </p:nvSpPr>
          <p:spPr>
            <a:xfrm>
              <a:off x="809105" y="980626"/>
              <a:ext cx="3429000" cy="548640"/>
            </a:xfrm>
            <a:prstGeom prst="rect">
              <a:avLst/>
            </a:prstGeom>
            <a:noFill/>
            <a:ln/>
          </p:spPr>
          <p:txBody>
            <a:bodyPr wrap="square" rtlCol="0" anchor="ctr"/>
            <a:lstStyle/>
            <a:p>
              <a:pPr marL="0" indent="0">
                <a:lnSpc>
                  <a:spcPct val="125000"/>
                </a:lnSpc>
                <a:buNone/>
              </a:pPr>
              <a:r>
                <a:rPr lang="en-US" sz="850" dirty="0">
                  <a:solidFill>
                    <a:srgbClr val="64748B"/>
                  </a:solidFill>
                  <a:latin typeface="Calibri" pitchFamily="34" charset="0"/>
                  <a:ea typeface="Calibri" pitchFamily="34" charset="-122"/>
                  <a:cs typeface="Calibri" pitchFamily="34" charset="-120"/>
                </a:rPr>
                <a:t>Tightly focused T2D drug trials. Contains every major class: SGLT2i (Dapagliflozin, Empagliflozin), GLP-1 (Dulaglutide), DPP-4i (Sitagliptin), sulfonylureas, and insulin variants plus NASH-related interventions.</a:t>
              </a:r>
              <a:endParaRPr lang="en-US" sz="850" dirty="0"/>
            </a:p>
          </p:txBody>
        </p:sp>
        <p:sp>
          <p:nvSpPr>
            <p:cNvPr id="31" name="Text 29"/>
            <p:cNvSpPr/>
            <p:nvPr/>
          </p:nvSpPr>
          <p:spPr>
            <a:xfrm>
              <a:off x="809105" y="1547554"/>
              <a:ext cx="3429000" cy="182880"/>
            </a:xfrm>
            <a:prstGeom prst="rect">
              <a:avLst/>
            </a:prstGeom>
            <a:noFill/>
            <a:ln/>
          </p:spPr>
          <p:txBody>
            <a:bodyPr wrap="square" rtlCol="0" anchor="ctr"/>
            <a:lstStyle/>
            <a:p>
              <a:pPr marL="0" indent="0">
                <a:buNone/>
              </a:pPr>
              <a:r>
                <a:rPr lang="en-US" sz="800" i="1" dirty="0">
                  <a:solidFill>
                    <a:srgbClr val="D97706"/>
                  </a:solidFill>
                  <a:latin typeface="Calibri" pitchFamily="34" charset="0"/>
                  <a:ea typeface="Calibri" pitchFamily="34" charset="-122"/>
                  <a:cs typeface="Calibri" pitchFamily="34" charset="-120"/>
                </a:rPr>
                <a:t>Dapagliflozin · Empagliflozin · Sitagliptin · Insulin · NASH</a:t>
              </a:r>
              <a:endParaRPr lang="en-US" sz="800" dirty="0"/>
            </a:p>
          </p:txBody>
        </p:sp>
      </p:grpSp>
      <p:sp>
        <p:nvSpPr>
          <p:cNvPr id="50" name="Rectangle 49">
            <a:extLst>
              <a:ext uri="{FF2B5EF4-FFF2-40B4-BE49-F238E27FC236}">
                <a16:creationId xmlns:a16="http://schemas.microsoft.com/office/drawing/2014/main" id="{FF4CCF5C-1291-6123-6135-9683172C557E}"/>
              </a:ext>
            </a:extLst>
          </p:cNvPr>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a:extLst>
              <a:ext uri="{FF2B5EF4-FFF2-40B4-BE49-F238E27FC236}">
                <a16:creationId xmlns:a16="http://schemas.microsoft.com/office/drawing/2014/main" id="{09BB4F1B-D75F-FFD0-DD09-36740395FE91}"/>
              </a:ext>
            </a:extLst>
          </p:cNvPr>
          <p:cNvSpPr txBox="1"/>
          <p:nvPr/>
        </p:nvSpPr>
        <p:spPr>
          <a:xfrm>
            <a:off x="320040" y="54864"/>
            <a:ext cx="8229600" cy="261610"/>
          </a:xfrm>
          <a:prstGeom prst="rect">
            <a:avLst/>
          </a:prstGeom>
          <a:noFill/>
        </p:spPr>
        <p:txBody>
          <a:bodyPr wrap="square">
            <a:spAutoFit/>
          </a:bodyPr>
          <a:lstStyle/>
          <a:p>
            <a:pPr algn="l"/>
            <a:r>
              <a:rPr sz="1100" b="1" i="0" dirty="0">
                <a:solidFill>
                  <a:srgbClr val="845EC2"/>
                </a:solidFill>
                <a:latin typeface="Calibri"/>
              </a:rPr>
              <a:t>04  /  NETWORK &amp; GRAPH ANALYTICS</a:t>
            </a:r>
            <a:r>
              <a:rPr lang="en-IN" sz="1100" b="1" i="0" dirty="0">
                <a:solidFill>
                  <a:srgbClr val="845EC2"/>
                </a:solidFill>
                <a:latin typeface="Calibri"/>
              </a:rPr>
              <a:t> – Community detection</a:t>
            </a:r>
            <a:endParaRPr sz="1100" b="1" i="0" dirty="0">
              <a:solidFill>
                <a:srgbClr val="845EC2"/>
              </a:solidFill>
              <a:latin typeface="Calibri"/>
            </a:endParaRPr>
          </a:p>
        </p:txBody>
      </p:sp>
      <p:grpSp>
        <p:nvGrpSpPr>
          <p:cNvPr id="98" name="Group 97">
            <a:extLst>
              <a:ext uri="{FF2B5EF4-FFF2-40B4-BE49-F238E27FC236}">
                <a16:creationId xmlns:a16="http://schemas.microsoft.com/office/drawing/2014/main" id="{93A2F091-29FB-8B5D-456C-8B98CBDB0F8E}"/>
              </a:ext>
            </a:extLst>
          </p:cNvPr>
          <p:cNvGrpSpPr/>
          <p:nvPr/>
        </p:nvGrpSpPr>
        <p:grpSpPr>
          <a:xfrm>
            <a:off x="4736868" y="732077"/>
            <a:ext cx="4236720" cy="1170432"/>
            <a:chOff x="4736868" y="635371"/>
            <a:chExt cx="4236720" cy="1170432"/>
          </a:xfrm>
        </p:grpSpPr>
        <p:sp>
          <p:nvSpPr>
            <p:cNvPr id="52" name="Shape 3"/>
            <p:cNvSpPr/>
            <p:nvPr/>
          </p:nvSpPr>
          <p:spPr>
            <a:xfrm>
              <a:off x="4813068" y="635371"/>
              <a:ext cx="4160520" cy="11704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53" name="Shape 4"/>
            <p:cNvSpPr/>
            <p:nvPr/>
          </p:nvSpPr>
          <p:spPr>
            <a:xfrm>
              <a:off x="4813068" y="635371"/>
              <a:ext cx="4160520" cy="73152"/>
            </a:xfrm>
            <a:prstGeom prst="rect">
              <a:avLst/>
            </a:prstGeom>
            <a:solidFill>
              <a:srgbClr val="059669"/>
            </a:solidFill>
            <a:ln/>
          </p:spPr>
        </p:sp>
        <p:sp>
          <p:nvSpPr>
            <p:cNvPr id="54" name="Shape 5"/>
            <p:cNvSpPr/>
            <p:nvPr/>
          </p:nvSpPr>
          <p:spPr>
            <a:xfrm>
              <a:off x="4813068" y="708523"/>
              <a:ext cx="594360" cy="1097280"/>
            </a:xfrm>
            <a:prstGeom prst="rect">
              <a:avLst/>
            </a:prstGeom>
            <a:solidFill>
              <a:srgbClr val="059669">
                <a:alpha val="12000"/>
              </a:srgbClr>
            </a:solidFill>
            <a:ln/>
          </p:spPr>
        </p:sp>
        <p:sp>
          <p:nvSpPr>
            <p:cNvPr id="55" name="Text 6"/>
            <p:cNvSpPr/>
            <p:nvPr/>
          </p:nvSpPr>
          <p:spPr>
            <a:xfrm>
              <a:off x="4736868" y="708523"/>
              <a:ext cx="721823" cy="411480"/>
            </a:xfrm>
            <a:prstGeom prst="rect">
              <a:avLst/>
            </a:prstGeom>
            <a:noFill/>
            <a:ln/>
          </p:spPr>
          <p:txBody>
            <a:bodyPr wrap="square" rtlCol="0" anchor="ctr"/>
            <a:lstStyle/>
            <a:p>
              <a:pPr algn="ctr"/>
              <a:r>
                <a:rPr lang="en-US" sz="800" b="1" dirty="0">
                  <a:solidFill>
                    <a:srgbClr val="059669"/>
                  </a:solidFill>
                  <a:latin typeface="Calibri" pitchFamily="34" charset="0"/>
                  <a:ea typeface="Calibri" pitchFamily="34" charset="-122"/>
                  <a:cs typeface="Calibri" pitchFamily="34" charset="-120"/>
                </a:rPr>
                <a:t>Community</a:t>
              </a:r>
              <a:r>
                <a:rPr lang="en-US" sz="800" b="1" dirty="0">
                  <a:solidFill>
                    <a:srgbClr val="5B4FCF"/>
                  </a:solidFill>
                  <a:latin typeface="Calibri" pitchFamily="34" charset="0"/>
                  <a:ea typeface="Calibri" pitchFamily="34" charset="-122"/>
                  <a:cs typeface="Calibri" pitchFamily="34" charset="-120"/>
                </a:rPr>
                <a:t> </a:t>
              </a:r>
            </a:p>
            <a:p>
              <a:pPr algn="ctr"/>
              <a:r>
                <a:rPr lang="en-US" sz="800" b="1" dirty="0">
                  <a:solidFill>
                    <a:srgbClr val="059669"/>
                  </a:solidFill>
                  <a:latin typeface="Calibri" pitchFamily="34" charset="0"/>
                  <a:ea typeface="Calibri" pitchFamily="34" charset="-122"/>
                  <a:cs typeface="Calibri" pitchFamily="34" charset="-120"/>
                </a:rPr>
                <a:t>#13</a:t>
              </a:r>
              <a:endParaRPr lang="en-US" sz="800" dirty="0"/>
            </a:p>
          </p:txBody>
        </p:sp>
        <p:sp>
          <p:nvSpPr>
            <p:cNvPr id="58" name="Text 9"/>
            <p:cNvSpPr/>
            <p:nvPr/>
          </p:nvSpPr>
          <p:spPr>
            <a:xfrm>
              <a:off x="5453148" y="726811"/>
              <a:ext cx="3429000" cy="256032"/>
            </a:xfrm>
            <a:prstGeom prst="rect">
              <a:avLst/>
            </a:prstGeom>
            <a:noFill/>
            <a:ln/>
          </p:spPr>
          <p:txBody>
            <a:bodyPr wrap="square" rtlCol="0" anchor="ctr"/>
            <a:lstStyle/>
            <a:p>
              <a:pPr marL="0" indent="0">
                <a:buNone/>
              </a:pPr>
              <a:r>
                <a:rPr lang="en-US" sz="1050" b="1" dirty="0">
                  <a:solidFill>
                    <a:srgbClr val="0F1F3D"/>
                  </a:solidFill>
                  <a:latin typeface="Calibri" pitchFamily="34" charset="0"/>
                  <a:ea typeface="Calibri" pitchFamily="34" charset="-122"/>
                  <a:cs typeface="Calibri" pitchFamily="34" charset="-120"/>
                </a:rPr>
                <a:t>Cardiovascular Disease &amp; Prevention</a:t>
              </a:r>
              <a:endParaRPr lang="en-US" sz="1050" dirty="0"/>
            </a:p>
          </p:txBody>
        </p:sp>
        <p:sp>
          <p:nvSpPr>
            <p:cNvPr id="59" name="Text 10"/>
            <p:cNvSpPr/>
            <p:nvPr/>
          </p:nvSpPr>
          <p:spPr>
            <a:xfrm>
              <a:off x="5453148" y="982843"/>
              <a:ext cx="3429000" cy="548640"/>
            </a:xfrm>
            <a:prstGeom prst="rect">
              <a:avLst/>
            </a:prstGeom>
            <a:noFill/>
            <a:ln/>
          </p:spPr>
          <p:txBody>
            <a:bodyPr wrap="square" rtlCol="0" anchor="ctr"/>
            <a:lstStyle/>
            <a:p>
              <a:pPr marL="0" indent="0">
                <a:lnSpc>
                  <a:spcPct val="125000"/>
                </a:lnSpc>
                <a:buNone/>
              </a:pPr>
              <a:r>
                <a:rPr lang="en-US" sz="850" dirty="0">
                  <a:solidFill>
                    <a:srgbClr val="64748B"/>
                  </a:solidFill>
                  <a:latin typeface="Calibri" pitchFamily="34" charset="0"/>
                  <a:ea typeface="Calibri" pitchFamily="34" charset="-122"/>
                  <a:cs typeface="Calibri" pitchFamily="34" charset="-120"/>
                </a:rPr>
                <a:t>Coronary artery disease, atrial fibrillation, heart failure. Atorvastatin, Aspirin (multiple doses), Evolocumab, Valsartan, Warfarin. Coronary stent comparisons (TAXUS vs Xience). SGLT2i (Dapagliflozin) entering cardiology.</a:t>
              </a:r>
              <a:endParaRPr lang="en-US" sz="850" dirty="0"/>
            </a:p>
          </p:txBody>
        </p:sp>
        <p:sp>
          <p:nvSpPr>
            <p:cNvPr id="60" name="Text 11"/>
            <p:cNvSpPr/>
            <p:nvPr/>
          </p:nvSpPr>
          <p:spPr>
            <a:xfrm>
              <a:off x="5453148" y="1549771"/>
              <a:ext cx="3429000" cy="182880"/>
            </a:xfrm>
            <a:prstGeom prst="rect">
              <a:avLst/>
            </a:prstGeom>
            <a:noFill/>
            <a:ln/>
          </p:spPr>
          <p:txBody>
            <a:bodyPr wrap="square" rtlCol="0" anchor="ctr"/>
            <a:lstStyle/>
            <a:p>
              <a:pPr marL="0" indent="0">
                <a:buNone/>
              </a:pPr>
              <a:r>
                <a:rPr lang="en-US" sz="800" i="1" dirty="0">
                  <a:solidFill>
                    <a:srgbClr val="059669"/>
                  </a:solidFill>
                  <a:latin typeface="Calibri" pitchFamily="34" charset="0"/>
                  <a:ea typeface="Calibri" pitchFamily="34" charset="-122"/>
                  <a:cs typeface="Calibri" pitchFamily="34" charset="-120"/>
                </a:rPr>
                <a:t>Atorvastatin · Aspirin · Evolocumab · Cardiac MRI · Dapagliflozin</a:t>
              </a:r>
              <a:endParaRPr lang="en-US" sz="800" dirty="0"/>
            </a:p>
          </p:txBody>
        </p:sp>
      </p:grpSp>
      <p:grpSp>
        <p:nvGrpSpPr>
          <p:cNvPr id="100" name="Group 99">
            <a:extLst>
              <a:ext uri="{FF2B5EF4-FFF2-40B4-BE49-F238E27FC236}">
                <a16:creationId xmlns:a16="http://schemas.microsoft.com/office/drawing/2014/main" id="{05251C19-AD45-FB0C-0EF8-509E50B4C326}"/>
              </a:ext>
            </a:extLst>
          </p:cNvPr>
          <p:cNvGrpSpPr/>
          <p:nvPr/>
        </p:nvGrpSpPr>
        <p:grpSpPr>
          <a:xfrm>
            <a:off x="4765959" y="2111020"/>
            <a:ext cx="4203471" cy="1170432"/>
            <a:chOff x="4857399" y="2221163"/>
            <a:chExt cx="4203471" cy="1170432"/>
          </a:xfrm>
        </p:grpSpPr>
        <p:sp>
          <p:nvSpPr>
            <p:cNvPr id="61" name="Shape 12"/>
            <p:cNvSpPr/>
            <p:nvPr/>
          </p:nvSpPr>
          <p:spPr>
            <a:xfrm>
              <a:off x="4900350" y="2221163"/>
              <a:ext cx="4160520" cy="11704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62" name="Shape 13"/>
            <p:cNvSpPr/>
            <p:nvPr/>
          </p:nvSpPr>
          <p:spPr>
            <a:xfrm>
              <a:off x="4900350" y="2221163"/>
              <a:ext cx="4160520" cy="73152"/>
            </a:xfrm>
            <a:prstGeom prst="rect">
              <a:avLst/>
            </a:prstGeom>
            <a:solidFill>
              <a:srgbClr val="D97706"/>
            </a:solidFill>
            <a:ln/>
          </p:spPr>
        </p:sp>
        <p:sp>
          <p:nvSpPr>
            <p:cNvPr id="63" name="Shape 14"/>
            <p:cNvSpPr/>
            <p:nvPr/>
          </p:nvSpPr>
          <p:spPr>
            <a:xfrm>
              <a:off x="4900350" y="2294315"/>
              <a:ext cx="594360" cy="1097280"/>
            </a:xfrm>
            <a:prstGeom prst="rect">
              <a:avLst/>
            </a:prstGeom>
            <a:solidFill>
              <a:srgbClr val="D97706">
                <a:alpha val="12000"/>
              </a:srgbClr>
            </a:solidFill>
            <a:ln/>
          </p:spPr>
        </p:sp>
        <p:sp>
          <p:nvSpPr>
            <p:cNvPr id="64" name="Text 15"/>
            <p:cNvSpPr/>
            <p:nvPr/>
          </p:nvSpPr>
          <p:spPr>
            <a:xfrm>
              <a:off x="4857399" y="2294315"/>
              <a:ext cx="685800" cy="411480"/>
            </a:xfrm>
            <a:prstGeom prst="rect">
              <a:avLst/>
            </a:prstGeom>
            <a:noFill/>
            <a:ln/>
          </p:spPr>
          <p:txBody>
            <a:bodyPr wrap="square" rtlCol="0" anchor="ctr"/>
            <a:lstStyle/>
            <a:p>
              <a:pPr algn="ctr"/>
              <a:r>
                <a:rPr lang="en-US" sz="800" b="1" dirty="0">
                  <a:solidFill>
                    <a:srgbClr val="E39B47"/>
                  </a:solidFill>
                  <a:latin typeface="Calibri" pitchFamily="34" charset="0"/>
                  <a:ea typeface="Calibri" pitchFamily="34" charset="-122"/>
                  <a:cs typeface="Calibri" pitchFamily="34" charset="-120"/>
                </a:rPr>
                <a:t>Community</a:t>
              </a:r>
              <a:r>
                <a:rPr lang="en-US" sz="800" b="1" dirty="0">
                  <a:solidFill>
                    <a:srgbClr val="5B4FCF"/>
                  </a:solidFill>
                  <a:latin typeface="Calibri" pitchFamily="34" charset="0"/>
                  <a:ea typeface="Calibri" pitchFamily="34" charset="-122"/>
                  <a:cs typeface="Calibri" pitchFamily="34" charset="-120"/>
                </a:rPr>
                <a:t> </a:t>
              </a:r>
            </a:p>
            <a:p>
              <a:pPr algn="ctr"/>
              <a:r>
                <a:rPr lang="en-US" sz="800" b="1" dirty="0">
                  <a:solidFill>
                    <a:srgbClr val="D97706"/>
                  </a:solidFill>
                  <a:latin typeface="Calibri" pitchFamily="34" charset="0"/>
                  <a:ea typeface="Calibri" pitchFamily="34" charset="-122"/>
                  <a:cs typeface="Calibri" pitchFamily="34" charset="-120"/>
                </a:rPr>
                <a:t>#10</a:t>
              </a:r>
              <a:endParaRPr lang="en-US" sz="800" dirty="0"/>
            </a:p>
          </p:txBody>
        </p:sp>
        <p:sp>
          <p:nvSpPr>
            <p:cNvPr id="67" name="Text 18"/>
            <p:cNvSpPr/>
            <p:nvPr/>
          </p:nvSpPr>
          <p:spPr>
            <a:xfrm>
              <a:off x="5540430" y="2312603"/>
              <a:ext cx="3429000" cy="256032"/>
            </a:xfrm>
            <a:prstGeom prst="rect">
              <a:avLst/>
            </a:prstGeom>
            <a:noFill/>
            <a:ln/>
          </p:spPr>
          <p:txBody>
            <a:bodyPr wrap="square" rtlCol="0" anchor="ctr"/>
            <a:lstStyle/>
            <a:p>
              <a:pPr marL="0" indent="0">
                <a:buNone/>
              </a:pPr>
              <a:r>
                <a:rPr lang="en-US" sz="1050" b="1" dirty="0">
                  <a:solidFill>
                    <a:srgbClr val="0F1F3D"/>
                  </a:solidFill>
                  <a:latin typeface="Calibri" pitchFamily="34" charset="0"/>
                  <a:ea typeface="Calibri" pitchFamily="34" charset="-122"/>
                  <a:cs typeface="Calibri" pitchFamily="34" charset="-120"/>
                </a:rPr>
                <a:t>Immunology, Autoimmune &amp; Gout</a:t>
              </a:r>
              <a:endParaRPr lang="en-US" sz="1050" dirty="0"/>
            </a:p>
          </p:txBody>
        </p:sp>
        <p:sp>
          <p:nvSpPr>
            <p:cNvPr id="68" name="Text 19"/>
            <p:cNvSpPr/>
            <p:nvPr/>
          </p:nvSpPr>
          <p:spPr>
            <a:xfrm>
              <a:off x="5540430" y="2568634"/>
              <a:ext cx="3429000" cy="619991"/>
            </a:xfrm>
            <a:prstGeom prst="rect">
              <a:avLst/>
            </a:prstGeom>
            <a:noFill/>
            <a:ln/>
          </p:spPr>
          <p:txBody>
            <a:bodyPr wrap="square" rtlCol="0" anchor="ctr"/>
            <a:lstStyle/>
            <a:p>
              <a:pPr marL="0" indent="0">
                <a:lnSpc>
                  <a:spcPct val="125000"/>
                </a:lnSpc>
                <a:buNone/>
              </a:pPr>
              <a:r>
                <a:rPr lang="en-US" sz="850" dirty="0">
                  <a:solidFill>
                    <a:srgbClr val="64748B"/>
                  </a:solidFill>
                  <a:latin typeface="Calibri" pitchFamily="34" charset="0"/>
                  <a:ea typeface="Calibri" pitchFamily="34" charset="-122"/>
                  <a:cs typeface="Calibri" pitchFamily="34" charset="-120"/>
                </a:rPr>
                <a:t>Rheumatoid arthritis, gout, GvHD, and autoimmune conditions. Abatacept, Hydroxychloroquine, Rituximab, Anakinra, Allopurinol, Rasburicase, antifungals. Mix of immunosuppressants and natural anti-inflammatory compounds.</a:t>
              </a:r>
              <a:endParaRPr lang="en-US" sz="850" dirty="0"/>
            </a:p>
          </p:txBody>
        </p:sp>
        <p:sp>
          <p:nvSpPr>
            <p:cNvPr id="69" name="Text 20"/>
            <p:cNvSpPr/>
            <p:nvPr/>
          </p:nvSpPr>
          <p:spPr>
            <a:xfrm>
              <a:off x="5540430" y="3177125"/>
              <a:ext cx="3429000" cy="182880"/>
            </a:xfrm>
            <a:prstGeom prst="rect">
              <a:avLst/>
            </a:prstGeom>
            <a:noFill/>
            <a:ln/>
          </p:spPr>
          <p:txBody>
            <a:bodyPr wrap="square" rtlCol="0" anchor="ctr"/>
            <a:lstStyle/>
            <a:p>
              <a:pPr marL="0" indent="0">
                <a:buNone/>
              </a:pPr>
              <a:r>
                <a:rPr lang="en-US" sz="800" i="1" dirty="0">
                  <a:solidFill>
                    <a:srgbClr val="D97706"/>
                  </a:solidFill>
                  <a:latin typeface="Calibri" pitchFamily="34" charset="0"/>
                  <a:ea typeface="Calibri" pitchFamily="34" charset="-122"/>
                  <a:cs typeface="Calibri" pitchFamily="34" charset="-120"/>
                </a:rPr>
                <a:t>RA · Gout · Abatacept · Hydroxychloroquine · Rituximab · GvHD</a:t>
              </a:r>
              <a:endParaRPr lang="en-US" sz="800" dirty="0"/>
            </a:p>
          </p:txBody>
        </p:sp>
      </p:grpSp>
      <p:sp>
        <p:nvSpPr>
          <p:cNvPr id="70" name="Shape 21"/>
          <p:cNvSpPr/>
          <p:nvPr/>
        </p:nvSpPr>
        <p:spPr>
          <a:xfrm>
            <a:off x="4813068" y="3474724"/>
            <a:ext cx="4160520" cy="11704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71" name="Shape 22"/>
          <p:cNvSpPr/>
          <p:nvPr/>
        </p:nvSpPr>
        <p:spPr>
          <a:xfrm>
            <a:off x="4813068" y="3474724"/>
            <a:ext cx="4160520" cy="73152"/>
          </a:xfrm>
          <a:prstGeom prst="rect">
            <a:avLst/>
          </a:prstGeom>
          <a:solidFill>
            <a:srgbClr val="E05252"/>
          </a:solidFill>
          <a:ln/>
        </p:spPr>
      </p:sp>
      <p:sp>
        <p:nvSpPr>
          <p:cNvPr id="72" name="Shape 23"/>
          <p:cNvSpPr/>
          <p:nvPr/>
        </p:nvSpPr>
        <p:spPr>
          <a:xfrm>
            <a:off x="4813068" y="3547876"/>
            <a:ext cx="594360" cy="1097280"/>
          </a:xfrm>
          <a:prstGeom prst="rect">
            <a:avLst/>
          </a:prstGeom>
          <a:solidFill>
            <a:srgbClr val="E05252">
              <a:alpha val="12000"/>
            </a:srgbClr>
          </a:solidFill>
          <a:ln/>
        </p:spPr>
      </p:sp>
      <p:sp>
        <p:nvSpPr>
          <p:cNvPr id="73" name="Text 24"/>
          <p:cNvSpPr/>
          <p:nvPr/>
        </p:nvSpPr>
        <p:spPr>
          <a:xfrm>
            <a:off x="4756263" y="3547876"/>
            <a:ext cx="685800" cy="411480"/>
          </a:xfrm>
          <a:prstGeom prst="rect">
            <a:avLst/>
          </a:prstGeom>
          <a:noFill/>
          <a:ln/>
        </p:spPr>
        <p:txBody>
          <a:bodyPr wrap="square" rtlCol="0" anchor="ctr"/>
          <a:lstStyle/>
          <a:p>
            <a:pPr algn="ctr"/>
            <a:r>
              <a:rPr lang="en-US" sz="800" b="1" dirty="0">
                <a:solidFill>
                  <a:srgbClr val="E05252"/>
                </a:solidFill>
                <a:latin typeface="Calibri" pitchFamily="34" charset="0"/>
                <a:ea typeface="Calibri" pitchFamily="34" charset="-122"/>
                <a:cs typeface="Calibri" pitchFamily="34" charset="-120"/>
              </a:rPr>
              <a:t>Community</a:t>
            </a:r>
            <a:r>
              <a:rPr lang="en-US" sz="800" b="1" dirty="0">
                <a:solidFill>
                  <a:srgbClr val="5B4FCF"/>
                </a:solidFill>
                <a:latin typeface="Calibri" pitchFamily="34" charset="0"/>
                <a:ea typeface="Calibri" pitchFamily="34" charset="-122"/>
                <a:cs typeface="Calibri" pitchFamily="34" charset="-120"/>
              </a:rPr>
              <a:t> </a:t>
            </a:r>
          </a:p>
          <a:p>
            <a:pPr algn="ctr"/>
            <a:r>
              <a:rPr lang="en-US" sz="800" b="1" dirty="0">
                <a:solidFill>
                  <a:srgbClr val="E05252"/>
                </a:solidFill>
                <a:latin typeface="Calibri" pitchFamily="34" charset="0"/>
                <a:ea typeface="Calibri" pitchFamily="34" charset="-122"/>
                <a:cs typeface="Calibri" pitchFamily="34" charset="-120"/>
              </a:rPr>
              <a:t>#3</a:t>
            </a:r>
            <a:endParaRPr lang="en-US" sz="800" dirty="0"/>
          </a:p>
        </p:txBody>
      </p:sp>
      <p:sp>
        <p:nvSpPr>
          <p:cNvPr id="76" name="Text 27"/>
          <p:cNvSpPr/>
          <p:nvPr/>
        </p:nvSpPr>
        <p:spPr>
          <a:xfrm>
            <a:off x="5453148" y="3566164"/>
            <a:ext cx="3429000" cy="256032"/>
          </a:xfrm>
          <a:prstGeom prst="rect">
            <a:avLst/>
          </a:prstGeom>
          <a:noFill/>
          <a:ln/>
        </p:spPr>
        <p:txBody>
          <a:bodyPr wrap="square" rtlCol="0" anchor="ctr"/>
          <a:lstStyle/>
          <a:p>
            <a:pPr marL="0" indent="0">
              <a:buNone/>
            </a:pPr>
            <a:r>
              <a:rPr lang="en-US" sz="1050" b="1" dirty="0">
                <a:solidFill>
                  <a:srgbClr val="0F1F3D"/>
                </a:solidFill>
                <a:latin typeface="Calibri" pitchFamily="34" charset="0"/>
                <a:ea typeface="Calibri" pitchFamily="34" charset="-122"/>
                <a:cs typeface="Calibri" pitchFamily="34" charset="-120"/>
              </a:rPr>
              <a:t>Infectious Disease &amp; Respiratory</a:t>
            </a:r>
            <a:endParaRPr lang="en-US" sz="1050" dirty="0"/>
          </a:p>
        </p:txBody>
      </p:sp>
      <p:sp>
        <p:nvSpPr>
          <p:cNvPr id="77" name="Text 28"/>
          <p:cNvSpPr/>
          <p:nvPr/>
        </p:nvSpPr>
        <p:spPr>
          <a:xfrm>
            <a:off x="5453148" y="3822196"/>
            <a:ext cx="3429000" cy="548640"/>
          </a:xfrm>
          <a:prstGeom prst="rect">
            <a:avLst/>
          </a:prstGeom>
          <a:noFill/>
          <a:ln/>
        </p:spPr>
        <p:txBody>
          <a:bodyPr wrap="square" rtlCol="0" anchor="ctr"/>
          <a:lstStyle/>
          <a:p>
            <a:pPr marL="0" indent="0">
              <a:lnSpc>
                <a:spcPct val="125000"/>
              </a:lnSpc>
              <a:buNone/>
            </a:pPr>
            <a:r>
              <a:rPr lang="en-US" sz="850" dirty="0">
                <a:solidFill>
                  <a:srgbClr val="64748B"/>
                </a:solidFill>
                <a:latin typeface="Calibri" pitchFamily="34" charset="0"/>
                <a:ea typeface="Calibri" pitchFamily="34" charset="-122"/>
                <a:cs typeface="Calibri" pitchFamily="34" charset="-120"/>
              </a:rPr>
              <a:t>Respiratory infections, COVID19, sepsis, influenza, critical care. Antibiotics (Vancomycin, Clindamycin), Oseltamivir, mechanical ventilation protocols, FMT, high flow nasal cannula. Nitazoxanide repurposing for COVID19.</a:t>
            </a:r>
            <a:endParaRPr lang="en-US" sz="850" dirty="0"/>
          </a:p>
        </p:txBody>
      </p:sp>
      <p:sp>
        <p:nvSpPr>
          <p:cNvPr id="78" name="Text 29"/>
          <p:cNvSpPr/>
          <p:nvPr/>
        </p:nvSpPr>
        <p:spPr>
          <a:xfrm>
            <a:off x="5453148" y="4416832"/>
            <a:ext cx="3429000" cy="182880"/>
          </a:xfrm>
          <a:prstGeom prst="rect">
            <a:avLst/>
          </a:prstGeom>
          <a:noFill/>
          <a:ln/>
        </p:spPr>
        <p:txBody>
          <a:bodyPr wrap="square" rtlCol="0" anchor="ctr"/>
          <a:lstStyle/>
          <a:p>
            <a:pPr marL="0" indent="0">
              <a:buNone/>
            </a:pPr>
            <a:r>
              <a:rPr lang="en-US" sz="800" i="1" dirty="0">
                <a:solidFill>
                  <a:srgbClr val="E05252"/>
                </a:solidFill>
                <a:latin typeface="Calibri" pitchFamily="34" charset="0"/>
                <a:ea typeface="Calibri" pitchFamily="34" charset="-122"/>
                <a:cs typeface="Calibri" pitchFamily="34" charset="-120"/>
              </a:rPr>
              <a:t>COVID19 · Sepsis · Vancomycin · FMT · Mechanical Ventilation</a:t>
            </a:r>
            <a:endParaRPr lang="en-US" sz="800" dirty="0"/>
          </a:p>
        </p:txBody>
      </p:sp>
      <p:grpSp>
        <p:nvGrpSpPr>
          <p:cNvPr id="99" name="Group 98">
            <a:extLst>
              <a:ext uri="{FF2B5EF4-FFF2-40B4-BE49-F238E27FC236}">
                <a16:creationId xmlns:a16="http://schemas.microsoft.com/office/drawing/2014/main" id="{9ACEF258-4AA8-7581-C9DF-BD7DB1BBD1AF}"/>
              </a:ext>
            </a:extLst>
          </p:cNvPr>
          <p:cNvGrpSpPr/>
          <p:nvPr/>
        </p:nvGrpSpPr>
        <p:grpSpPr>
          <a:xfrm>
            <a:off x="112220" y="2111020"/>
            <a:ext cx="4217325" cy="1170432"/>
            <a:chOff x="314494" y="2270346"/>
            <a:chExt cx="4217325" cy="1170432"/>
          </a:xfrm>
        </p:grpSpPr>
        <p:sp>
          <p:nvSpPr>
            <p:cNvPr id="79" name="Shape 30"/>
            <p:cNvSpPr/>
            <p:nvPr/>
          </p:nvSpPr>
          <p:spPr>
            <a:xfrm>
              <a:off x="371299" y="2270346"/>
              <a:ext cx="4160520" cy="11704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80" name="Shape 31"/>
            <p:cNvSpPr/>
            <p:nvPr/>
          </p:nvSpPr>
          <p:spPr>
            <a:xfrm>
              <a:off x="371299" y="2270346"/>
              <a:ext cx="4160520" cy="73152"/>
            </a:xfrm>
            <a:prstGeom prst="rect">
              <a:avLst/>
            </a:prstGeom>
            <a:solidFill>
              <a:srgbClr val="5B4FCF"/>
            </a:solidFill>
            <a:ln/>
          </p:spPr>
        </p:sp>
        <p:sp>
          <p:nvSpPr>
            <p:cNvPr id="81" name="Shape 32"/>
            <p:cNvSpPr/>
            <p:nvPr/>
          </p:nvSpPr>
          <p:spPr>
            <a:xfrm>
              <a:off x="371299" y="2343498"/>
              <a:ext cx="594360" cy="1097280"/>
            </a:xfrm>
            <a:prstGeom prst="rect">
              <a:avLst/>
            </a:prstGeom>
            <a:solidFill>
              <a:srgbClr val="5B4FCF">
                <a:alpha val="12000"/>
              </a:srgbClr>
            </a:solidFill>
            <a:ln/>
          </p:spPr>
        </p:sp>
        <p:sp>
          <p:nvSpPr>
            <p:cNvPr id="82" name="Text 33"/>
            <p:cNvSpPr/>
            <p:nvPr/>
          </p:nvSpPr>
          <p:spPr>
            <a:xfrm>
              <a:off x="314494" y="2343498"/>
              <a:ext cx="685800" cy="411480"/>
            </a:xfrm>
            <a:prstGeom prst="rect">
              <a:avLst/>
            </a:prstGeom>
            <a:noFill/>
            <a:ln/>
          </p:spPr>
          <p:txBody>
            <a:bodyPr wrap="square" rtlCol="0" anchor="ctr"/>
            <a:lstStyle/>
            <a:p>
              <a:pPr algn="ctr"/>
              <a:r>
                <a:rPr lang="en-US" sz="800" b="1" dirty="0">
                  <a:solidFill>
                    <a:srgbClr val="5B4FCF"/>
                  </a:solidFill>
                  <a:latin typeface="Calibri" pitchFamily="34" charset="0"/>
                  <a:ea typeface="Calibri" pitchFamily="34" charset="-122"/>
                  <a:cs typeface="Calibri" pitchFamily="34" charset="-120"/>
                </a:rPr>
                <a:t>Community </a:t>
              </a:r>
            </a:p>
            <a:p>
              <a:pPr algn="ctr"/>
              <a:r>
                <a:rPr lang="en-US" sz="800" b="1" dirty="0">
                  <a:solidFill>
                    <a:srgbClr val="5B4FCF"/>
                  </a:solidFill>
                  <a:latin typeface="Calibri" pitchFamily="34" charset="0"/>
                  <a:ea typeface="Calibri" pitchFamily="34" charset="-122"/>
                  <a:cs typeface="Calibri" pitchFamily="34" charset="-120"/>
                </a:rPr>
                <a:t>#0</a:t>
              </a:r>
              <a:endParaRPr lang="en-US" sz="800" dirty="0"/>
            </a:p>
          </p:txBody>
        </p:sp>
        <p:sp>
          <p:nvSpPr>
            <p:cNvPr id="85" name="Text 36"/>
            <p:cNvSpPr/>
            <p:nvPr/>
          </p:nvSpPr>
          <p:spPr>
            <a:xfrm>
              <a:off x="1011379" y="2361786"/>
              <a:ext cx="3429000" cy="256032"/>
            </a:xfrm>
            <a:prstGeom prst="rect">
              <a:avLst/>
            </a:prstGeom>
            <a:noFill/>
            <a:ln/>
          </p:spPr>
          <p:txBody>
            <a:bodyPr wrap="square" rtlCol="0" anchor="ctr"/>
            <a:lstStyle/>
            <a:p>
              <a:pPr marL="0" indent="0">
                <a:buNone/>
              </a:pPr>
              <a:r>
                <a:rPr lang="en-US" sz="1050" b="1" dirty="0">
                  <a:solidFill>
                    <a:srgbClr val="0F1F3D"/>
                  </a:solidFill>
                  <a:latin typeface="Calibri" pitchFamily="34" charset="0"/>
                  <a:ea typeface="Calibri" pitchFamily="34" charset="-122"/>
                  <a:cs typeface="Calibri" pitchFamily="34" charset="-120"/>
                </a:rPr>
                <a:t>Hepatitis B Virology</a:t>
              </a:r>
              <a:endParaRPr lang="en-US" sz="1050" dirty="0"/>
            </a:p>
          </p:txBody>
        </p:sp>
        <p:sp>
          <p:nvSpPr>
            <p:cNvPr id="86" name="Text 37"/>
            <p:cNvSpPr/>
            <p:nvPr/>
          </p:nvSpPr>
          <p:spPr>
            <a:xfrm>
              <a:off x="1011379" y="2617818"/>
              <a:ext cx="3429000" cy="548640"/>
            </a:xfrm>
            <a:prstGeom prst="rect">
              <a:avLst/>
            </a:prstGeom>
            <a:noFill/>
            <a:ln/>
          </p:spPr>
          <p:txBody>
            <a:bodyPr wrap="square" rtlCol="0" anchor="ctr"/>
            <a:lstStyle/>
            <a:p>
              <a:pPr marL="0" indent="0">
                <a:lnSpc>
                  <a:spcPct val="125000"/>
                </a:lnSpc>
                <a:buNone/>
              </a:pPr>
              <a:r>
                <a:rPr lang="en-US" sz="850" dirty="0">
                  <a:solidFill>
                    <a:srgbClr val="64748B"/>
                  </a:solidFill>
                  <a:latin typeface="Calibri" pitchFamily="34" charset="0"/>
                  <a:ea typeface="Calibri" pitchFamily="34" charset="-122"/>
                  <a:cs typeface="Calibri" pitchFamily="34" charset="-120"/>
                </a:rPr>
                <a:t>Almost entirely devoted to Chronic Hepatitis B (CHB). All antiviral classes: TAF/TDF, Entecavir, Lamivudine, PegIFN. Therapeutic vaccines and novel investigational agents (VIR-2218, </a:t>
              </a:r>
              <a:r>
                <a:rPr lang="en-US" sz="850" dirty="0" err="1">
                  <a:solidFill>
                    <a:srgbClr val="64748B"/>
                  </a:solidFill>
                  <a:latin typeface="Calibri" pitchFamily="34" charset="0"/>
                  <a:ea typeface="Calibri" pitchFamily="34" charset="-122"/>
                  <a:cs typeface="Calibri" pitchFamily="34" charset="-120"/>
                </a:rPr>
                <a:t>Bepirovirsen</a:t>
              </a:r>
              <a:r>
                <a:rPr lang="en-US" sz="850" dirty="0">
                  <a:solidFill>
                    <a:srgbClr val="64748B"/>
                  </a:solidFill>
                  <a:latin typeface="Calibri" pitchFamily="34" charset="0"/>
                  <a:ea typeface="Calibri" pitchFamily="34" charset="-122"/>
                  <a:cs typeface="Calibri" pitchFamily="34" charset="-120"/>
                </a:rPr>
                <a:t> (siRNA based)). Reflects the global HBV cure effort.</a:t>
              </a:r>
              <a:endParaRPr lang="en-US" sz="850" dirty="0"/>
            </a:p>
          </p:txBody>
        </p:sp>
        <p:sp>
          <p:nvSpPr>
            <p:cNvPr id="87" name="Text 38"/>
            <p:cNvSpPr/>
            <p:nvPr/>
          </p:nvSpPr>
          <p:spPr>
            <a:xfrm>
              <a:off x="1011379" y="3184746"/>
              <a:ext cx="3429000" cy="182880"/>
            </a:xfrm>
            <a:prstGeom prst="rect">
              <a:avLst/>
            </a:prstGeom>
            <a:noFill/>
            <a:ln/>
          </p:spPr>
          <p:txBody>
            <a:bodyPr wrap="square" rtlCol="0" anchor="ctr"/>
            <a:lstStyle/>
            <a:p>
              <a:pPr marL="0" indent="0">
                <a:buNone/>
              </a:pPr>
              <a:r>
                <a:rPr lang="en-US" sz="800" i="1" dirty="0">
                  <a:solidFill>
                    <a:srgbClr val="5B4FCF"/>
                  </a:solidFill>
                  <a:latin typeface="Calibri" pitchFamily="34" charset="0"/>
                  <a:ea typeface="Calibri" pitchFamily="34" charset="-122"/>
                  <a:cs typeface="Calibri" pitchFamily="34" charset="-120"/>
                </a:rPr>
                <a:t>TAF/TDF · Entecavir · PegIFN · HBV Vaccine · Bepirovirsen</a:t>
              </a:r>
              <a:endParaRPr lang="en-US" sz="800" dirty="0"/>
            </a:p>
          </p:txBody>
        </p:sp>
      </p:grpSp>
      <p:grpSp>
        <p:nvGrpSpPr>
          <p:cNvPr id="101" name="Group 100">
            <a:extLst>
              <a:ext uri="{FF2B5EF4-FFF2-40B4-BE49-F238E27FC236}">
                <a16:creationId xmlns:a16="http://schemas.microsoft.com/office/drawing/2014/main" id="{6FD25893-1E6B-127F-1BCE-5C5F823E9E03}"/>
              </a:ext>
            </a:extLst>
          </p:cNvPr>
          <p:cNvGrpSpPr/>
          <p:nvPr/>
        </p:nvGrpSpPr>
        <p:grpSpPr>
          <a:xfrm>
            <a:off x="126074" y="3469458"/>
            <a:ext cx="4203471" cy="1170432"/>
            <a:chOff x="295097" y="3573920"/>
            <a:chExt cx="4203471" cy="1170432"/>
          </a:xfrm>
        </p:grpSpPr>
        <p:sp>
          <p:nvSpPr>
            <p:cNvPr id="88" name="Shape 39"/>
            <p:cNvSpPr/>
            <p:nvPr/>
          </p:nvSpPr>
          <p:spPr>
            <a:xfrm>
              <a:off x="338048" y="3573920"/>
              <a:ext cx="4160520" cy="117043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89" name="Shape 40"/>
            <p:cNvSpPr/>
            <p:nvPr/>
          </p:nvSpPr>
          <p:spPr>
            <a:xfrm>
              <a:off x="338048" y="3573920"/>
              <a:ext cx="4160520" cy="73152"/>
            </a:xfrm>
            <a:prstGeom prst="rect">
              <a:avLst/>
            </a:prstGeom>
            <a:solidFill>
              <a:srgbClr val="0D9488"/>
            </a:solidFill>
            <a:ln/>
          </p:spPr>
        </p:sp>
        <p:sp>
          <p:nvSpPr>
            <p:cNvPr id="90" name="Shape 41"/>
            <p:cNvSpPr/>
            <p:nvPr/>
          </p:nvSpPr>
          <p:spPr>
            <a:xfrm>
              <a:off x="338048" y="3647072"/>
              <a:ext cx="594360" cy="1097280"/>
            </a:xfrm>
            <a:prstGeom prst="rect">
              <a:avLst/>
            </a:prstGeom>
            <a:solidFill>
              <a:srgbClr val="0D9488">
                <a:alpha val="12000"/>
              </a:srgbClr>
            </a:solidFill>
            <a:ln/>
          </p:spPr>
        </p:sp>
        <p:sp>
          <p:nvSpPr>
            <p:cNvPr id="91" name="Text 42"/>
            <p:cNvSpPr/>
            <p:nvPr/>
          </p:nvSpPr>
          <p:spPr>
            <a:xfrm>
              <a:off x="295097" y="3647072"/>
              <a:ext cx="685800" cy="411480"/>
            </a:xfrm>
            <a:prstGeom prst="rect">
              <a:avLst/>
            </a:prstGeom>
            <a:noFill/>
            <a:ln/>
          </p:spPr>
          <p:txBody>
            <a:bodyPr wrap="square" rtlCol="0" anchor="ctr"/>
            <a:lstStyle/>
            <a:p>
              <a:pPr algn="ctr"/>
              <a:r>
                <a:rPr lang="en-US" sz="800" b="1" dirty="0">
                  <a:solidFill>
                    <a:srgbClr val="0D9488"/>
                  </a:solidFill>
                  <a:latin typeface="Calibri" pitchFamily="34" charset="0"/>
                  <a:ea typeface="Calibri" pitchFamily="34" charset="-122"/>
                  <a:cs typeface="Calibri" pitchFamily="34" charset="-120"/>
                </a:rPr>
                <a:t>Community</a:t>
              </a:r>
              <a:r>
                <a:rPr lang="en-US" sz="800" b="1" dirty="0">
                  <a:solidFill>
                    <a:srgbClr val="5B4FCF"/>
                  </a:solidFill>
                  <a:latin typeface="Calibri" pitchFamily="34" charset="0"/>
                  <a:ea typeface="Calibri" pitchFamily="34" charset="-122"/>
                  <a:cs typeface="Calibri" pitchFamily="34" charset="-120"/>
                </a:rPr>
                <a:t> </a:t>
              </a:r>
            </a:p>
            <a:p>
              <a:pPr algn="ctr"/>
              <a:r>
                <a:rPr lang="en-US" sz="800" b="1" dirty="0">
                  <a:solidFill>
                    <a:srgbClr val="0D9488"/>
                  </a:solidFill>
                  <a:latin typeface="Calibri" pitchFamily="34" charset="0"/>
                  <a:ea typeface="Calibri" pitchFamily="34" charset="-122"/>
                  <a:cs typeface="Calibri" pitchFamily="34" charset="-120"/>
                </a:rPr>
                <a:t>#41</a:t>
              </a:r>
              <a:endParaRPr lang="en-US" sz="800" dirty="0"/>
            </a:p>
          </p:txBody>
        </p:sp>
        <p:sp>
          <p:nvSpPr>
            <p:cNvPr id="94" name="Text 45"/>
            <p:cNvSpPr/>
            <p:nvPr/>
          </p:nvSpPr>
          <p:spPr>
            <a:xfrm>
              <a:off x="978128" y="3665360"/>
              <a:ext cx="3429000" cy="256032"/>
            </a:xfrm>
            <a:prstGeom prst="rect">
              <a:avLst/>
            </a:prstGeom>
            <a:noFill/>
            <a:ln/>
          </p:spPr>
          <p:txBody>
            <a:bodyPr wrap="square" rtlCol="0" anchor="ctr"/>
            <a:lstStyle/>
            <a:p>
              <a:pPr marL="0" indent="0">
                <a:buNone/>
              </a:pPr>
              <a:r>
                <a:rPr lang="en-US" sz="1050" b="1" dirty="0">
                  <a:solidFill>
                    <a:srgbClr val="0F1F3D"/>
                  </a:solidFill>
                  <a:latin typeface="Calibri" pitchFamily="34" charset="0"/>
                  <a:ea typeface="Calibri" pitchFamily="34" charset="-122"/>
                  <a:cs typeface="Calibri" pitchFamily="34" charset="-120"/>
                </a:rPr>
                <a:t>Sleep Apnea, Obesity &amp; Pulmonary</a:t>
              </a:r>
              <a:endParaRPr lang="en-US" sz="1050" dirty="0"/>
            </a:p>
          </p:txBody>
        </p:sp>
        <p:sp>
          <p:nvSpPr>
            <p:cNvPr id="95" name="Text 46"/>
            <p:cNvSpPr/>
            <p:nvPr/>
          </p:nvSpPr>
          <p:spPr>
            <a:xfrm>
              <a:off x="978128" y="3921392"/>
              <a:ext cx="3429000" cy="548640"/>
            </a:xfrm>
            <a:prstGeom prst="rect">
              <a:avLst/>
            </a:prstGeom>
            <a:noFill/>
            <a:ln/>
          </p:spPr>
          <p:txBody>
            <a:bodyPr wrap="square" rtlCol="0" anchor="ctr"/>
            <a:lstStyle/>
            <a:p>
              <a:pPr marL="0" indent="0">
                <a:lnSpc>
                  <a:spcPct val="125000"/>
                </a:lnSpc>
                <a:buNone/>
              </a:pPr>
              <a:r>
                <a:rPr lang="en-US" sz="850" dirty="0">
                  <a:solidFill>
                    <a:srgbClr val="64748B"/>
                  </a:solidFill>
                  <a:latin typeface="Calibri" pitchFamily="34" charset="0"/>
                  <a:ea typeface="Calibri" pitchFamily="34" charset="-122"/>
                  <a:cs typeface="Calibri" pitchFamily="34" charset="-120"/>
                </a:rPr>
                <a:t>Obstructive sleep apnea (active vs sham CPAP), polysomnography endpoints, obesity interventions, asthma. Pirfenidone (IPF), Bosentan (PAH), Roflumilast (COPD). Hyperpolarized Xe-129 MRI, cutting edge pulmonary imaging.</a:t>
              </a:r>
              <a:endParaRPr lang="en-US" sz="850" dirty="0"/>
            </a:p>
          </p:txBody>
        </p:sp>
        <p:sp>
          <p:nvSpPr>
            <p:cNvPr id="96" name="Text 47"/>
            <p:cNvSpPr/>
            <p:nvPr/>
          </p:nvSpPr>
          <p:spPr>
            <a:xfrm>
              <a:off x="978128" y="4516028"/>
              <a:ext cx="3429000" cy="182880"/>
            </a:xfrm>
            <a:prstGeom prst="rect">
              <a:avLst/>
            </a:prstGeom>
            <a:noFill/>
            <a:ln/>
          </p:spPr>
          <p:txBody>
            <a:bodyPr wrap="square" rtlCol="0" anchor="ctr"/>
            <a:lstStyle/>
            <a:p>
              <a:pPr marL="0" indent="0">
                <a:buNone/>
              </a:pPr>
              <a:r>
                <a:rPr lang="en-US" sz="800" i="1" dirty="0">
                  <a:solidFill>
                    <a:srgbClr val="0D9488"/>
                  </a:solidFill>
                  <a:latin typeface="Calibri" pitchFamily="34" charset="0"/>
                  <a:ea typeface="Calibri" pitchFamily="34" charset="-122"/>
                  <a:cs typeface="Calibri" pitchFamily="34" charset="-120"/>
                </a:rPr>
                <a:t>CPAP · Sleep Apnea · Pirfenidone · Bosentan · Xe-129 MRI</a:t>
              </a:r>
              <a:endParaRPr lang="en-US" sz="800" dirty="0"/>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57200" y="438912"/>
            <a:ext cx="8229600" cy="50292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Communities 6–10: Cardiovascular, Immunology, Infectious Disease &amp; Beyond</a:t>
            </a:r>
            <a:endParaRPr lang="en-US" sz="1900" dirty="0"/>
          </a:p>
        </p:txBody>
      </p:sp>
      <p:sp>
        <p:nvSpPr>
          <p:cNvPr id="52" name="Rectangle 51">
            <a:extLst>
              <a:ext uri="{FF2B5EF4-FFF2-40B4-BE49-F238E27FC236}">
                <a16:creationId xmlns:a16="http://schemas.microsoft.com/office/drawing/2014/main" id="{3A23E2C4-B4C2-BD03-ADA4-388141AEE2FE}"/>
              </a:ext>
            </a:extLst>
          </p:cNvPr>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a:extLst>
              <a:ext uri="{FF2B5EF4-FFF2-40B4-BE49-F238E27FC236}">
                <a16:creationId xmlns:a16="http://schemas.microsoft.com/office/drawing/2014/main" id="{A845C325-13DF-A7A9-D613-2198D7AF9746}"/>
              </a:ext>
            </a:extLst>
          </p:cNvPr>
          <p:cNvSpPr txBox="1"/>
          <p:nvPr/>
        </p:nvSpPr>
        <p:spPr>
          <a:xfrm>
            <a:off x="320040" y="54864"/>
            <a:ext cx="8229600" cy="261610"/>
          </a:xfrm>
          <a:prstGeom prst="rect">
            <a:avLst/>
          </a:prstGeom>
          <a:noFill/>
        </p:spPr>
        <p:txBody>
          <a:bodyPr wrap="square">
            <a:spAutoFit/>
          </a:bodyPr>
          <a:lstStyle/>
          <a:p>
            <a:pPr algn="l"/>
            <a:r>
              <a:rPr sz="1100" b="1" i="0" dirty="0">
                <a:solidFill>
                  <a:srgbClr val="845EC2"/>
                </a:solidFill>
                <a:latin typeface="Calibri"/>
              </a:rPr>
              <a:t>04  /  NETWORK &amp; GRAPH ANALYTICS</a:t>
            </a:r>
            <a:r>
              <a:rPr lang="en-IN" sz="1100" b="1" i="0" dirty="0">
                <a:solidFill>
                  <a:srgbClr val="845EC2"/>
                </a:solidFill>
                <a:latin typeface="Calibri"/>
              </a:rPr>
              <a:t> – Drug Repurposing</a:t>
            </a:r>
            <a:endParaRPr sz="1100" b="1" i="0" dirty="0">
              <a:solidFill>
                <a:srgbClr val="845EC2"/>
              </a:solidFill>
              <a:latin typeface="Calibri"/>
            </a:endParaRPr>
          </a:p>
        </p:txBody>
      </p:sp>
      <p:graphicFrame>
        <p:nvGraphicFramePr>
          <p:cNvPr id="54" name="Chart 0">
            <a:extLst>
              <a:ext uri="{FF2B5EF4-FFF2-40B4-BE49-F238E27FC236}">
                <a16:creationId xmlns:a16="http://schemas.microsoft.com/office/drawing/2014/main" id="{AC30DA6D-FFA6-2756-B892-0D3AEB80F0E7}"/>
              </a:ext>
            </a:extLst>
          </p:cNvPr>
          <p:cNvGraphicFramePr/>
          <p:nvPr>
            <p:extLst>
              <p:ext uri="{D42A27DB-BD31-4B8C-83A1-F6EECF244321}">
                <p14:modId xmlns:p14="http://schemas.microsoft.com/office/powerpoint/2010/main" val="1436851583"/>
              </p:ext>
            </p:extLst>
          </p:nvPr>
        </p:nvGraphicFramePr>
        <p:xfrm>
          <a:off x="15520" y="502782"/>
          <a:ext cx="3685311" cy="4479731"/>
        </p:xfrm>
        <a:graphic>
          <a:graphicData uri="http://schemas.openxmlformats.org/drawingml/2006/chart">
            <c:chart xmlns:c="http://schemas.openxmlformats.org/drawingml/2006/chart" xmlns:r="http://schemas.openxmlformats.org/officeDocument/2006/relationships" r:id="rId3"/>
          </a:graphicData>
        </a:graphic>
      </p:graphicFrame>
      <p:sp>
        <p:nvSpPr>
          <p:cNvPr id="55" name="Shape 7">
            <a:extLst>
              <a:ext uri="{FF2B5EF4-FFF2-40B4-BE49-F238E27FC236}">
                <a16:creationId xmlns:a16="http://schemas.microsoft.com/office/drawing/2014/main" id="{6EB7AA90-CBDE-BFFD-7E68-24D8C54B22FA}"/>
              </a:ext>
            </a:extLst>
          </p:cNvPr>
          <p:cNvSpPr/>
          <p:nvPr/>
        </p:nvSpPr>
        <p:spPr>
          <a:xfrm>
            <a:off x="6340948" y="764493"/>
            <a:ext cx="2743200" cy="1447800"/>
          </a:xfrm>
          <a:prstGeom prst="rect">
            <a:avLst/>
          </a:prstGeom>
          <a:solidFill>
            <a:srgbClr val="FFFFFF"/>
          </a:solidFill>
          <a:ln w="12700">
            <a:solidFill>
              <a:srgbClr val="E05252"/>
            </a:solidFill>
            <a:prstDash val="solid"/>
          </a:ln>
          <a:effectLst>
            <a:outerShdw blurRad="101600" dist="38100" dir="8100000" algn="bl" rotWithShape="0">
              <a:srgbClr val="000000">
                <a:alpha val="10000"/>
              </a:srgbClr>
            </a:outerShdw>
          </a:effectLst>
        </p:spPr>
      </p:sp>
      <p:sp>
        <p:nvSpPr>
          <p:cNvPr id="56" name="Shape 8">
            <a:extLst>
              <a:ext uri="{FF2B5EF4-FFF2-40B4-BE49-F238E27FC236}">
                <a16:creationId xmlns:a16="http://schemas.microsoft.com/office/drawing/2014/main" id="{B1B63D3E-016E-BA40-3EA0-928CDE27C0B8}"/>
              </a:ext>
            </a:extLst>
          </p:cNvPr>
          <p:cNvSpPr/>
          <p:nvPr/>
        </p:nvSpPr>
        <p:spPr>
          <a:xfrm>
            <a:off x="6340948" y="764493"/>
            <a:ext cx="2743200" cy="300366"/>
          </a:xfrm>
          <a:prstGeom prst="rect">
            <a:avLst/>
          </a:prstGeom>
          <a:solidFill>
            <a:srgbClr val="E05252"/>
          </a:solidFill>
          <a:ln/>
        </p:spPr>
      </p:sp>
      <p:sp>
        <p:nvSpPr>
          <p:cNvPr id="57" name="Text 9">
            <a:extLst>
              <a:ext uri="{FF2B5EF4-FFF2-40B4-BE49-F238E27FC236}">
                <a16:creationId xmlns:a16="http://schemas.microsoft.com/office/drawing/2014/main" id="{A8F4D2C7-196B-1785-ADCF-2A084CEF1FE1}"/>
              </a:ext>
            </a:extLst>
          </p:cNvPr>
          <p:cNvSpPr/>
          <p:nvPr/>
        </p:nvSpPr>
        <p:spPr>
          <a:xfrm>
            <a:off x="6340948" y="817416"/>
            <a:ext cx="2743200" cy="181841"/>
          </a:xfrm>
          <a:prstGeom prst="rect">
            <a:avLst/>
          </a:prstGeom>
          <a:noFill/>
          <a:ln/>
        </p:spPr>
        <p:txBody>
          <a:bodyPr wrap="square" rtlCol="0" anchor="ctr"/>
          <a:lstStyle/>
          <a:p>
            <a:pPr algn="ctr"/>
            <a:r>
              <a:rPr lang="en-US" sz="1200" b="1" dirty="0">
                <a:solidFill>
                  <a:schemeClr val="bg1"/>
                </a:solidFill>
                <a:latin typeface="Calibri" pitchFamily="34" charset="0"/>
                <a:ea typeface="Calibri" pitchFamily="34" charset="-122"/>
                <a:cs typeface="Calibri" pitchFamily="34" charset="-120"/>
              </a:rPr>
              <a:t>Cytotoxic Drugs</a:t>
            </a:r>
            <a:endParaRPr lang="en-US" sz="1200" dirty="0">
              <a:solidFill>
                <a:schemeClr val="bg1"/>
              </a:solidFill>
            </a:endParaRPr>
          </a:p>
        </p:txBody>
      </p:sp>
      <p:sp>
        <p:nvSpPr>
          <p:cNvPr id="58" name="Text 10">
            <a:extLst>
              <a:ext uri="{FF2B5EF4-FFF2-40B4-BE49-F238E27FC236}">
                <a16:creationId xmlns:a16="http://schemas.microsoft.com/office/drawing/2014/main" id="{50F708D7-66BC-40A3-D2B4-21F21E378B42}"/>
              </a:ext>
            </a:extLst>
          </p:cNvPr>
          <p:cNvSpPr/>
          <p:nvPr/>
        </p:nvSpPr>
        <p:spPr>
          <a:xfrm>
            <a:off x="6450676" y="1249125"/>
            <a:ext cx="2523744" cy="155864"/>
          </a:xfrm>
          <a:prstGeom prst="rect">
            <a:avLst/>
          </a:prstGeom>
          <a:noFill/>
          <a:ln/>
        </p:spPr>
        <p:txBody>
          <a:bodyPr wrap="square" rtlCol="0" anchor="ctr"/>
          <a:lstStyle/>
          <a:p>
            <a:pPr marL="0" indent="0">
              <a:buNone/>
            </a:pPr>
            <a:endParaRPr lang="en-US" sz="1100" dirty="0"/>
          </a:p>
        </p:txBody>
      </p:sp>
      <p:sp>
        <p:nvSpPr>
          <p:cNvPr id="59" name="Text 11">
            <a:extLst>
              <a:ext uri="{FF2B5EF4-FFF2-40B4-BE49-F238E27FC236}">
                <a16:creationId xmlns:a16="http://schemas.microsoft.com/office/drawing/2014/main" id="{F9962405-77B3-EB00-B30C-98A62367F09A}"/>
              </a:ext>
            </a:extLst>
          </p:cNvPr>
          <p:cNvSpPr/>
          <p:nvPr/>
        </p:nvSpPr>
        <p:spPr>
          <a:xfrm>
            <a:off x="6327370" y="1024196"/>
            <a:ext cx="2770355" cy="1159609"/>
          </a:xfrm>
          <a:prstGeom prst="rect">
            <a:avLst/>
          </a:prstGeom>
          <a:noFill/>
          <a:ln/>
        </p:spPr>
        <p:txBody>
          <a:bodyPr wrap="square" rtlCol="0" anchor="ctr"/>
          <a:lstStyle/>
          <a:p>
            <a:pPr marL="0" indent="0">
              <a:lnSpc>
                <a:spcPct val="140000"/>
              </a:lnSpc>
              <a:buNone/>
            </a:pPr>
            <a:r>
              <a:rPr lang="en-US" sz="800" dirty="0">
                <a:solidFill>
                  <a:srgbClr val="64748B"/>
                </a:solidFill>
                <a:latin typeface="Calibri" pitchFamily="34" charset="0"/>
                <a:ea typeface="Calibri" pitchFamily="34" charset="-122"/>
                <a:cs typeface="Calibri" pitchFamily="34" charset="-120"/>
              </a:rPr>
              <a:t>Cyclophosphamide, Carboplatin, Cisplatin, Paclitaxel, Gemcitabine, appear in combination regimens across virtually all solid and haematological cancers. High condition breadth is partly combinatorial (many tumor subtypes tested) but also reflects genuine mechanistic versatility via DNA damage and immune modulation.</a:t>
            </a:r>
            <a:endParaRPr lang="en-US" sz="800" dirty="0"/>
          </a:p>
        </p:txBody>
      </p:sp>
      <p:sp>
        <p:nvSpPr>
          <p:cNvPr id="60" name="Shape 12">
            <a:extLst>
              <a:ext uri="{FF2B5EF4-FFF2-40B4-BE49-F238E27FC236}">
                <a16:creationId xmlns:a16="http://schemas.microsoft.com/office/drawing/2014/main" id="{C4AC3300-C680-EB70-35A1-C436FBB72319}"/>
              </a:ext>
            </a:extLst>
          </p:cNvPr>
          <p:cNvSpPr/>
          <p:nvPr/>
        </p:nvSpPr>
        <p:spPr>
          <a:xfrm>
            <a:off x="3542884" y="768927"/>
            <a:ext cx="2743200" cy="1443366"/>
          </a:xfrm>
          <a:prstGeom prst="rect">
            <a:avLst/>
          </a:prstGeom>
          <a:solidFill>
            <a:srgbClr val="FFFFFF"/>
          </a:solidFill>
          <a:ln w="12700">
            <a:solidFill>
              <a:srgbClr val="5B4FCF"/>
            </a:solidFill>
            <a:prstDash val="solid"/>
          </a:ln>
          <a:effectLst>
            <a:outerShdw blurRad="101600" dist="38100" dir="8100000" algn="bl" rotWithShape="0">
              <a:srgbClr val="000000">
                <a:alpha val="10000"/>
              </a:srgbClr>
            </a:outerShdw>
          </a:effectLst>
        </p:spPr>
      </p:sp>
      <p:sp>
        <p:nvSpPr>
          <p:cNvPr id="61" name="Shape 13">
            <a:extLst>
              <a:ext uri="{FF2B5EF4-FFF2-40B4-BE49-F238E27FC236}">
                <a16:creationId xmlns:a16="http://schemas.microsoft.com/office/drawing/2014/main" id="{604A4291-C858-A5E2-4B3C-C85481B820D3}"/>
              </a:ext>
            </a:extLst>
          </p:cNvPr>
          <p:cNvSpPr/>
          <p:nvPr/>
        </p:nvSpPr>
        <p:spPr>
          <a:xfrm>
            <a:off x="3542884" y="768927"/>
            <a:ext cx="2743200" cy="300366"/>
          </a:xfrm>
          <a:prstGeom prst="rect">
            <a:avLst/>
          </a:prstGeom>
          <a:solidFill>
            <a:srgbClr val="5B4FCF"/>
          </a:solidFill>
          <a:ln/>
        </p:spPr>
      </p:sp>
      <p:sp>
        <p:nvSpPr>
          <p:cNvPr id="63" name="Text 15">
            <a:extLst>
              <a:ext uri="{FF2B5EF4-FFF2-40B4-BE49-F238E27FC236}">
                <a16:creationId xmlns:a16="http://schemas.microsoft.com/office/drawing/2014/main" id="{B23560FB-F9E6-7381-1C64-2ADB55461FD6}"/>
              </a:ext>
            </a:extLst>
          </p:cNvPr>
          <p:cNvSpPr/>
          <p:nvPr/>
        </p:nvSpPr>
        <p:spPr>
          <a:xfrm>
            <a:off x="4118678" y="819182"/>
            <a:ext cx="1500449" cy="203384"/>
          </a:xfrm>
          <a:prstGeom prst="rect">
            <a:avLst/>
          </a:prstGeom>
          <a:noFill/>
          <a:ln/>
        </p:spPr>
        <p:txBody>
          <a:bodyPr wrap="square" rtlCol="0" anchor="ctr"/>
          <a:lstStyle/>
          <a:p>
            <a:pPr marL="0" indent="0">
              <a:buNone/>
            </a:pPr>
            <a:r>
              <a:rPr lang="en-US" sz="1100" b="1" dirty="0">
                <a:solidFill>
                  <a:schemeClr val="bg1"/>
                </a:solidFill>
                <a:latin typeface="Calibri" pitchFamily="34" charset="0"/>
                <a:ea typeface="Calibri" pitchFamily="34" charset="-122"/>
                <a:cs typeface="Calibri" pitchFamily="34" charset="-120"/>
              </a:rPr>
              <a:t>Checkpoint Inhibitors</a:t>
            </a:r>
            <a:endParaRPr lang="en-US" sz="1100" dirty="0">
              <a:solidFill>
                <a:schemeClr val="bg1"/>
              </a:solidFill>
            </a:endParaRPr>
          </a:p>
        </p:txBody>
      </p:sp>
      <p:sp>
        <p:nvSpPr>
          <p:cNvPr id="64" name="Text 16">
            <a:extLst>
              <a:ext uri="{FF2B5EF4-FFF2-40B4-BE49-F238E27FC236}">
                <a16:creationId xmlns:a16="http://schemas.microsoft.com/office/drawing/2014/main" id="{704F36B2-8192-44B6-B32F-C0F9476D0345}"/>
              </a:ext>
            </a:extLst>
          </p:cNvPr>
          <p:cNvSpPr/>
          <p:nvPr/>
        </p:nvSpPr>
        <p:spPr>
          <a:xfrm>
            <a:off x="3535956" y="1149646"/>
            <a:ext cx="2743199" cy="910868"/>
          </a:xfrm>
          <a:prstGeom prst="rect">
            <a:avLst/>
          </a:prstGeom>
          <a:noFill/>
          <a:ln/>
        </p:spPr>
        <p:txBody>
          <a:bodyPr wrap="square" rtlCol="0" anchor="ctr"/>
          <a:lstStyle/>
          <a:p>
            <a:pPr marL="0" indent="0">
              <a:lnSpc>
                <a:spcPct val="140000"/>
              </a:lnSpc>
              <a:buNone/>
            </a:pPr>
            <a:r>
              <a:rPr lang="en-US" sz="800" dirty="0">
                <a:solidFill>
                  <a:srgbClr val="64748B"/>
                </a:solidFill>
                <a:latin typeface="Calibri" pitchFamily="34" charset="0"/>
                <a:ea typeface="Calibri" pitchFamily="34" charset="-122"/>
                <a:cs typeface="Calibri" pitchFamily="34" charset="-120"/>
              </a:rPr>
              <a:t>Pembrolizumab, Nivolumab, Ipilimumab, Durvalumab, Atezolizumab, expanded from melanoma/NSCLC into dozens of tumor types. Nivolumab appears in HBV and COVID19 trials, signaling cross disease immune axis potential via PD1 blockade beyond oncology.</a:t>
            </a:r>
            <a:endParaRPr lang="en-US" sz="800" dirty="0"/>
          </a:p>
        </p:txBody>
      </p:sp>
      <p:sp>
        <p:nvSpPr>
          <p:cNvPr id="65" name="Shape 17">
            <a:extLst>
              <a:ext uri="{FF2B5EF4-FFF2-40B4-BE49-F238E27FC236}">
                <a16:creationId xmlns:a16="http://schemas.microsoft.com/office/drawing/2014/main" id="{6C4C79A8-B034-0E0E-A513-4D7C78E0D10F}"/>
              </a:ext>
            </a:extLst>
          </p:cNvPr>
          <p:cNvSpPr/>
          <p:nvPr/>
        </p:nvSpPr>
        <p:spPr>
          <a:xfrm>
            <a:off x="4907555" y="2351596"/>
            <a:ext cx="2743200" cy="1215829"/>
          </a:xfrm>
          <a:prstGeom prst="rect">
            <a:avLst/>
          </a:prstGeom>
          <a:solidFill>
            <a:srgbClr val="FFFFFF"/>
          </a:solidFill>
          <a:ln w="12700">
            <a:solidFill>
              <a:srgbClr val="0D9488"/>
            </a:solidFill>
            <a:prstDash val="solid"/>
          </a:ln>
          <a:effectLst>
            <a:outerShdw blurRad="101600" dist="38100" dir="8100000" algn="bl" rotWithShape="0">
              <a:srgbClr val="000000">
                <a:alpha val="10000"/>
              </a:srgbClr>
            </a:outerShdw>
          </a:effectLst>
        </p:spPr>
      </p:sp>
      <p:sp>
        <p:nvSpPr>
          <p:cNvPr id="66" name="Shape 18">
            <a:extLst>
              <a:ext uri="{FF2B5EF4-FFF2-40B4-BE49-F238E27FC236}">
                <a16:creationId xmlns:a16="http://schemas.microsoft.com/office/drawing/2014/main" id="{6D00D727-CCE5-C067-D29F-8C202D39A6DA}"/>
              </a:ext>
            </a:extLst>
          </p:cNvPr>
          <p:cNvSpPr/>
          <p:nvPr/>
        </p:nvSpPr>
        <p:spPr>
          <a:xfrm>
            <a:off x="4907555" y="2347722"/>
            <a:ext cx="2743200" cy="300366"/>
          </a:xfrm>
          <a:prstGeom prst="rect">
            <a:avLst/>
          </a:prstGeom>
          <a:solidFill>
            <a:srgbClr val="0D9488"/>
          </a:solidFill>
          <a:ln/>
        </p:spPr>
      </p:sp>
      <p:sp>
        <p:nvSpPr>
          <p:cNvPr id="68" name="Text 20">
            <a:extLst>
              <a:ext uri="{FF2B5EF4-FFF2-40B4-BE49-F238E27FC236}">
                <a16:creationId xmlns:a16="http://schemas.microsoft.com/office/drawing/2014/main" id="{66228866-587B-875F-D5BC-927E6FB99C58}"/>
              </a:ext>
            </a:extLst>
          </p:cNvPr>
          <p:cNvSpPr/>
          <p:nvPr/>
        </p:nvSpPr>
        <p:spPr>
          <a:xfrm>
            <a:off x="5795633" y="2318904"/>
            <a:ext cx="1090630" cy="329184"/>
          </a:xfrm>
          <a:prstGeom prst="rect">
            <a:avLst/>
          </a:prstGeom>
          <a:noFill/>
          <a:ln/>
        </p:spPr>
        <p:txBody>
          <a:bodyPr wrap="square" rtlCol="0" anchor="ctr"/>
          <a:lstStyle/>
          <a:p>
            <a:pPr marL="0" indent="0">
              <a:buNone/>
            </a:pPr>
            <a:r>
              <a:rPr lang="en-US" sz="1100" b="1" dirty="0">
                <a:solidFill>
                  <a:schemeClr val="bg1"/>
                </a:solidFill>
                <a:latin typeface="Calibri" pitchFamily="34" charset="0"/>
                <a:ea typeface="Calibri" pitchFamily="34" charset="-122"/>
                <a:cs typeface="Calibri" pitchFamily="34" charset="-120"/>
              </a:rPr>
              <a:t>Corticosteroid</a:t>
            </a:r>
            <a:endParaRPr lang="en-US" sz="1100" dirty="0">
              <a:solidFill>
                <a:schemeClr val="bg1"/>
              </a:solidFill>
            </a:endParaRPr>
          </a:p>
        </p:txBody>
      </p:sp>
      <p:sp>
        <p:nvSpPr>
          <p:cNvPr id="69" name="Text 21">
            <a:extLst>
              <a:ext uri="{FF2B5EF4-FFF2-40B4-BE49-F238E27FC236}">
                <a16:creationId xmlns:a16="http://schemas.microsoft.com/office/drawing/2014/main" id="{1CC236D6-69B4-0274-3297-719A5C129547}"/>
              </a:ext>
            </a:extLst>
          </p:cNvPr>
          <p:cNvSpPr/>
          <p:nvPr/>
        </p:nvSpPr>
        <p:spPr>
          <a:xfrm>
            <a:off x="4912128" y="2665163"/>
            <a:ext cx="2743199" cy="803289"/>
          </a:xfrm>
          <a:prstGeom prst="rect">
            <a:avLst/>
          </a:prstGeom>
          <a:noFill/>
          <a:ln/>
        </p:spPr>
        <p:txBody>
          <a:bodyPr wrap="square" rtlCol="0" anchor="ctr"/>
          <a:lstStyle/>
          <a:p>
            <a:pPr marL="0" indent="0">
              <a:lnSpc>
                <a:spcPct val="140000"/>
              </a:lnSpc>
              <a:buNone/>
            </a:pPr>
            <a:r>
              <a:rPr lang="en-US" sz="800" dirty="0">
                <a:solidFill>
                  <a:srgbClr val="64748B"/>
                </a:solidFill>
                <a:latin typeface="Calibri" pitchFamily="34" charset="0"/>
                <a:ea typeface="Calibri" pitchFamily="34" charset="-122"/>
                <a:cs typeface="Calibri" pitchFamily="34" charset="-120"/>
              </a:rPr>
              <a:t>Dexamethasone, the sole non oncology drug in the top tier. Spans inflammation, surgery, sepsis, respiratory distress (ARDS), haematology. Its inclusion in the COVID19 RECOVERY trial is an example of repurposing success.</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274320" y="662247"/>
            <a:ext cx="4160520" cy="16916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6" name="Shape 4"/>
          <p:cNvSpPr/>
          <p:nvPr/>
        </p:nvSpPr>
        <p:spPr>
          <a:xfrm>
            <a:off x="274320" y="662247"/>
            <a:ext cx="502920" cy="1691640"/>
          </a:xfrm>
          <a:prstGeom prst="rect">
            <a:avLst/>
          </a:prstGeom>
          <a:solidFill>
            <a:srgbClr val="5B4FCF">
              <a:alpha val="12000"/>
            </a:srgbClr>
          </a:solidFill>
          <a:ln/>
        </p:spPr>
      </p:sp>
      <p:sp>
        <p:nvSpPr>
          <p:cNvPr id="7" name="Text 5"/>
          <p:cNvSpPr/>
          <p:nvPr/>
        </p:nvSpPr>
        <p:spPr>
          <a:xfrm>
            <a:off x="274320" y="662247"/>
            <a:ext cx="502920" cy="1691640"/>
          </a:xfrm>
          <a:prstGeom prst="rect">
            <a:avLst/>
          </a:prstGeom>
          <a:noFill/>
          <a:ln/>
        </p:spPr>
        <p:txBody>
          <a:bodyPr wrap="square" rtlCol="0" anchor="ctr"/>
          <a:lstStyle/>
          <a:p>
            <a:pPr marL="0" indent="0" algn="ctr">
              <a:buNone/>
            </a:pPr>
            <a:r>
              <a:rPr lang="en-US" sz="2800" b="1" dirty="0">
                <a:solidFill>
                  <a:srgbClr val="5B4FCF"/>
                </a:solidFill>
                <a:latin typeface="Calibri" pitchFamily="34" charset="0"/>
                <a:ea typeface="Calibri" pitchFamily="34" charset="-122"/>
                <a:cs typeface="Calibri" pitchFamily="34" charset="-120"/>
              </a:rPr>
              <a:t>1</a:t>
            </a:r>
            <a:endParaRPr lang="en-US" sz="2800" dirty="0"/>
          </a:p>
        </p:txBody>
      </p:sp>
      <p:sp>
        <p:nvSpPr>
          <p:cNvPr id="8" name="Text 6"/>
          <p:cNvSpPr/>
          <p:nvPr/>
        </p:nvSpPr>
        <p:spPr>
          <a:xfrm>
            <a:off x="868680" y="771975"/>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ea typeface="Calibri" pitchFamily="34" charset="-122"/>
                <a:cs typeface="Calibri" pitchFamily="34" charset="-120"/>
              </a:rPr>
              <a:t>Disease burden drives graph structure</a:t>
            </a:r>
            <a:endParaRPr lang="en-US" sz="1150" dirty="0"/>
          </a:p>
        </p:txBody>
      </p:sp>
      <p:sp>
        <p:nvSpPr>
          <p:cNvPr id="9" name="Shape 7"/>
          <p:cNvSpPr/>
          <p:nvPr/>
        </p:nvSpPr>
        <p:spPr>
          <a:xfrm>
            <a:off x="868680" y="1165167"/>
            <a:ext cx="3291840" cy="0"/>
          </a:xfrm>
          <a:prstGeom prst="line">
            <a:avLst/>
          </a:prstGeom>
          <a:noFill/>
          <a:ln w="12700">
            <a:solidFill>
              <a:srgbClr val="5B4FCF"/>
            </a:solidFill>
            <a:prstDash val="solid"/>
          </a:ln>
        </p:spPr>
      </p:sp>
      <p:sp>
        <p:nvSpPr>
          <p:cNvPr id="10" name="Text 8"/>
          <p:cNvSpPr/>
          <p:nvPr/>
        </p:nvSpPr>
        <p:spPr>
          <a:xfrm>
            <a:off x="868680" y="1256607"/>
            <a:ext cx="3474720" cy="1024128"/>
          </a:xfrm>
          <a:prstGeom prst="rect">
            <a:avLst/>
          </a:prstGeom>
          <a:noFill/>
          <a:ln/>
        </p:spPr>
        <p:txBody>
          <a:bodyPr wrap="square" rtlCol="0" anchor="ctr"/>
          <a:lstStyle/>
          <a:p>
            <a:pPr marL="0" indent="0">
              <a:lnSpc>
                <a:spcPct val="140000"/>
              </a:lnSpc>
              <a:buNone/>
            </a:pPr>
            <a:r>
              <a:rPr lang="en-US" sz="950" dirty="0">
                <a:latin typeface="Calibri" pitchFamily="34" charset="0"/>
                <a:ea typeface="Calibri" pitchFamily="34" charset="-122"/>
                <a:cs typeface="Calibri" pitchFamily="34" charset="-120"/>
              </a:rPr>
              <a:t>Degree centrality is dominated by conditions , reflecting that disease prevalence and funding priority determine how many drugs get tested against a given condition. Obesity, Breast Cancer, Stroke, and Pain are the most contested disease nodes in the entire trial network.</a:t>
            </a:r>
            <a:endParaRPr lang="en-US" sz="950" dirty="0"/>
          </a:p>
        </p:txBody>
      </p:sp>
      <p:sp>
        <p:nvSpPr>
          <p:cNvPr id="11" name="Shape 9"/>
          <p:cNvSpPr/>
          <p:nvPr/>
        </p:nvSpPr>
        <p:spPr>
          <a:xfrm>
            <a:off x="4709160" y="662247"/>
            <a:ext cx="4160520" cy="16916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2" name="Shape 10"/>
          <p:cNvSpPr/>
          <p:nvPr/>
        </p:nvSpPr>
        <p:spPr>
          <a:xfrm>
            <a:off x="4709160" y="662247"/>
            <a:ext cx="502920" cy="1691640"/>
          </a:xfrm>
          <a:prstGeom prst="rect">
            <a:avLst/>
          </a:prstGeom>
          <a:solidFill>
            <a:srgbClr val="0D9488">
              <a:alpha val="12000"/>
            </a:srgbClr>
          </a:solidFill>
          <a:ln/>
        </p:spPr>
      </p:sp>
      <p:sp>
        <p:nvSpPr>
          <p:cNvPr id="13" name="Text 11"/>
          <p:cNvSpPr/>
          <p:nvPr/>
        </p:nvSpPr>
        <p:spPr>
          <a:xfrm>
            <a:off x="4709160" y="662247"/>
            <a:ext cx="502920" cy="1691640"/>
          </a:xfrm>
          <a:prstGeom prst="rect">
            <a:avLst/>
          </a:prstGeom>
          <a:noFill/>
          <a:ln/>
        </p:spPr>
        <p:txBody>
          <a:bodyPr wrap="square" rtlCol="0" anchor="ctr"/>
          <a:lstStyle/>
          <a:p>
            <a:pPr marL="0" indent="0" algn="ctr">
              <a:buNone/>
            </a:pPr>
            <a:r>
              <a:rPr lang="en-US" sz="2800" b="1" dirty="0">
                <a:solidFill>
                  <a:srgbClr val="0D9488"/>
                </a:solidFill>
                <a:latin typeface="Calibri" pitchFamily="34" charset="0"/>
                <a:ea typeface="Calibri" pitchFamily="34" charset="-122"/>
                <a:cs typeface="Calibri" pitchFamily="34" charset="-120"/>
              </a:rPr>
              <a:t>2</a:t>
            </a:r>
            <a:endParaRPr lang="en-US" sz="2800" dirty="0"/>
          </a:p>
        </p:txBody>
      </p:sp>
      <p:sp>
        <p:nvSpPr>
          <p:cNvPr id="14" name="Text 12"/>
          <p:cNvSpPr/>
          <p:nvPr/>
        </p:nvSpPr>
        <p:spPr>
          <a:xfrm>
            <a:off x="5303520" y="771975"/>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ea typeface="Calibri" pitchFamily="34" charset="-122"/>
                <a:cs typeface="Calibri" pitchFamily="34" charset="-120"/>
              </a:rPr>
              <a:t>Betweenness reveals hidden cross domain connectors</a:t>
            </a:r>
            <a:endParaRPr lang="en-US" sz="1150" dirty="0"/>
          </a:p>
        </p:txBody>
      </p:sp>
      <p:sp>
        <p:nvSpPr>
          <p:cNvPr id="15" name="Shape 13"/>
          <p:cNvSpPr/>
          <p:nvPr/>
        </p:nvSpPr>
        <p:spPr>
          <a:xfrm>
            <a:off x="5303520" y="1165167"/>
            <a:ext cx="3291840" cy="0"/>
          </a:xfrm>
          <a:prstGeom prst="line">
            <a:avLst/>
          </a:prstGeom>
          <a:noFill/>
          <a:ln w="12700">
            <a:solidFill>
              <a:srgbClr val="0D9488"/>
            </a:solidFill>
            <a:prstDash val="solid"/>
          </a:ln>
        </p:spPr>
      </p:sp>
      <p:sp>
        <p:nvSpPr>
          <p:cNvPr id="16" name="Text 14"/>
          <p:cNvSpPr/>
          <p:nvPr/>
        </p:nvSpPr>
        <p:spPr>
          <a:xfrm>
            <a:off x="5303520" y="1256607"/>
            <a:ext cx="3474720" cy="1024128"/>
          </a:xfrm>
          <a:prstGeom prst="rect">
            <a:avLst/>
          </a:prstGeom>
          <a:noFill/>
          <a:ln/>
        </p:spPr>
        <p:txBody>
          <a:bodyPr wrap="square" rtlCol="0" anchor="ctr"/>
          <a:lstStyle/>
          <a:p>
            <a:pPr marL="0" indent="0">
              <a:lnSpc>
                <a:spcPct val="140000"/>
              </a:lnSpc>
              <a:buNone/>
            </a:pPr>
            <a:r>
              <a:rPr lang="en-US" sz="950" dirty="0">
                <a:latin typeface="Calibri" pitchFamily="34" charset="0"/>
                <a:ea typeface="Calibri" pitchFamily="34" charset="-122"/>
                <a:cs typeface="Calibri" pitchFamily="34" charset="-120"/>
              </a:rPr>
              <a:t>Knee Osteoarthritis, Infertility, and Epilepsy act as structural bridges despite moderate trial volume. Dexamethasone is the only drug with this bridging role, its cross indication presence in every major disease domain makes it irreplaceable to the network's connectivity.</a:t>
            </a:r>
            <a:endParaRPr lang="en-US" sz="950" dirty="0"/>
          </a:p>
        </p:txBody>
      </p:sp>
      <p:sp>
        <p:nvSpPr>
          <p:cNvPr id="17" name="Shape 15"/>
          <p:cNvSpPr/>
          <p:nvPr/>
        </p:nvSpPr>
        <p:spPr>
          <a:xfrm>
            <a:off x="274320" y="2491047"/>
            <a:ext cx="4160520" cy="16916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8" name="Shape 16"/>
          <p:cNvSpPr/>
          <p:nvPr/>
        </p:nvSpPr>
        <p:spPr>
          <a:xfrm>
            <a:off x="274320" y="2491047"/>
            <a:ext cx="502920" cy="1691640"/>
          </a:xfrm>
          <a:prstGeom prst="rect">
            <a:avLst/>
          </a:prstGeom>
          <a:solidFill>
            <a:srgbClr val="D97706">
              <a:alpha val="12000"/>
            </a:srgbClr>
          </a:solidFill>
          <a:ln/>
        </p:spPr>
      </p:sp>
      <p:sp>
        <p:nvSpPr>
          <p:cNvPr id="19" name="Text 17"/>
          <p:cNvSpPr/>
          <p:nvPr/>
        </p:nvSpPr>
        <p:spPr>
          <a:xfrm>
            <a:off x="274320" y="2491047"/>
            <a:ext cx="502920" cy="1691640"/>
          </a:xfrm>
          <a:prstGeom prst="rect">
            <a:avLst/>
          </a:prstGeom>
          <a:noFill/>
          <a:ln/>
        </p:spPr>
        <p:txBody>
          <a:bodyPr wrap="square" rtlCol="0" anchor="ctr"/>
          <a:lstStyle/>
          <a:p>
            <a:pPr marL="0" indent="0" algn="ctr">
              <a:buNone/>
            </a:pPr>
            <a:r>
              <a:rPr lang="en-US" sz="2800" b="1" dirty="0">
                <a:solidFill>
                  <a:srgbClr val="D97706"/>
                </a:solidFill>
                <a:latin typeface="Calibri" pitchFamily="34" charset="0"/>
                <a:ea typeface="Calibri" pitchFamily="34" charset="-122"/>
                <a:cs typeface="Calibri" pitchFamily="34" charset="-120"/>
              </a:rPr>
              <a:t>3</a:t>
            </a:r>
            <a:endParaRPr lang="en-US" sz="2800" dirty="0"/>
          </a:p>
        </p:txBody>
      </p:sp>
      <p:sp>
        <p:nvSpPr>
          <p:cNvPr id="20" name="Text 18"/>
          <p:cNvSpPr/>
          <p:nvPr/>
        </p:nvSpPr>
        <p:spPr>
          <a:xfrm>
            <a:off x="868680" y="2600775"/>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ea typeface="Calibri" pitchFamily="34" charset="-122"/>
                <a:cs typeface="Calibri" pitchFamily="34" charset="-120"/>
              </a:rPr>
              <a:t>Louvain communities map to real biomedical domains</a:t>
            </a:r>
            <a:endParaRPr lang="en-US" sz="1150" dirty="0"/>
          </a:p>
        </p:txBody>
      </p:sp>
      <p:sp>
        <p:nvSpPr>
          <p:cNvPr id="21" name="Shape 19"/>
          <p:cNvSpPr/>
          <p:nvPr/>
        </p:nvSpPr>
        <p:spPr>
          <a:xfrm>
            <a:off x="868680" y="2993967"/>
            <a:ext cx="3291840" cy="0"/>
          </a:xfrm>
          <a:prstGeom prst="line">
            <a:avLst/>
          </a:prstGeom>
          <a:noFill/>
          <a:ln w="12700">
            <a:solidFill>
              <a:srgbClr val="D97706"/>
            </a:solidFill>
            <a:prstDash val="solid"/>
          </a:ln>
        </p:spPr>
      </p:sp>
      <p:sp>
        <p:nvSpPr>
          <p:cNvPr id="22" name="Text 20"/>
          <p:cNvSpPr/>
          <p:nvPr/>
        </p:nvSpPr>
        <p:spPr>
          <a:xfrm>
            <a:off x="868680" y="3085407"/>
            <a:ext cx="3474720" cy="1024128"/>
          </a:xfrm>
          <a:prstGeom prst="rect">
            <a:avLst/>
          </a:prstGeom>
          <a:noFill/>
          <a:ln/>
        </p:spPr>
        <p:txBody>
          <a:bodyPr wrap="square" rtlCol="0" anchor="ctr"/>
          <a:lstStyle/>
          <a:p>
            <a:pPr marL="0" indent="0">
              <a:lnSpc>
                <a:spcPct val="140000"/>
              </a:lnSpc>
              <a:buNone/>
            </a:pPr>
            <a:r>
              <a:rPr lang="en-US" sz="950" dirty="0">
                <a:latin typeface="Calibri" pitchFamily="34" charset="0"/>
                <a:ea typeface="Calibri" pitchFamily="34" charset="-122"/>
                <a:cs typeface="Calibri" pitchFamily="34" charset="-120"/>
              </a:rPr>
              <a:t>All 10 largest communities correspond to coherent therapeutic areas: metabolic disease, oncology, cardiovascular, infectious disease, and virology. The HBV community (#0) is the most specific community almost exclusively devoted to one pathogen's eradication.</a:t>
            </a:r>
            <a:endParaRPr lang="en-US" sz="950" dirty="0"/>
          </a:p>
        </p:txBody>
      </p:sp>
      <p:sp>
        <p:nvSpPr>
          <p:cNvPr id="23" name="Shape 21"/>
          <p:cNvSpPr/>
          <p:nvPr/>
        </p:nvSpPr>
        <p:spPr>
          <a:xfrm>
            <a:off x="4709160" y="2491047"/>
            <a:ext cx="4160520" cy="16916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4" name="Shape 22"/>
          <p:cNvSpPr/>
          <p:nvPr/>
        </p:nvSpPr>
        <p:spPr>
          <a:xfrm>
            <a:off x="4709160" y="2491047"/>
            <a:ext cx="502920" cy="1691640"/>
          </a:xfrm>
          <a:prstGeom prst="rect">
            <a:avLst/>
          </a:prstGeom>
          <a:solidFill>
            <a:srgbClr val="E05252">
              <a:alpha val="12000"/>
            </a:srgbClr>
          </a:solidFill>
          <a:ln/>
        </p:spPr>
      </p:sp>
      <p:sp>
        <p:nvSpPr>
          <p:cNvPr id="25" name="Text 23"/>
          <p:cNvSpPr/>
          <p:nvPr/>
        </p:nvSpPr>
        <p:spPr>
          <a:xfrm>
            <a:off x="4709160" y="2491047"/>
            <a:ext cx="502920" cy="1691640"/>
          </a:xfrm>
          <a:prstGeom prst="rect">
            <a:avLst/>
          </a:prstGeom>
          <a:noFill/>
          <a:ln/>
        </p:spPr>
        <p:txBody>
          <a:bodyPr wrap="square" rtlCol="0" anchor="ctr"/>
          <a:lstStyle/>
          <a:p>
            <a:pPr marL="0" indent="0" algn="ctr">
              <a:buNone/>
            </a:pPr>
            <a:r>
              <a:rPr lang="en-US" sz="2800" b="1" dirty="0">
                <a:solidFill>
                  <a:srgbClr val="E05252"/>
                </a:solidFill>
                <a:latin typeface="Calibri" pitchFamily="34" charset="0"/>
                <a:ea typeface="Calibri" pitchFamily="34" charset="-122"/>
                <a:cs typeface="Calibri" pitchFamily="34" charset="-120"/>
              </a:rPr>
              <a:t>4</a:t>
            </a:r>
            <a:endParaRPr lang="en-US" sz="2800" dirty="0"/>
          </a:p>
        </p:txBody>
      </p:sp>
      <p:sp>
        <p:nvSpPr>
          <p:cNvPr id="26" name="Text 24"/>
          <p:cNvSpPr/>
          <p:nvPr/>
        </p:nvSpPr>
        <p:spPr>
          <a:xfrm>
            <a:off x="5303520" y="2600775"/>
            <a:ext cx="3474720" cy="365760"/>
          </a:xfrm>
          <a:prstGeom prst="rect">
            <a:avLst/>
          </a:prstGeom>
          <a:noFill/>
          <a:ln/>
        </p:spPr>
        <p:txBody>
          <a:bodyPr wrap="square" rtlCol="0" anchor="ctr"/>
          <a:lstStyle/>
          <a:p>
            <a:pPr marL="0" indent="0">
              <a:buNone/>
            </a:pPr>
            <a:r>
              <a:rPr lang="en-US" sz="1150" b="1" dirty="0">
                <a:solidFill>
                  <a:srgbClr val="0F1F3D"/>
                </a:solidFill>
                <a:latin typeface="Calibri" pitchFamily="34" charset="0"/>
                <a:ea typeface="Calibri" pitchFamily="34" charset="-122"/>
                <a:cs typeface="Calibri" pitchFamily="34" charset="-120"/>
              </a:rPr>
              <a:t>Repurposing signals: three distinct archetypes</a:t>
            </a:r>
            <a:endParaRPr lang="en-US" sz="1150" dirty="0"/>
          </a:p>
        </p:txBody>
      </p:sp>
      <p:sp>
        <p:nvSpPr>
          <p:cNvPr id="27" name="Shape 25"/>
          <p:cNvSpPr/>
          <p:nvPr/>
        </p:nvSpPr>
        <p:spPr>
          <a:xfrm>
            <a:off x="5303520" y="2993967"/>
            <a:ext cx="3291840" cy="0"/>
          </a:xfrm>
          <a:prstGeom prst="line">
            <a:avLst/>
          </a:prstGeom>
          <a:noFill/>
          <a:ln w="12700">
            <a:solidFill>
              <a:srgbClr val="E05252"/>
            </a:solidFill>
            <a:prstDash val="solid"/>
          </a:ln>
        </p:spPr>
      </p:sp>
      <p:sp>
        <p:nvSpPr>
          <p:cNvPr id="28" name="Text 26"/>
          <p:cNvSpPr/>
          <p:nvPr/>
        </p:nvSpPr>
        <p:spPr>
          <a:xfrm>
            <a:off x="5303520" y="3085407"/>
            <a:ext cx="3474720" cy="1024128"/>
          </a:xfrm>
          <a:prstGeom prst="rect">
            <a:avLst/>
          </a:prstGeom>
          <a:noFill/>
          <a:ln/>
        </p:spPr>
        <p:txBody>
          <a:bodyPr wrap="square" rtlCol="0" anchor="ctr"/>
          <a:lstStyle/>
          <a:p>
            <a:pPr>
              <a:lnSpc>
                <a:spcPct val="140000"/>
              </a:lnSpc>
            </a:pPr>
            <a:r>
              <a:rPr lang="en-US" sz="950" dirty="0">
                <a:latin typeface="Calibri" pitchFamily="34" charset="0"/>
                <a:ea typeface="Calibri" pitchFamily="34" charset="-122"/>
                <a:cs typeface="Calibri" pitchFamily="34" charset="-120"/>
              </a:rPr>
              <a:t>Cytotoxic backbone drugs (broad oncology use), checkpoint inhibitors (tumor agnostic expansion), and corticosteroid. The KG correctly surfaces Nivolumab's HBV and COVID19 appearances as biological signals.</a:t>
            </a:r>
            <a:endParaRPr lang="en-US" sz="950" dirty="0"/>
          </a:p>
        </p:txBody>
      </p:sp>
      <p:sp>
        <p:nvSpPr>
          <p:cNvPr id="29" name="Rectangle 28">
            <a:extLst>
              <a:ext uri="{FF2B5EF4-FFF2-40B4-BE49-F238E27FC236}">
                <a16:creationId xmlns:a16="http://schemas.microsoft.com/office/drawing/2014/main" id="{E7CCA11C-F0E5-5EC5-0CBE-DF9897E9DD71}"/>
              </a:ext>
            </a:extLst>
          </p:cNvPr>
          <p:cNvSpPr/>
          <p:nvPr/>
        </p:nvSpPr>
        <p:spPr>
          <a:xfrm>
            <a:off x="0" y="0"/>
            <a:ext cx="9144000" cy="4114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8EE045A3-1C3F-542E-75D5-136FF3BED5FF}"/>
              </a:ext>
            </a:extLst>
          </p:cNvPr>
          <p:cNvSpPr txBox="1"/>
          <p:nvPr/>
        </p:nvSpPr>
        <p:spPr>
          <a:xfrm>
            <a:off x="320040" y="54864"/>
            <a:ext cx="8229600" cy="261610"/>
          </a:xfrm>
          <a:prstGeom prst="rect">
            <a:avLst/>
          </a:prstGeom>
          <a:noFill/>
        </p:spPr>
        <p:txBody>
          <a:bodyPr wrap="square">
            <a:spAutoFit/>
          </a:bodyPr>
          <a:lstStyle/>
          <a:p>
            <a:pPr algn="l"/>
            <a:r>
              <a:rPr sz="1100" b="1" i="0" dirty="0">
                <a:solidFill>
                  <a:srgbClr val="845EC2"/>
                </a:solidFill>
                <a:latin typeface="Calibri"/>
              </a:rPr>
              <a:t>04  /  NETWORK &amp; GRAPH ANALYTICS</a:t>
            </a:r>
            <a:r>
              <a:rPr lang="en-IN" sz="1100" b="1" i="0" dirty="0">
                <a:solidFill>
                  <a:srgbClr val="845EC2"/>
                </a:solidFill>
                <a:latin typeface="Calibri"/>
              </a:rPr>
              <a:t> – Key Findings</a:t>
            </a:r>
            <a:endParaRPr sz="1100" b="1" i="0" dirty="0">
              <a:solidFill>
                <a:srgbClr val="845EC2"/>
              </a:solidFill>
              <a:latin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DBC5A937-22E6-3B53-EBAA-F2AB7D71A315}"/>
              </a:ext>
            </a:extLst>
          </p:cNvPr>
          <p:cNvSpPr/>
          <p:nvPr/>
        </p:nvSpPr>
        <p:spPr>
          <a:xfrm>
            <a:off x="0" y="0"/>
            <a:ext cx="9144000" cy="7772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3ACDC2AD-F5D1-8E89-AAF7-0054A17CD2CF}"/>
              </a:ext>
            </a:extLst>
          </p:cNvPr>
          <p:cNvSpPr txBox="1"/>
          <p:nvPr/>
        </p:nvSpPr>
        <p:spPr>
          <a:xfrm>
            <a:off x="2262274" y="118210"/>
            <a:ext cx="4619452" cy="523220"/>
          </a:xfrm>
          <a:prstGeom prst="rect">
            <a:avLst/>
          </a:prstGeom>
          <a:noFill/>
        </p:spPr>
        <p:txBody>
          <a:bodyPr wrap="square">
            <a:spAutoFit/>
          </a:bodyPr>
          <a:lstStyle/>
          <a:p>
            <a:r>
              <a:rPr lang="en-IN" sz="2800" b="1" dirty="0">
                <a:solidFill>
                  <a:srgbClr val="FFFFFF"/>
                </a:solidFill>
                <a:latin typeface="Georgia"/>
              </a:rPr>
              <a:t>The </a:t>
            </a:r>
            <a:r>
              <a:rPr lang="en-IN" sz="2800" b="1" dirty="0" err="1">
                <a:solidFill>
                  <a:srgbClr val="FFFFFF"/>
                </a:solidFill>
                <a:latin typeface="Georgia"/>
              </a:rPr>
              <a:t>GraphRAG</a:t>
            </a:r>
            <a:r>
              <a:rPr lang="en-IN" sz="2800" b="1" dirty="0">
                <a:solidFill>
                  <a:srgbClr val="FFFFFF"/>
                </a:solidFill>
                <a:latin typeface="Georgia"/>
              </a:rPr>
              <a:t> Pipeline</a:t>
            </a:r>
          </a:p>
        </p:txBody>
      </p:sp>
      <p:pic>
        <p:nvPicPr>
          <p:cNvPr id="28" name="Graphic 27">
            <a:extLst>
              <a:ext uri="{FF2B5EF4-FFF2-40B4-BE49-F238E27FC236}">
                <a16:creationId xmlns:a16="http://schemas.microsoft.com/office/drawing/2014/main" id="{30B20D75-F924-774D-6BFB-81A329F13686}"/>
              </a:ext>
            </a:extLst>
          </p:cNvPr>
          <p:cNvPicPr>
            <a:picLocks noChangeAspect="1"/>
          </p:cNvPicPr>
          <p:nvPr/>
        </p:nvPicPr>
        <p:blipFill>
          <a:blip>
            <a:extLst>
              <a:ext uri="{96DAC541-7B7A-43D3-8B79-37D633B846F1}">
                <asvg:svgBlip xmlns:asvg="http://schemas.microsoft.com/office/drawing/2016/SVG/main" r:embed="rId2"/>
              </a:ext>
            </a:extLst>
          </a:blip>
          <a:srcRect t="5811" b="15480"/>
          <a:stretch>
            <a:fillRect/>
          </a:stretch>
        </p:blipFill>
        <p:spPr>
          <a:xfrm>
            <a:off x="1982830" y="895450"/>
            <a:ext cx="4935525" cy="365621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B381AB44-BFA8-639E-E67B-C8A82DD6962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8168824-DFE6-CBA3-0AB6-6F9C8E5502EC}"/>
              </a:ext>
            </a:extLst>
          </p:cNvPr>
          <p:cNvSpPr/>
          <p:nvPr/>
        </p:nvSpPr>
        <p:spPr>
          <a:xfrm>
            <a:off x="128102" y="91440"/>
            <a:ext cx="8970178" cy="530352"/>
          </a:xfrm>
          <a:prstGeom prst="rect">
            <a:avLst/>
          </a:prstGeom>
          <a:solidFill>
            <a:srgbClr val="003E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ED93BE5E-7C4E-80E2-9FA6-155B96D297AA}"/>
              </a:ext>
            </a:extLst>
          </p:cNvPr>
          <p:cNvSpPr/>
          <p:nvPr/>
        </p:nvSpPr>
        <p:spPr>
          <a:xfrm>
            <a:off x="128102" y="731520"/>
            <a:ext cx="8970178" cy="530352"/>
          </a:xfrm>
          <a:prstGeom prst="rect">
            <a:avLst/>
          </a:prstGeom>
          <a:solidFill>
            <a:srgbClr val="005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C766C10C-AE2A-A798-6D3D-ABF34E50CC32}"/>
              </a:ext>
            </a:extLst>
          </p:cNvPr>
          <p:cNvSpPr/>
          <p:nvPr/>
        </p:nvSpPr>
        <p:spPr>
          <a:xfrm>
            <a:off x="128101" y="1371600"/>
            <a:ext cx="8970177" cy="530352"/>
          </a:xfrm>
          <a:prstGeom prst="rect">
            <a:avLst/>
          </a:prstGeom>
          <a:solidFill>
            <a:srgbClr val="00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E733D8D9-31FE-03F2-2297-2A1B1B6A263B}"/>
              </a:ext>
            </a:extLst>
          </p:cNvPr>
          <p:cNvSpPr/>
          <p:nvPr/>
        </p:nvSpPr>
        <p:spPr>
          <a:xfrm>
            <a:off x="128102" y="2011680"/>
            <a:ext cx="8970175" cy="530352"/>
          </a:xfrm>
          <a:prstGeom prst="rect">
            <a:avLst/>
          </a:prstGeom>
          <a:solidFill>
            <a:srgbClr val="00A4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3603EA9E-B842-E6A1-504F-76C281E6302F}"/>
              </a:ext>
            </a:extLst>
          </p:cNvPr>
          <p:cNvSpPr/>
          <p:nvPr/>
        </p:nvSpPr>
        <p:spPr>
          <a:xfrm>
            <a:off x="128103" y="2651760"/>
            <a:ext cx="8970174" cy="530352"/>
          </a:xfrm>
          <a:prstGeom prst="rect">
            <a:avLst/>
          </a:prstGeom>
          <a:solidFill>
            <a:srgbClr val="024E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927532E2-3BC5-D24F-0667-D789BC9A8F88}"/>
              </a:ext>
            </a:extLst>
          </p:cNvPr>
          <p:cNvSpPr/>
          <p:nvPr/>
        </p:nvSpPr>
        <p:spPr>
          <a:xfrm>
            <a:off x="128103" y="3291840"/>
            <a:ext cx="8970174" cy="530352"/>
          </a:xfrm>
          <a:prstGeom prst="rect">
            <a:avLst/>
          </a:prstGeom>
          <a:solidFill>
            <a:srgbClr val="38B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a:extLst>
              <a:ext uri="{FF2B5EF4-FFF2-40B4-BE49-F238E27FC236}">
                <a16:creationId xmlns:a16="http://schemas.microsoft.com/office/drawing/2014/main" id="{B8A9652E-B603-6B76-7C11-C4B5E7212430}"/>
              </a:ext>
            </a:extLst>
          </p:cNvPr>
          <p:cNvSpPr/>
          <p:nvPr/>
        </p:nvSpPr>
        <p:spPr>
          <a:xfrm>
            <a:off x="128103" y="3931920"/>
            <a:ext cx="8970174" cy="530352"/>
          </a:xfrm>
          <a:prstGeom prst="rect">
            <a:avLst/>
          </a:prstGeom>
          <a:solidFill>
            <a:srgbClr val="007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a:extLst>
              <a:ext uri="{FF2B5EF4-FFF2-40B4-BE49-F238E27FC236}">
                <a16:creationId xmlns:a16="http://schemas.microsoft.com/office/drawing/2014/main" id="{E02797DB-8AB3-E350-49A9-99E433DE5744}"/>
              </a:ext>
            </a:extLst>
          </p:cNvPr>
          <p:cNvSpPr/>
          <p:nvPr/>
        </p:nvSpPr>
        <p:spPr>
          <a:xfrm>
            <a:off x="128102" y="4572000"/>
            <a:ext cx="8970178" cy="530352"/>
          </a:xfrm>
          <a:prstGeom prst="rect">
            <a:avLst/>
          </a:prstGeom>
          <a:solidFill>
            <a:srgbClr val="003E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2845906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2221</TotalTime>
  <Words>2847</Words>
  <Application>Microsoft Office PowerPoint</Application>
  <PresentationFormat>On-screen Show (16:9)</PresentationFormat>
  <Paragraphs>283</Paragraphs>
  <Slides>22</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Shasank Shekhar Padhi</dc:creator>
  <cp:keywords/>
  <dc:description>generated using python-pptx</dc:description>
  <cp:lastModifiedBy>Shasank Shekhar Padhi</cp:lastModifiedBy>
  <cp:revision>13</cp:revision>
  <dcterms:created xsi:type="dcterms:W3CDTF">2013-01-27T09:14:16Z</dcterms:created>
  <dcterms:modified xsi:type="dcterms:W3CDTF">2026-05-07T16:30:30Z</dcterms:modified>
  <cp:category/>
</cp:coreProperties>
</file>