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Degree Centrality</c:v>
                </c:pt>
              </c:strCache>
            </c:strRef>
          </c:tx>
          <c:spPr>
            <a:solidFill>
              <a:srgbClr val="5B4FC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5B4FCF"/>
              </a:solidFill>
              <a:effectLst/>
            </c:spPr>
          </c:dPt>
          <c:dPt>
            <c:idx val="1"/>
            <c:invertIfNegative val="0"/>
            <c:bubble3D val="0"/>
            <c:spPr>
              <a:solidFill>
                <a:srgbClr val="5B4FCF"/>
              </a:solidFill>
              <a:effectLst/>
            </c:spPr>
          </c:dPt>
          <c:dPt>
            <c:idx val="2"/>
            <c:invertIfNegative val="0"/>
            <c:bubble3D val="0"/>
            <c:spPr>
              <a:solidFill>
                <a:srgbClr val="7B6FDF"/>
              </a:solidFill>
              <a:effectLst/>
            </c:spPr>
          </c:dPt>
          <c:dPt>
            <c:idx val="3"/>
            <c:invertIfNegative val="0"/>
            <c:bubble3D val="0"/>
            <c:spPr>
              <a:solidFill>
                <a:srgbClr val="7B6FDF"/>
              </a:solidFill>
              <a:effectLst/>
            </c:spPr>
          </c:dPt>
          <c:dPt>
            <c:idx val="4"/>
            <c:invertIfNegative val="0"/>
            <c:bubble3D val="0"/>
            <c:spPr>
              <a:solidFill>
                <a:srgbClr val="8B80E0"/>
              </a:solidFill>
              <a:effectLst/>
            </c:spPr>
          </c:dPt>
          <c:dPt>
            <c:idx val="5"/>
            <c:invertIfNegative val="0"/>
            <c:bubble3D val="0"/>
            <c:spPr>
              <a:solidFill>
                <a:srgbClr val="8B80E0"/>
              </a:solidFill>
              <a:effectLst/>
            </c:spPr>
          </c:dPt>
          <c:dPt>
            <c:idx val="6"/>
            <c:invertIfNegative val="0"/>
            <c:bubble3D val="0"/>
            <c:spPr>
              <a:solidFill>
                <a:srgbClr val="9B90E4"/>
              </a:solidFill>
              <a:effectLst/>
            </c:spPr>
          </c:dPt>
          <c:dPt>
            <c:idx val="7"/>
            <c:invertIfNegative val="0"/>
            <c:bubble3D val="0"/>
            <c:spPr>
              <a:solidFill>
                <a:srgbClr val="9B90E4"/>
              </a:solidFill>
              <a:effectLst/>
            </c:spPr>
          </c:dPt>
          <c:dPt>
            <c:idx val="8"/>
            <c:invertIfNegative val="0"/>
            <c:bubble3D val="0"/>
            <c:spPr>
              <a:solidFill>
                <a:srgbClr val="ABA0E8"/>
              </a:solidFill>
              <a:effectLst/>
            </c:spPr>
          </c:dPt>
          <c:dPt>
            <c:idx val="9"/>
            <c:invertIfNegative val="0"/>
            <c:bubble3D val="0"/>
            <c:spPr>
              <a:solidFill>
                <a:srgbClr val="ABA0E8"/>
              </a:solidFill>
              <a:effectLst/>
            </c:spPr>
          </c:dPt>
          <c:cat>
            <c:multiLvlStrRef>
              <c:f>Sheet1!$A$2:$A$11</c:f>
              <c:multiLvlStrCache>
                <c:ptCount val="10"/>
                <c:lvl>
                  <c:pt idx="0">
                    <c:v>Obesity</c:v>
                  </c:pt>
                  <c:pt idx="1">
                    <c:v>Breast Cancer</c:v>
                  </c:pt>
                  <c:pt idx="2">
                    <c:v>Stroke</c:v>
                  </c:pt>
                  <c:pt idx="3">
                    <c:v>Pain</c:v>
                  </c:pt>
                  <c:pt idx="4">
                    <c:v>Hypertension</c:v>
                  </c:pt>
                  <c:pt idx="5">
                    <c:v>Depression</c:v>
                  </c:pt>
                  <c:pt idx="6">
                    <c:v>Prostate Cancer</c:v>
                  </c:pt>
                  <c:pt idx="7">
                    <c:v>Asthma</c:v>
                  </c:pt>
                  <c:pt idx="8">
                    <c:v>HIV Infections</c:v>
                  </c:pt>
                  <c:pt idx="9">
                    <c:v>Heart Failure</c:v>
                  </c:pt>
                </c:lvl>
              </c:multiLvlStrCache>
            </c:multiLvlStrRef>
          </c:cat>
          <c:val>
            <c:numRef>
              <c:f>Sheet1!$B$2:$B$11</c:f>
              <c:numCache>
                <c:formatCode>General</c:formatCode>
                <c:ptCount val="10"/>
                <c:pt idx="0">
                  <c:v>0.01504</c:v>
                </c:pt>
                <c:pt idx="1">
                  <c:v>0.01432</c:v>
                </c:pt>
                <c:pt idx="2">
                  <c:v>0.01044</c:v>
                </c:pt>
                <c:pt idx="3">
                  <c:v>0.00913</c:v>
                </c:pt>
                <c:pt idx="4">
                  <c:v>0.00898</c:v>
                </c:pt>
                <c:pt idx="5">
                  <c:v>0.00886</c:v>
                </c:pt>
                <c:pt idx="6">
                  <c:v>0.00774</c:v>
                </c:pt>
                <c:pt idx="7">
                  <c:v>0.00717</c:v>
                </c:pt>
                <c:pt idx="8">
                  <c:v>0.00642</c:v>
                </c:pt>
                <c:pt idx="9">
                  <c:v>0.0062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Betweenness Centrality</c:v>
                </c:pt>
              </c:strCache>
            </c:strRef>
          </c:tx>
          <c:spPr>
            <a:solidFill>
              <a:srgbClr val="0D9488"/>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0"/>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0D9488"/>
              </a:solidFill>
              <a:effectLst/>
            </c:spPr>
          </c:dPt>
          <c:dPt>
            <c:idx val="2"/>
            <c:invertIfNegative val="0"/>
            <c:bubble3D val="0"/>
            <c:spPr>
              <a:solidFill>
                <a:srgbClr val="0D9488"/>
              </a:solidFill>
              <a:effectLst/>
            </c:spPr>
          </c:dPt>
          <c:dPt>
            <c:idx val="3"/>
            <c:invertIfNegative val="0"/>
            <c:bubble3D val="0"/>
            <c:spPr>
              <a:solidFill>
                <a:srgbClr val="14B8A6"/>
              </a:solidFill>
              <a:effectLst/>
            </c:spPr>
          </c:dPt>
          <c:dPt>
            <c:idx val="4"/>
            <c:invertIfNegative val="0"/>
            <c:bubble3D val="0"/>
            <c:spPr>
              <a:solidFill>
                <a:srgbClr val="14B8A6"/>
              </a:solidFill>
              <a:effectLst/>
            </c:spPr>
          </c:dPt>
          <c:dPt>
            <c:idx val="5"/>
            <c:invertIfNegative val="0"/>
            <c:bubble3D val="0"/>
            <c:spPr>
              <a:solidFill>
                <a:srgbClr val="14B8A6"/>
              </a:solidFill>
              <a:effectLst/>
            </c:spPr>
          </c:dPt>
          <c:dPt>
            <c:idx val="6"/>
            <c:invertIfNegative val="0"/>
            <c:bubble3D val="0"/>
            <c:spPr>
              <a:solidFill>
                <a:srgbClr val="2DD4BF"/>
              </a:solidFill>
              <a:effectLst/>
            </c:spPr>
          </c:dPt>
          <c:dPt>
            <c:idx val="7"/>
            <c:invertIfNegative val="0"/>
            <c:bubble3D val="0"/>
            <c:spPr>
              <a:solidFill>
                <a:srgbClr val="2DD4BF"/>
              </a:solidFill>
              <a:effectLst/>
            </c:spPr>
          </c:dPt>
          <c:dPt>
            <c:idx val="8"/>
            <c:invertIfNegative val="0"/>
            <c:bubble3D val="0"/>
            <c:spPr>
              <a:solidFill>
                <a:srgbClr val="2DD4BF"/>
              </a:solidFill>
              <a:effectLst/>
            </c:spPr>
          </c:dPt>
          <c:dPt>
            <c:idx val="9"/>
            <c:invertIfNegative val="0"/>
            <c:bubble3D val="0"/>
            <c:spPr>
              <a:solidFill>
                <a:srgbClr val="5EEAD4"/>
              </a:solidFill>
              <a:effectLst/>
            </c:spPr>
          </c:dPt>
          <c:dPt>
            <c:idx val="10"/>
            <c:invertIfNegative val="0"/>
            <c:bubble3D val="0"/>
            <c:spPr>
              <a:solidFill>
                <a:srgbClr val="5EEAD4"/>
              </a:solidFill>
              <a:effectLst/>
            </c:spPr>
          </c:dPt>
          <c:dPt>
            <c:idx val="11"/>
            <c:invertIfNegative val="0"/>
            <c:bubble3D val="0"/>
            <c:spPr>
              <a:solidFill>
                <a:srgbClr val="E05252"/>
              </a:solidFill>
              <a:effectLst/>
            </c:spPr>
          </c:dPt>
          <c:cat>
            <c:multiLvlStrRef>
              <c:f>Sheet1!$A$2:$A$13</c:f>
              <c:multiLvlStrCache>
                <c:ptCount val="12"/>
                <c:lvl>
                  <c:pt idx="0">
                    <c:v>Breast Cancer</c:v>
                  </c:pt>
                  <c:pt idx="1">
                    <c:v>Pain</c:v>
                  </c:pt>
                  <c:pt idx="2">
                    <c:v>Obesity</c:v>
                  </c:pt>
                  <c:pt idx="3">
                    <c:v>Knee Osteoarthritis</c:v>
                  </c:pt>
                  <c:pt idx="4">
                    <c:v>Stroke</c:v>
                  </c:pt>
                  <c:pt idx="5">
                    <c:v>Hypertension</c:v>
                  </c:pt>
                  <c:pt idx="6">
                    <c:v>Heart Failure</c:v>
                  </c:pt>
                  <c:pt idx="7">
                    <c:v>Cardiovascular Dis.</c:v>
                  </c:pt>
                  <c:pt idx="8">
                    <c:v>Prostate Cancer</c:v>
                  </c:pt>
                  <c:pt idx="9">
                    <c:v>Infertility</c:v>
                  </c:pt>
                  <c:pt idx="10">
                    <c:v>Depression</c:v>
                  </c:pt>
                  <c:pt idx="11">
                    <c:v>Dexamethasone</c:v>
                  </c:pt>
                </c:lvl>
              </c:multiLvlStrCache>
            </c:multiLvlStrRef>
          </c:cat>
          <c:val>
            <c:numRef>
              <c:f>Sheet1!$B$2:$B$13</c:f>
              <c:numCache>
                <c:formatCode>General</c:formatCode>
                <c:ptCount val="12"/>
                <c:pt idx="0">
                  <c:v>0.02227</c:v>
                </c:pt>
                <c:pt idx="1">
                  <c:v>0.02222</c:v>
                </c:pt>
                <c:pt idx="2">
                  <c:v>0.02198</c:v>
                </c:pt>
                <c:pt idx="3">
                  <c:v>0.02014</c:v>
                </c:pt>
                <c:pt idx="4">
                  <c:v>0.01698</c:v>
                </c:pt>
                <c:pt idx="5">
                  <c:v>0.01627</c:v>
                </c:pt>
                <c:pt idx="6">
                  <c:v>0.01455</c:v>
                </c:pt>
                <c:pt idx="7">
                  <c:v>0.01288</c:v>
                </c:pt>
                <c:pt idx="8">
                  <c:v>0.01263</c:v>
                </c:pt>
                <c:pt idx="9">
                  <c:v>0.01167</c:v>
                </c:pt>
                <c:pt idx="10">
                  <c:v>0.0113</c:v>
                </c:pt>
                <c:pt idx="11">
                  <c:v>0.00893</c:v>
                </c:pt>
              </c:numCache>
            </c:numRef>
          </c:val>
        </c:ser>
        <c:dLbls>
          <c:numFmt formatCode="#,##0" sourceLinked="0"/>
          <c:txPr>
            <a:bodyPr/>
            <a:lstStyle/>
            <a:p>
              <a:pPr>
                <a:defRPr b="0" i="0" strike="noStrike" sz="900" u="none">
                  <a:solidFill>
                    <a:srgbClr val="1E293B"/>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Nodes</c:v>
                </c:pt>
              </c:strCache>
            </c:strRef>
          </c:tx>
          <c:spPr>
            <a:solidFill>
              <a:srgbClr val="5B4FCF"/>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5B4FCF"/>
              </a:solidFill>
              <a:effectLst/>
            </c:spPr>
          </c:dPt>
          <c:dPt>
            <c:idx val="1"/>
            <c:invertIfNegative val="0"/>
            <c:bubble3D val="0"/>
            <c:spPr>
              <a:solidFill>
                <a:srgbClr val="0D9488"/>
              </a:solidFill>
              <a:effectLst/>
            </c:spPr>
          </c:dPt>
          <c:dPt>
            <c:idx val="2"/>
            <c:invertIfNegative val="0"/>
            <c:bubble3D val="0"/>
            <c:spPr>
              <a:solidFill>
                <a:srgbClr val="D97706"/>
              </a:solidFill>
              <a:effectLst/>
            </c:spPr>
          </c:dPt>
          <c:dPt>
            <c:idx val="3"/>
            <c:invertIfNegative val="0"/>
            <c:bubble3D val="0"/>
            <c:spPr>
              <a:solidFill>
                <a:srgbClr val="378ADD"/>
              </a:solidFill>
              <a:effectLst/>
            </c:spPr>
          </c:dPt>
          <c:dPt>
            <c:idx val="4"/>
            <c:invertIfNegative val="0"/>
            <c:bubble3D val="0"/>
            <c:spPr>
              <a:solidFill>
                <a:srgbClr val="C026D3"/>
              </a:solidFill>
              <a:effectLst/>
            </c:spPr>
          </c:dPt>
          <c:dPt>
            <c:idx val="5"/>
            <c:invertIfNegative val="0"/>
            <c:bubble3D val="0"/>
            <c:spPr>
              <a:solidFill>
                <a:srgbClr val="059669"/>
              </a:solidFill>
              <a:effectLst/>
            </c:spPr>
          </c:dPt>
          <c:dPt>
            <c:idx val="6"/>
            <c:invertIfNegative val="0"/>
            <c:bubble3D val="0"/>
            <c:spPr>
              <a:solidFill>
                <a:srgbClr val="BA7517"/>
              </a:solidFill>
              <a:effectLst/>
            </c:spPr>
          </c:dPt>
          <c:dPt>
            <c:idx val="7"/>
            <c:invertIfNegative val="0"/>
            <c:bubble3D val="0"/>
            <c:spPr>
              <a:solidFill>
                <a:srgbClr val="D85A30"/>
              </a:solidFill>
              <a:effectLst/>
            </c:spPr>
          </c:dPt>
          <c:dPt>
            <c:idx val="8"/>
            <c:invertIfNegative val="0"/>
            <c:bubble3D val="0"/>
            <c:spPr>
              <a:solidFill>
                <a:srgbClr val="534AB7"/>
              </a:solidFill>
              <a:effectLst/>
            </c:spPr>
          </c:dPt>
          <c:dPt>
            <c:idx val="9"/>
            <c:invertIfNegative val="0"/>
            <c:bubble3D val="0"/>
            <c:spPr>
              <a:solidFill>
                <a:srgbClr val="0F6E56"/>
              </a:solidFill>
              <a:effectLst/>
            </c:spPr>
          </c:dPt>
          <c:cat>
            <c:multiLvlStrRef>
              <c:f>Sheet1!$A$2:$A$11</c:f>
              <c:multiLvlStrCache>
                <c:ptCount val="10"/>
                <c:lvl>
                  <c:pt idx="0">
                    <c:v>#9 Metabolic
&amp; Behavioral</c:v>
                  </c:pt>
                  <c:pt idx="1">
                    <c:v>#6 Oncology
&amp; Hepatic</c:v>
                  </c:pt>
                  <c:pt idx="2">
                    <c:v>#82 Diabetes
Pharma</c:v>
                  </c:pt>
                  <c:pt idx="3">
                    <c:v>#68 Peri-
operative</c:v>
                  </c:pt>
                  <c:pt idx="4">
                    <c:v>#15 Neuro &amp;
Rehab</c:v>
                  </c:pt>
                  <c:pt idx="5">
                    <c:v>#13 Cardio-
vascular</c:v>
                  </c:pt>
                  <c:pt idx="6">
                    <c:v>#10 Immuno-
logy</c:v>
                  </c:pt>
                  <c:pt idx="7">
                    <c:v>#3 Infectious
Disease</c:v>
                  </c:pt>
                  <c:pt idx="8">
                    <c:v>#0 Hepatitis
B</c:v>
                  </c:pt>
                  <c:pt idx="9">
                    <c:v>#41 Sleep
&amp; Pulmonary</c:v>
                  </c:pt>
                </c:lvl>
              </c:multiLvlStrCache>
            </c:multiLvlStrRef>
          </c:cat>
          <c:val>
            <c:numRef>
              <c:f>Sheet1!$B$2:$B$11</c:f>
              <c:numCache>
                <c:formatCode>General</c:formatCode>
                <c:ptCount val="10"/>
                <c:pt idx="0">
                  <c:v>59883</c:v>
                </c:pt>
                <c:pt idx="1">
                  <c:v>54431</c:v>
                </c:pt>
                <c:pt idx="2">
                  <c:v>52820</c:v>
                </c:pt>
                <c:pt idx="3">
                  <c:v>49693</c:v>
                </c:pt>
                <c:pt idx="4">
                  <c:v>42387</c:v>
                </c:pt>
                <c:pt idx="5">
                  <c:v>29717</c:v>
                </c:pt>
                <c:pt idx="6">
                  <c:v>26080</c:v>
                </c:pt>
                <c:pt idx="7">
                  <c:v>24982</c:v>
                </c:pt>
                <c:pt idx="8">
                  <c:v>22112</c:v>
                </c:pt>
                <c:pt idx="9">
                  <c:v>20106</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Cytotoxic</c:v>
                </c:pt>
              </c:strCache>
            </c:strRef>
          </c:tx>
          <c:spPr>
            <a:solidFill>
              <a:srgbClr val="E052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Sheet1!$A$2:$A$20</c:f>
              <c:multiLvlStrCache>
                <c:ptCount val="19"/>
                <c:lvl>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lvl>
              </c:multiLvlStrCache>
            </c:multiLvlStrRef>
          </c:cat>
          <c:val>
            <c:numRef>
              <c:f>Sheet1!$B$2:$B$20</c:f>
              <c:numCache>
                <c:formatCode>General</c:formatCode>
                <c:ptCount val="19"/>
                <c:pt idx="0">
                  <c:v>2340</c:v>
                </c:pt>
                <c:pt idx="1">
                  <c:v>0</c:v>
                </c:pt>
                <c:pt idx="2">
                  <c:v>0</c:v>
                </c:pt>
                <c:pt idx="3">
                  <c:v>1958</c:v>
                </c:pt>
                <c:pt idx="4">
                  <c:v>1764</c:v>
                </c:pt>
                <c:pt idx="5">
                  <c:v>1543</c:v>
                </c:pt>
                <c:pt idx="6">
                  <c:v>0</c:v>
                </c:pt>
                <c:pt idx="7">
                  <c:v>0</c:v>
                </c:pt>
                <c:pt idx="8">
                  <c:v>1260</c:v>
                </c:pt>
                <c:pt idx="9">
                  <c:v>0</c:v>
                </c:pt>
                <c:pt idx="10">
                  <c:v>0</c:v>
                </c:pt>
                <c:pt idx="11">
                  <c:v>1047</c:v>
                </c:pt>
                <c:pt idx="12">
                  <c:v>984</c:v>
                </c:pt>
                <c:pt idx="13">
                  <c:v>969</c:v>
                </c:pt>
                <c:pt idx="14">
                  <c:v>0</c:v>
                </c:pt>
                <c:pt idx="15">
                  <c:v>0</c:v>
                </c:pt>
                <c:pt idx="16">
                  <c:v>0</c:v>
                </c:pt>
                <c:pt idx="17">
                  <c:v>881</c:v>
                </c:pt>
                <c:pt idx="18">
                  <c:v>0</c:v>
                </c:pt>
              </c:numCache>
            </c:numRef>
          </c:val>
        </c:ser>
        <c:ser>
          <c:idx val="1"/>
          <c:order val="1"/>
          <c:tx>
            <c:strRef>
              <c:f>Sheet1!$C$1</c:f>
              <c:strCache>
                <c:ptCount val="1"/>
                <c:pt idx="0">
                  <c:v>Checkpoint Inhibitor</c:v>
                </c:pt>
              </c:strCache>
            </c:strRef>
          </c:tx>
          <c:spPr>
            <a:solidFill>
              <a:srgbClr val="5B4FC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Sheet1!$A$2:$A$20</c:f>
              <c:multiLvlStrCache>
                <c:ptCount val="19"/>
                <c:lvl>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lvl>
              </c:multiLvlStrCache>
            </c:multiLvlStrRef>
          </c:cat>
          <c:val>
            <c:numRef>
              <c:f>Sheet1!$C$2:$C$20</c:f>
              <c:numCache>
                <c:formatCode>General</c:formatCode>
                <c:ptCount val="19"/>
                <c:pt idx="0">
                  <c:v>0</c:v>
                </c:pt>
                <c:pt idx="1">
                  <c:v>2223</c:v>
                </c:pt>
                <c:pt idx="2">
                  <c:v>2079</c:v>
                </c:pt>
                <c:pt idx="3">
                  <c:v>0</c:v>
                </c:pt>
                <c:pt idx="4">
                  <c:v>0</c:v>
                </c:pt>
                <c:pt idx="5">
                  <c:v>0</c:v>
                </c:pt>
                <c:pt idx="6">
                  <c:v>0</c:v>
                </c:pt>
                <c:pt idx="7">
                  <c:v>1408</c:v>
                </c:pt>
                <c:pt idx="8">
                  <c:v>0</c:v>
                </c:pt>
                <c:pt idx="9">
                  <c:v>1110</c:v>
                </c:pt>
                <c:pt idx="10">
                  <c:v>1102</c:v>
                </c:pt>
                <c:pt idx="11">
                  <c:v>0</c:v>
                </c:pt>
                <c:pt idx="12">
                  <c:v>0</c:v>
                </c:pt>
                <c:pt idx="13">
                  <c:v>0</c:v>
                </c:pt>
                <c:pt idx="14">
                  <c:v>0</c:v>
                </c:pt>
                <c:pt idx="15">
                  <c:v>920</c:v>
                </c:pt>
                <c:pt idx="16">
                  <c:v>0</c:v>
                </c:pt>
                <c:pt idx="17">
                  <c:v>0</c:v>
                </c:pt>
                <c:pt idx="18">
                  <c:v>834</c:v>
                </c:pt>
              </c:numCache>
            </c:numRef>
          </c:val>
        </c:ser>
        <c:ser>
          <c:idx val="2"/>
          <c:order val="2"/>
          <c:tx>
            <c:strRef>
              <c:f>Sheet1!$D$1</c:f>
              <c:strCache>
                <c:ptCount val="1"/>
                <c:pt idx="0">
                  <c:v>Corticosteroid / Other</c:v>
                </c:pt>
              </c:strCache>
            </c:strRef>
          </c:tx>
          <c:spPr>
            <a:solidFill>
              <a:srgbClr val="0D94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Sheet1!$A$2:$A$20</c:f>
              <c:multiLvlStrCache>
                <c:ptCount val="19"/>
                <c:lvl>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lvl>
              </c:multiLvlStrCache>
            </c:multiLvlStrRef>
          </c:cat>
          <c:val>
            <c:numRef>
              <c:f>Sheet1!$D$2:$D$20</c:f>
              <c:numCache>
                <c:formatCode>General</c:formatCode>
                <c:ptCount val="19"/>
                <c:pt idx="0">
                  <c:v>0</c:v>
                </c:pt>
                <c:pt idx="1">
                  <c:v>0</c:v>
                </c:pt>
                <c:pt idx="2">
                  <c:v>0</c:v>
                </c:pt>
                <c:pt idx="3">
                  <c:v>0</c:v>
                </c:pt>
                <c:pt idx="4">
                  <c:v>0</c:v>
                </c:pt>
                <c:pt idx="5">
                  <c:v>0</c:v>
                </c:pt>
                <c:pt idx="6">
                  <c:v>1433</c:v>
                </c:pt>
                <c:pt idx="7">
                  <c:v>0</c:v>
                </c:pt>
                <c:pt idx="8">
                  <c:v>0</c:v>
                </c:pt>
                <c:pt idx="9">
                  <c:v>0</c:v>
                </c:pt>
                <c:pt idx="10">
                  <c:v>0</c:v>
                </c:pt>
                <c:pt idx="11">
                  <c:v>0</c:v>
                </c:pt>
                <c:pt idx="12">
                  <c:v>0</c:v>
                </c:pt>
                <c:pt idx="13">
                  <c:v>0</c:v>
                </c:pt>
                <c:pt idx="14">
                  <c:v>962</c:v>
                </c:pt>
                <c:pt idx="15">
                  <c:v>0</c:v>
                </c:pt>
                <c:pt idx="16">
                  <c:v>882</c:v>
                </c:pt>
                <c:pt idx="17">
                  <c:v>0</c:v>
                </c:pt>
                <c:pt idx="18">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Checkpoint Inhibitor</c:v>
                </c:pt>
              </c:strCache>
            </c:strRef>
          </c:tx>
          <c:spPr>
            <a:solidFill>
              <a:srgbClr val="E05252"/>
            </a:solidFill>
            <a:ln w="25400" cap="flat">
              <a:solidFill>
                <a:srgbClr val="E05252"/>
              </a:solidFill>
              <a:prstDash val="solid"/>
              <a:round/>
            </a:ln>
            <a:effectLst/>
          </c:spPr>
          <c:marker>
            <c:symbol val="circle"/>
            <c:size val="6"/>
            <c:spPr>
              <a:solidFill>
                <a:srgbClr val="E05252"/>
              </a:solidFill>
              <a:ln w="9525" cap="flat">
                <a:solidFill>
                  <a:srgbClr val="E05252"/>
                </a:solidFill>
                <a:prstDash val="solid"/>
                <a:round/>
              </a:ln>
              <a:effectLst/>
            </c:spPr>
          </c:marker>
          <c:xVal>
            <c:numRef>
              <c:f>Sheet1!$A$2:$A$10</c:f>
              <c:numCache>
                <c:formatCode>General</c:formatCode>
                <c:ptCount val="9"/>
                <c:pt idx="0">
                  <c:v>[object Object]</c:v>
                </c:pt>
                <c:pt idx="1">
                  <c:v>[object Object]</c:v>
                </c:pt>
                <c:pt idx="2">
                  <c:v>[object Object]</c:v>
                </c:pt>
                <c:pt idx="3">
                  <c:v>[object Object]</c:v>
                </c:pt>
                <c:pt idx="4">
                  <c:v>[object Object]</c:v>
                </c:pt>
                <c:pt idx="5">
                  <c:v>[object Object]</c:v>
                </c:pt>
                <c:pt idx="6">
                  <c:v>[object Object]</c:v>
                </c:pt>
                <c:pt idx="7">
                  <c:v>[object Object]</c:v>
                </c:pt>
                <c:pt idx="8">
                  <c:v>[object Object]</c:v>
                </c:pt>
              </c:numCache>
            </c:numRef>
          </c:xVal>
          <c:yVal>
            <c:numRef>
              <c:f>Sheet1!$B$2:$B$10</c:f>
              <c:numCache>
                <c:formatCode>General</c:formatCode>
                <c:ptCount val="9"/>
                <c:pt idx="0">
                  <c:v>[object Object]</c:v>
                </c:pt>
                <c:pt idx="1">
                  <c:v>[object Object]</c:v>
                </c:pt>
                <c:pt idx="2">
                  <c:v>[object Object]</c:v>
                </c:pt>
                <c:pt idx="3">
                  <c:v>[object Object]</c:v>
                </c:pt>
                <c:pt idx="4">
                  <c:v>[object Object]</c:v>
                </c:pt>
                <c:pt idx="5">
                  <c:v>[object Object]</c:v>
                </c:pt>
                <c:pt idx="6">
                  <c:v>[object Object]</c:v>
                </c:pt>
                <c:pt idx="7">
                  <c:v/>
                </c:pt>
                <c:pt idx="8">
                  <c:v/>
                </c:pt>
              </c:numCache>
            </c:numRef>
          </c:yVal>
          <c:smooth val="0"/>
        </c:ser>
        <c:ser>
          <c:idx val="1"/>
          <c:order val="1"/>
          <c:tx>
            <c:strRef>
              <c:f>Sheet1!$C$1</c:f>
              <c:strCache>
                <c:ptCount val="1"/>
                <c:pt idx="0">
                  <c:v>Corticosteroid / Other</c:v>
                </c:pt>
              </c:strCache>
            </c:strRef>
          </c:tx>
          <c:spPr>
            <a:solidFill>
              <a:srgbClr val="5B4FCF"/>
            </a:solidFill>
            <a:ln w="25400" cap="flat">
              <a:solidFill>
                <a:srgbClr val="5B4FCF"/>
              </a:solidFill>
              <a:prstDash val="solid"/>
              <a:round/>
            </a:ln>
            <a:effectLst/>
          </c:spPr>
          <c:marker>
            <c:symbol val="circle"/>
            <c:size val="6"/>
            <c:spPr>
              <a:solidFill>
                <a:srgbClr val="5B4FCF"/>
              </a:solidFill>
              <a:ln w="9525" cap="flat">
                <a:solidFill>
                  <a:srgbClr val="5B4FCF"/>
                </a:solidFill>
                <a:prstDash val="solid"/>
                <a:round/>
              </a:ln>
              <a:effectLst/>
            </c:spPr>
          </c:marker>
          <c:xVal>
            <c:numRef>
              <c:f>Sheet1!$A$2:$A$10</c:f>
              <c:numCache>
                <c:formatCode>General</c:formatCode>
                <c:ptCount val="9"/>
                <c:pt idx="0">
                  <c:v>[object Object]</c:v>
                </c:pt>
                <c:pt idx="1">
                  <c:v>[object Object]</c:v>
                </c:pt>
                <c:pt idx="2">
                  <c:v>[object Object]</c:v>
                </c:pt>
                <c:pt idx="3">
                  <c:v>[object Object]</c:v>
                </c:pt>
                <c:pt idx="4">
                  <c:v>[object Object]</c:v>
                </c:pt>
                <c:pt idx="5">
                  <c:v>[object Object]</c:v>
                </c:pt>
                <c:pt idx="6">
                  <c:v>[object Object]</c:v>
                </c:pt>
                <c:pt idx="7">
                  <c:v>[object Object]</c:v>
                </c:pt>
                <c:pt idx="8">
                  <c:v>[object Object]</c:v>
                </c:pt>
              </c:numCache>
            </c:numRef>
          </c:xVal>
          <c:yVal>
            <c:numRef>
              <c:f>Sheet1!$C$2:$C$10</c:f>
              <c:numCache>
                <c:formatCode>General</c:formatCode>
                <c:ptCount val="9"/>
                <c:pt idx="0">
                  <c:v>[object Object]</c:v>
                </c:pt>
                <c:pt idx="1">
                  <c:v>[object Object]</c:v>
                </c:pt>
                <c:pt idx="2">
                  <c:v>[object Object]</c:v>
                </c:pt>
                <c:pt idx="3">
                  <c:v/>
                </c:pt>
                <c:pt idx="4">
                  <c:v/>
                </c:pt>
                <c:pt idx="5">
                  <c:v/>
                </c:pt>
                <c:pt idx="6">
                  <c:v/>
                </c:pt>
                <c:pt idx="7">
                  <c:v/>
                </c:pt>
                <c:pt idx="8">
                  <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Number of Trials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Distinct Conditions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900">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5B4FCF"/>
          </a:solidFill>
          <a:ln/>
        </p:spPr>
      </p:sp>
      <p:sp>
        <p:nvSpPr>
          <p:cNvPr id="3" name="Shape 1"/>
          <p:cNvSpPr/>
          <p:nvPr/>
        </p:nvSpPr>
        <p:spPr>
          <a:xfrm>
            <a:off x="7132320" y="-548640"/>
            <a:ext cx="2926080" cy="2926080"/>
          </a:xfrm>
          <a:prstGeom prst="ellipse">
            <a:avLst/>
          </a:prstGeom>
          <a:solidFill>
            <a:srgbClr val="5B4FCF">
              <a:alpha val="12000"/>
            </a:srgbClr>
          </a:solidFill>
          <a:ln/>
        </p:spPr>
      </p:sp>
      <p:sp>
        <p:nvSpPr>
          <p:cNvPr id="4" name="Shape 2"/>
          <p:cNvSpPr/>
          <p:nvPr/>
        </p:nvSpPr>
        <p:spPr>
          <a:xfrm>
            <a:off x="7772400" y="2560320"/>
            <a:ext cx="1828800" cy="1828800"/>
          </a:xfrm>
          <a:prstGeom prst="ellipse">
            <a:avLst/>
          </a:prstGeom>
          <a:solidFill>
            <a:srgbClr val="0D9488">
              <a:alpha val="12000"/>
            </a:srgbClr>
          </a:solidFill>
          <a:ln/>
        </p:spPr>
      </p:sp>
      <p:sp>
        <p:nvSpPr>
          <p:cNvPr id="5" name="Shape 3"/>
          <p:cNvSpPr/>
          <p:nvPr/>
        </p:nvSpPr>
        <p:spPr>
          <a:xfrm>
            <a:off x="5943600" y="3474720"/>
            <a:ext cx="914400" cy="914400"/>
          </a:xfrm>
          <a:prstGeom prst="ellipse">
            <a:avLst/>
          </a:prstGeom>
          <a:solidFill>
            <a:srgbClr val="E05252">
              <a:alpha val="20000"/>
            </a:srgbClr>
          </a:solidFill>
          <a:ln/>
        </p:spPr>
      </p:sp>
      <p:sp>
        <p:nvSpPr>
          <p:cNvPr id="6" name="Text 4"/>
          <p:cNvSpPr/>
          <p:nvPr/>
        </p:nvSpPr>
        <p:spPr>
          <a:xfrm>
            <a:off x="502920" y="822960"/>
            <a:ext cx="7315200" cy="320040"/>
          </a:xfrm>
          <a:prstGeom prst="rect">
            <a:avLst/>
          </a:prstGeom>
          <a:noFill/>
          <a:ln/>
        </p:spPr>
        <p:txBody>
          <a:bodyPr wrap="square" rtlCol="0" anchor="ctr"/>
          <a:lstStyle/>
          <a:p>
            <a:pPr indent="0" marL="0">
              <a:buNone/>
            </a:pPr>
            <a:r>
              <a:rPr lang="en-US" sz="1000" b="1" spc="400" kern="0" dirty="0">
                <a:solidFill>
                  <a:srgbClr val="14B8A6"/>
                </a:solidFill>
                <a:latin typeface="Calibri" pitchFamily="34" charset="0"/>
                <a:ea typeface="Calibri" pitchFamily="34" charset="-122"/>
                <a:cs typeface="Calibri" pitchFamily="34" charset="-120"/>
              </a:rPr>
              <a:t>KNOWLEDGE GRAPH ANALYTICS</a:t>
            </a:r>
            <a:endParaRPr lang="en-US" sz="1000" dirty="0"/>
          </a:p>
        </p:txBody>
      </p:sp>
      <p:sp>
        <p:nvSpPr>
          <p:cNvPr id="7" name="Text 5"/>
          <p:cNvSpPr/>
          <p:nvPr/>
        </p:nvSpPr>
        <p:spPr>
          <a:xfrm>
            <a:off x="502920" y="1188720"/>
            <a:ext cx="6858000" cy="2560320"/>
          </a:xfrm>
          <a:prstGeom prst="rect">
            <a:avLst/>
          </a:prstGeom>
          <a:noFill/>
          <a:ln/>
        </p:spPr>
        <p:txBody>
          <a:bodyPr wrap="square" rtlCol="0" anchor="ctr"/>
          <a:lstStyle/>
          <a:p>
            <a:pPr indent="0" marL="0">
              <a:lnSpc>
                <a:spcPct val="115000"/>
              </a:lnSpc>
              <a:buNone/>
            </a:pPr>
            <a:r>
              <a:rPr lang="en-US" sz="3800" b="1" dirty="0">
                <a:solidFill>
                  <a:srgbClr val="FFFFFF"/>
                </a:solidFill>
                <a:latin typeface="Calibri" pitchFamily="34" charset="0"/>
                <a:ea typeface="Calibri" pitchFamily="34" charset="-122"/>
                <a:cs typeface="Calibri" pitchFamily="34" charset="-120"/>
              </a:rPr>
              <a:t>Clinical Trials</a:t>
            </a:r>
            <a:endParaRPr lang="en-US" sz="3800" dirty="0"/>
          </a:p>
          <a:p>
            <a:pPr indent="0" marL="0">
              <a:lnSpc>
                <a:spcPct val="115000"/>
              </a:lnSpc>
              <a:buNone/>
            </a:pPr>
            <a:r>
              <a:rPr lang="en-US" sz="3800" b="1" dirty="0">
                <a:solidFill>
                  <a:srgbClr val="FFFFFF"/>
                </a:solidFill>
                <a:latin typeface="Calibri" pitchFamily="34" charset="0"/>
                <a:ea typeface="Calibri" pitchFamily="34" charset="-122"/>
                <a:cs typeface="Calibri" pitchFamily="34" charset="-120"/>
              </a:rPr>
              <a:t>Knowledge Graph</a:t>
            </a:r>
            <a:endParaRPr lang="en-US" sz="3800" dirty="0"/>
          </a:p>
          <a:p>
            <a:pPr indent="0" marL="0">
              <a:lnSpc>
                <a:spcPct val="115000"/>
              </a:lnSpc>
              <a:buNone/>
            </a:pPr>
            <a:r>
              <a:rPr lang="en-US" sz="3800" b="1" dirty="0">
                <a:solidFill>
                  <a:srgbClr val="FFFFFF"/>
                </a:solidFill>
                <a:latin typeface="Calibri" pitchFamily="34" charset="0"/>
                <a:ea typeface="Calibri" pitchFamily="34" charset="-122"/>
                <a:cs typeface="Calibri" pitchFamily="34" charset="-120"/>
              </a:rPr>
              <a:t>Analysis</a:t>
            </a:r>
            <a:endParaRPr lang="en-US" sz="3800" dirty="0"/>
          </a:p>
        </p:txBody>
      </p:sp>
      <p:sp>
        <p:nvSpPr>
          <p:cNvPr id="8" name="Text 6"/>
          <p:cNvSpPr/>
          <p:nvPr/>
        </p:nvSpPr>
        <p:spPr>
          <a:xfrm>
            <a:off x="502920" y="3703320"/>
            <a:ext cx="7772400" cy="36576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Network Centrality  ·  Community Detection  ·  Drug Repurposing Signals</a:t>
            </a:r>
            <a:endParaRPr lang="en-US" sz="1300" dirty="0"/>
          </a:p>
        </p:txBody>
      </p:sp>
      <p:sp>
        <p:nvSpPr>
          <p:cNvPr id="9" name="Shape 7"/>
          <p:cNvSpPr/>
          <p:nvPr/>
        </p:nvSpPr>
        <p:spPr>
          <a:xfrm>
            <a:off x="502920" y="4160520"/>
            <a:ext cx="1920240" cy="777240"/>
          </a:xfrm>
          <a:prstGeom prst="rect">
            <a:avLst>
              <a:gd name="adj" fmla="val 7059"/>
            </a:avLst>
          </a:prstGeom>
          <a:solidFill>
            <a:srgbClr val="5B4FCF">
              <a:alpha val="22000"/>
            </a:srgbClr>
          </a:solidFill>
          <a:ln/>
        </p:spPr>
      </p:sp>
      <p:sp>
        <p:nvSpPr>
          <p:cNvPr id="10" name="Text 8"/>
          <p:cNvSpPr/>
          <p:nvPr/>
        </p:nvSpPr>
        <p:spPr>
          <a:xfrm>
            <a:off x="502920" y="4178808"/>
            <a:ext cx="1920240" cy="3200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593,487</a:t>
            </a:r>
            <a:endParaRPr lang="en-US" sz="1800" dirty="0"/>
          </a:p>
        </p:txBody>
      </p:sp>
      <p:sp>
        <p:nvSpPr>
          <p:cNvPr id="11" name="Text 9"/>
          <p:cNvSpPr/>
          <p:nvPr/>
        </p:nvSpPr>
        <p:spPr>
          <a:xfrm>
            <a:off x="502920" y="4498848"/>
            <a:ext cx="1920240" cy="347472"/>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Nodes</a:t>
            </a:r>
            <a:endParaRPr lang="en-US" sz="900" dirty="0"/>
          </a:p>
        </p:txBody>
      </p:sp>
      <p:sp>
        <p:nvSpPr>
          <p:cNvPr id="12" name="Shape 10"/>
          <p:cNvSpPr/>
          <p:nvPr/>
        </p:nvSpPr>
        <p:spPr>
          <a:xfrm>
            <a:off x="2651760" y="4160520"/>
            <a:ext cx="1920240" cy="777240"/>
          </a:xfrm>
          <a:prstGeom prst="rect">
            <a:avLst>
              <a:gd name="adj" fmla="val 7059"/>
            </a:avLst>
          </a:prstGeom>
          <a:solidFill>
            <a:srgbClr val="5B4FCF">
              <a:alpha val="22000"/>
            </a:srgbClr>
          </a:solidFill>
          <a:ln/>
        </p:spPr>
      </p:sp>
      <p:sp>
        <p:nvSpPr>
          <p:cNvPr id="13" name="Text 11"/>
          <p:cNvSpPr/>
          <p:nvPr/>
        </p:nvSpPr>
        <p:spPr>
          <a:xfrm>
            <a:off x="2651760" y="4178808"/>
            <a:ext cx="1920240" cy="3200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15,585</a:t>
            </a:r>
            <a:endParaRPr lang="en-US" sz="1800" dirty="0"/>
          </a:p>
        </p:txBody>
      </p:sp>
      <p:sp>
        <p:nvSpPr>
          <p:cNvPr id="14" name="Text 12"/>
          <p:cNvSpPr/>
          <p:nvPr/>
        </p:nvSpPr>
        <p:spPr>
          <a:xfrm>
            <a:off x="2651760" y="4498848"/>
            <a:ext cx="1920240" cy="347472"/>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Communities</a:t>
            </a:r>
            <a:endParaRPr lang="en-US" sz="900" dirty="0"/>
          </a:p>
        </p:txBody>
      </p:sp>
      <p:sp>
        <p:nvSpPr>
          <p:cNvPr id="15" name="Shape 13"/>
          <p:cNvSpPr/>
          <p:nvPr/>
        </p:nvSpPr>
        <p:spPr>
          <a:xfrm>
            <a:off x="4800600" y="4160520"/>
            <a:ext cx="1920240" cy="777240"/>
          </a:xfrm>
          <a:prstGeom prst="rect">
            <a:avLst>
              <a:gd name="adj" fmla="val 7059"/>
            </a:avLst>
          </a:prstGeom>
          <a:solidFill>
            <a:srgbClr val="5B4FCF">
              <a:alpha val="22000"/>
            </a:srgbClr>
          </a:solidFill>
          <a:ln/>
        </p:spPr>
      </p:sp>
      <p:sp>
        <p:nvSpPr>
          <p:cNvPr id="16" name="Text 14"/>
          <p:cNvSpPr/>
          <p:nvPr/>
        </p:nvSpPr>
        <p:spPr>
          <a:xfrm>
            <a:off x="4800600" y="4178808"/>
            <a:ext cx="1920240" cy="3200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40</a:t>
            </a:r>
            <a:endParaRPr lang="en-US" sz="1800" dirty="0"/>
          </a:p>
        </p:txBody>
      </p:sp>
      <p:sp>
        <p:nvSpPr>
          <p:cNvPr id="17" name="Text 15"/>
          <p:cNvSpPr/>
          <p:nvPr/>
        </p:nvSpPr>
        <p:spPr>
          <a:xfrm>
            <a:off x="4800600" y="4498848"/>
            <a:ext cx="1920240" cy="347472"/>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Repurposing</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Candidates</a:t>
            </a:r>
            <a:endParaRPr lang="en-US" sz="900" dirty="0"/>
          </a:p>
        </p:txBody>
      </p:sp>
      <p:sp>
        <p:nvSpPr>
          <p:cNvPr id="18" name="Shape 16"/>
          <p:cNvSpPr/>
          <p:nvPr/>
        </p:nvSpPr>
        <p:spPr>
          <a:xfrm>
            <a:off x="6949440" y="4160520"/>
            <a:ext cx="1920240" cy="777240"/>
          </a:xfrm>
          <a:prstGeom prst="rect">
            <a:avLst>
              <a:gd name="adj" fmla="val 7059"/>
            </a:avLst>
          </a:prstGeom>
          <a:solidFill>
            <a:srgbClr val="5B4FCF">
              <a:alpha val="22000"/>
            </a:srgbClr>
          </a:solidFill>
          <a:ln/>
        </p:spPr>
      </p:sp>
      <p:sp>
        <p:nvSpPr>
          <p:cNvPr id="19" name="Text 17"/>
          <p:cNvSpPr/>
          <p:nvPr/>
        </p:nvSpPr>
        <p:spPr>
          <a:xfrm>
            <a:off x="6949440" y="4178808"/>
            <a:ext cx="1920240" cy="3200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949440" y="4498848"/>
            <a:ext cx="1920240" cy="347472"/>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Analyses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65760"/>
          </a:xfrm>
          <a:prstGeom prst="rect">
            <a:avLst/>
          </a:prstGeom>
          <a:noFill/>
          <a:ln/>
        </p:spPr>
        <p:txBody>
          <a:bodyPr wrap="square" rtlCol="0" anchor="ctr"/>
          <a:lstStyle/>
          <a:p>
            <a:pPr indent="0" marL="0">
              <a:buNone/>
            </a:pPr>
            <a:r>
              <a:rPr lang="en-US" sz="1000" b="1" spc="400" kern="0" dirty="0">
                <a:solidFill>
                  <a:srgbClr val="14B8A6"/>
                </a:solidFill>
                <a:latin typeface="Calibri" pitchFamily="34" charset="0"/>
                <a:ea typeface="Calibri" pitchFamily="34" charset="-122"/>
                <a:cs typeface="Calibri" pitchFamily="34" charset="-120"/>
              </a:rPr>
              <a:t>PRESENTATION OVERVIEW</a:t>
            </a:r>
            <a:endParaRPr lang="en-US" sz="1000" dirty="0"/>
          </a:p>
        </p:txBody>
      </p:sp>
      <p:sp>
        <p:nvSpPr>
          <p:cNvPr id="4" name="Text 2"/>
          <p:cNvSpPr/>
          <p:nvPr/>
        </p:nvSpPr>
        <p:spPr>
          <a:xfrm>
            <a:off x="457200" y="45720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Clinical Trials Knowledge Graph — Three Core Analyses</a:t>
            </a:r>
            <a:endParaRPr lang="en-US" sz="2200" dirty="0"/>
          </a:p>
        </p:txBody>
      </p:sp>
      <p:sp>
        <p:nvSpPr>
          <p:cNvPr id="5" name="Shape 3"/>
          <p:cNvSpPr/>
          <p:nvPr/>
        </p:nvSpPr>
        <p:spPr>
          <a:xfrm>
            <a:off x="365760" y="1234440"/>
            <a:ext cx="2651760" cy="36576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234440"/>
            <a:ext cx="2651760" cy="109728"/>
          </a:xfrm>
          <a:prstGeom prst="rect">
            <a:avLst/>
          </a:prstGeom>
          <a:solidFill>
            <a:srgbClr val="5B4FCF"/>
          </a:solidFill>
          <a:ln/>
        </p:spPr>
      </p:sp>
      <p:sp>
        <p:nvSpPr>
          <p:cNvPr id="7" name="Text 5"/>
          <p:cNvSpPr/>
          <p:nvPr/>
        </p:nvSpPr>
        <p:spPr>
          <a:xfrm>
            <a:off x="365760" y="1371600"/>
            <a:ext cx="2651760" cy="594360"/>
          </a:xfrm>
          <a:prstGeom prst="rect">
            <a:avLst/>
          </a:prstGeom>
          <a:noFill/>
          <a:ln/>
        </p:spPr>
        <p:txBody>
          <a:bodyPr wrap="square" rtlCol="0" anchor="ctr"/>
          <a:lstStyle/>
          <a:p>
            <a:pPr algn="ctr" indent="0" marL="0">
              <a:buNone/>
            </a:pPr>
            <a:r>
              <a:rPr lang="en-US" sz="3200" b="1" dirty="0">
                <a:solidFill>
                  <a:srgbClr val="5B4FCF"/>
                </a:solidFill>
                <a:latin typeface="Calibri" pitchFamily="34" charset="0"/>
                <a:ea typeface="Calibri" pitchFamily="34" charset="-122"/>
                <a:cs typeface="Calibri" pitchFamily="34" charset="-120"/>
              </a:rPr>
              <a:t>01</a:t>
            </a:r>
            <a:endParaRPr lang="en-US" sz="3200" dirty="0"/>
          </a:p>
        </p:txBody>
      </p:sp>
      <p:sp>
        <p:nvSpPr>
          <p:cNvPr id="8" name="Text 6"/>
          <p:cNvSpPr/>
          <p:nvPr/>
        </p:nvSpPr>
        <p:spPr>
          <a:xfrm>
            <a:off x="365760" y="1965960"/>
            <a:ext cx="2651760" cy="411480"/>
          </a:xfrm>
          <a:prstGeom prst="rect">
            <a:avLst/>
          </a:prstGeom>
          <a:noFill/>
          <a:ln/>
        </p:spPr>
        <p:txBody>
          <a:bodyPr wrap="square" rtlCol="0" anchor="ctr"/>
          <a:lstStyle/>
          <a:p>
            <a:pPr algn="ctr" indent="0" marL="0">
              <a:buNone/>
            </a:pPr>
            <a:r>
              <a:rPr lang="en-US" sz="1400" b="1" dirty="0">
                <a:solidFill>
                  <a:srgbClr val="0F1F3D"/>
                </a:solidFill>
                <a:latin typeface="Calibri" pitchFamily="34" charset="0"/>
                <a:ea typeface="Calibri" pitchFamily="34" charset="-122"/>
                <a:cs typeface="Calibri" pitchFamily="34" charset="-120"/>
              </a:rPr>
              <a:t>Network Centrality</a:t>
            </a:r>
            <a:endParaRPr lang="en-US" sz="1400" dirty="0"/>
          </a:p>
        </p:txBody>
      </p:sp>
      <p:sp>
        <p:nvSpPr>
          <p:cNvPr id="9" name="Shape 7"/>
          <p:cNvSpPr/>
          <p:nvPr/>
        </p:nvSpPr>
        <p:spPr>
          <a:xfrm>
            <a:off x="822960" y="2423160"/>
            <a:ext cx="1737360" cy="0"/>
          </a:xfrm>
          <a:prstGeom prst="line">
            <a:avLst/>
          </a:prstGeom>
          <a:noFill/>
          <a:ln w="12700">
            <a:solidFill>
              <a:srgbClr val="5B4FCF"/>
            </a:solidFill>
            <a:prstDash val="solid"/>
          </a:ln>
        </p:spPr>
      </p:sp>
      <p:sp>
        <p:nvSpPr>
          <p:cNvPr id="10" name="Text 8"/>
          <p:cNvSpPr/>
          <p:nvPr/>
        </p:nvSpPr>
        <p:spPr>
          <a:xfrm>
            <a:off x="502920" y="2514600"/>
            <a:ext cx="2377440" cy="2194560"/>
          </a:xfrm>
          <a:prstGeom prst="rect">
            <a:avLst/>
          </a:prstGeom>
          <a:noFill/>
          <a:ln/>
        </p:spPr>
        <p:txBody>
          <a:bodyPr wrap="square" rtlCol="0" anchor="ctr"/>
          <a:lstStyle/>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Degree &amp; betweenness centrality</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on the drug–condition bipartite graph</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Identifies most-studied diseases</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and structural bridge nodes</a:t>
            </a:r>
            <a:endParaRPr lang="en-US" sz="1150" dirty="0"/>
          </a:p>
        </p:txBody>
      </p:sp>
      <p:sp>
        <p:nvSpPr>
          <p:cNvPr id="11" name="Shape 9"/>
          <p:cNvSpPr/>
          <p:nvPr/>
        </p:nvSpPr>
        <p:spPr>
          <a:xfrm>
            <a:off x="3200400" y="1234440"/>
            <a:ext cx="2651760" cy="36576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200400" y="1234440"/>
            <a:ext cx="2651760" cy="109728"/>
          </a:xfrm>
          <a:prstGeom prst="rect">
            <a:avLst/>
          </a:prstGeom>
          <a:solidFill>
            <a:srgbClr val="0D9488"/>
          </a:solidFill>
          <a:ln/>
        </p:spPr>
      </p:sp>
      <p:sp>
        <p:nvSpPr>
          <p:cNvPr id="13" name="Text 11"/>
          <p:cNvSpPr/>
          <p:nvPr/>
        </p:nvSpPr>
        <p:spPr>
          <a:xfrm>
            <a:off x="3200400" y="1371600"/>
            <a:ext cx="2651760" cy="594360"/>
          </a:xfrm>
          <a:prstGeom prst="rect">
            <a:avLst/>
          </a:prstGeom>
          <a:noFill/>
          <a:ln/>
        </p:spPr>
        <p:txBody>
          <a:bodyPr wrap="square" rtlCol="0" anchor="ctr"/>
          <a:lstStyle/>
          <a:p>
            <a:pPr algn="ctr" indent="0" marL="0">
              <a:buNone/>
            </a:pPr>
            <a:r>
              <a:rPr lang="en-US" sz="3200" b="1" dirty="0">
                <a:solidFill>
                  <a:srgbClr val="0D9488"/>
                </a:solidFill>
                <a:latin typeface="Calibri" pitchFamily="34" charset="0"/>
                <a:ea typeface="Calibri" pitchFamily="34" charset="-122"/>
                <a:cs typeface="Calibri" pitchFamily="34" charset="-120"/>
              </a:rPr>
              <a:t>02</a:t>
            </a:r>
            <a:endParaRPr lang="en-US" sz="3200" dirty="0"/>
          </a:p>
        </p:txBody>
      </p:sp>
      <p:sp>
        <p:nvSpPr>
          <p:cNvPr id="14" name="Text 12"/>
          <p:cNvSpPr/>
          <p:nvPr/>
        </p:nvSpPr>
        <p:spPr>
          <a:xfrm>
            <a:off x="3200400" y="1965960"/>
            <a:ext cx="2651760" cy="411480"/>
          </a:xfrm>
          <a:prstGeom prst="rect">
            <a:avLst/>
          </a:prstGeom>
          <a:noFill/>
          <a:ln/>
        </p:spPr>
        <p:txBody>
          <a:bodyPr wrap="square" rtlCol="0" anchor="ctr"/>
          <a:lstStyle/>
          <a:p>
            <a:pPr algn="ctr" indent="0" marL="0">
              <a:buNone/>
            </a:pPr>
            <a:r>
              <a:rPr lang="en-US" sz="1400" b="1" dirty="0">
                <a:solidFill>
                  <a:srgbClr val="0F1F3D"/>
                </a:solidFill>
                <a:latin typeface="Calibri" pitchFamily="34" charset="0"/>
                <a:ea typeface="Calibri" pitchFamily="34" charset="-122"/>
                <a:cs typeface="Calibri" pitchFamily="34" charset="-120"/>
              </a:rPr>
              <a:t>Community Detection</a:t>
            </a:r>
            <a:endParaRPr lang="en-US" sz="1400" dirty="0"/>
          </a:p>
        </p:txBody>
      </p:sp>
      <p:sp>
        <p:nvSpPr>
          <p:cNvPr id="15" name="Shape 13"/>
          <p:cNvSpPr/>
          <p:nvPr/>
        </p:nvSpPr>
        <p:spPr>
          <a:xfrm>
            <a:off x="3657600" y="2423160"/>
            <a:ext cx="1737360" cy="0"/>
          </a:xfrm>
          <a:prstGeom prst="line">
            <a:avLst/>
          </a:prstGeom>
          <a:noFill/>
          <a:ln w="12700">
            <a:solidFill>
              <a:srgbClr val="0D9488"/>
            </a:solidFill>
            <a:prstDash val="solid"/>
          </a:ln>
        </p:spPr>
      </p:sp>
      <p:sp>
        <p:nvSpPr>
          <p:cNvPr id="16" name="Text 14"/>
          <p:cNvSpPr/>
          <p:nvPr/>
        </p:nvSpPr>
        <p:spPr>
          <a:xfrm>
            <a:off x="3337560" y="2514600"/>
            <a:ext cx="2377440" cy="2194560"/>
          </a:xfrm>
          <a:prstGeom prst="rect">
            <a:avLst/>
          </a:prstGeom>
          <a:noFill/>
          <a:ln/>
        </p:spPr>
        <p:txBody>
          <a:bodyPr wrap="square" rtlCol="0" anchor="ctr"/>
          <a:lstStyle/>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Louvain algorithm partitioning</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15,585 communities identified</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Top 10 clusters interpreted</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as biomedical research domains</a:t>
            </a:r>
            <a:endParaRPr lang="en-US" sz="1150" dirty="0"/>
          </a:p>
        </p:txBody>
      </p:sp>
      <p:sp>
        <p:nvSpPr>
          <p:cNvPr id="17" name="Shape 15"/>
          <p:cNvSpPr/>
          <p:nvPr/>
        </p:nvSpPr>
        <p:spPr>
          <a:xfrm>
            <a:off x="6035040" y="1234440"/>
            <a:ext cx="2651760" cy="36576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6035040" y="1234440"/>
            <a:ext cx="2651760" cy="109728"/>
          </a:xfrm>
          <a:prstGeom prst="rect">
            <a:avLst/>
          </a:prstGeom>
          <a:solidFill>
            <a:srgbClr val="E05252"/>
          </a:solidFill>
          <a:ln/>
        </p:spPr>
      </p:sp>
      <p:sp>
        <p:nvSpPr>
          <p:cNvPr id="19" name="Text 17"/>
          <p:cNvSpPr/>
          <p:nvPr/>
        </p:nvSpPr>
        <p:spPr>
          <a:xfrm>
            <a:off x="6035040" y="1371600"/>
            <a:ext cx="2651760" cy="594360"/>
          </a:xfrm>
          <a:prstGeom prst="rect">
            <a:avLst/>
          </a:prstGeom>
          <a:noFill/>
          <a:ln/>
        </p:spPr>
        <p:txBody>
          <a:bodyPr wrap="square" rtlCol="0" anchor="ctr"/>
          <a:lstStyle/>
          <a:p>
            <a:pPr algn="ctr" indent="0" marL="0">
              <a:buNone/>
            </a:pPr>
            <a:r>
              <a:rPr lang="en-US" sz="3200" b="1" dirty="0">
                <a:solidFill>
                  <a:srgbClr val="E05252"/>
                </a:solidFill>
                <a:latin typeface="Calibri" pitchFamily="34" charset="0"/>
                <a:ea typeface="Calibri" pitchFamily="34" charset="-122"/>
                <a:cs typeface="Calibri" pitchFamily="34" charset="-120"/>
              </a:rPr>
              <a:t>03</a:t>
            </a:r>
            <a:endParaRPr lang="en-US" sz="3200" dirty="0"/>
          </a:p>
        </p:txBody>
      </p:sp>
      <p:sp>
        <p:nvSpPr>
          <p:cNvPr id="20" name="Text 18"/>
          <p:cNvSpPr/>
          <p:nvPr/>
        </p:nvSpPr>
        <p:spPr>
          <a:xfrm>
            <a:off x="6035040" y="1965960"/>
            <a:ext cx="2651760" cy="411480"/>
          </a:xfrm>
          <a:prstGeom prst="rect">
            <a:avLst/>
          </a:prstGeom>
          <a:noFill/>
          <a:ln/>
        </p:spPr>
        <p:txBody>
          <a:bodyPr wrap="square" rtlCol="0" anchor="ctr"/>
          <a:lstStyle/>
          <a:p>
            <a:pPr algn="ctr" indent="0" marL="0">
              <a:buNone/>
            </a:pPr>
            <a:r>
              <a:rPr lang="en-US" sz="1400" b="1" dirty="0">
                <a:solidFill>
                  <a:srgbClr val="0F1F3D"/>
                </a:solidFill>
                <a:latin typeface="Calibri" pitchFamily="34" charset="0"/>
                <a:ea typeface="Calibri" pitchFamily="34" charset="-122"/>
                <a:cs typeface="Calibri" pitchFamily="34" charset="-120"/>
              </a:rPr>
              <a:t>Drug Repurposing</a:t>
            </a:r>
            <a:endParaRPr lang="en-US" sz="1400" dirty="0"/>
          </a:p>
        </p:txBody>
      </p:sp>
      <p:sp>
        <p:nvSpPr>
          <p:cNvPr id="21" name="Shape 19"/>
          <p:cNvSpPr/>
          <p:nvPr/>
        </p:nvSpPr>
        <p:spPr>
          <a:xfrm>
            <a:off x="6492240" y="2423160"/>
            <a:ext cx="1737360" cy="0"/>
          </a:xfrm>
          <a:prstGeom prst="line">
            <a:avLst/>
          </a:prstGeom>
          <a:noFill/>
          <a:ln w="12700">
            <a:solidFill>
              <a:srgbClr val="E05252"/>
            </a:solidFill>
            <a:prstDash val="solid"/>
          </a:ln>
        </p:spPr>
      </p:sp>
      <p:sp>
        <p:nvSpPr>
          <p:cNvPr id="22" name="Text 20"/>
          <p:cNvSpPr/>
          <p:nvPr/>
        </p:nvSpPr>
        <p:spPr>
          <a:xfrm>
            <a:off x="6172200" y="2514600"/>
            <a:ext cx="2377440" cy="2194560"/>
          </a:xfrm>
          <a:prstGeom prst="rect">
            <a:avLst/>
          </a:prstGeom>
          <a:noFill/>
          <a:ln/>
        </p:spPr>
        <p:txBody>
          <a:bodyPr wrap="square" rtlCol="0" anchor="ctr"/>
          <a:lstStyle/>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Drugs studied across the most</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distinct conditions in trials</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21 real drug candidates identified</a:t>
            </a:r>
            <a:endParaRPr lang="en-US" sz="1150" dirty="0"/>
          </a:p>
          <a:p>
            <a:pPr marL="342900" indent="-342900">
              <a:lnSpc>
                <a:spcPct val="140000"/>
              </a:lnSpc>
              <a:buSzPct val="100000"/>
              <a:buChar char="•"/>
            </a:pPr>
            <a:r>
              <a:rPr lang="en-US" sz="1150" dirty="0">
                <a:solidFill>
                  <a:srgbClr val="64748B"/>
                </a:solidFill>
                <a:latin typeface="Calibri" pitchFamily="34" charset="0"/>
                <a:ea typeface="Calibri" pitchFamily="34" charset="-122"/>
                <a:cs typeface="Calibri" pitchFamily="34" charset="-120"/>
              </a:rPr>
              <a:t>with mechanistic interpretation</a:t>
            </a:r>
            <a:endParaRPr lang="en-US" sz="1150" dirty="0"/>
          </a:p>
        </p:txBody>
      </p:sp>
      <p:sp>
        <p:nvSpPr>
          <p:cNvPr id="23" name="Text 21"/>
          <p:cNvSpPr/>
          <p:nvPr/>
        </p:nvSpPr>
        <p:spPr>
          <a:xfrm>
            <a:off x="365760" y="4846320"/>
            <a:ext cx="8412480" cy="228600"/>
          </a:xfrm>
          <a:prstGeom prst="rect">
            <a:avLst/>
          </a:prstGeom>
          <a:noFill/>
          <a:ln/>
        </p:spPr>
        <p:txBody>
          <a:bodyPr wrap="square"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Source: Drug–Condition bipartite graph constructed from ClinicalTrials.gov records via Neo4j Knowledge Graph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7B6FDF"/>
                </a:solidFill>
                <a:latin typeface="Calibri" pitchFamily="34" charset="0"/>
                <a:ea typeface="Calibri" pitchFamily="34" charset="-122"/>
                <a:cs typeface="Calibri" pitchFamily="34" charset="-120"/>
              </a:rPr>
              <a:t>ANALYSIS 1 — NETWORK CENTRALITY</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Methodology: Drug–Condition Bipartite Graph</a:t>
            </a:r>
            <a:endParaRPr lang="en-US" sz="2000" dirty="0"/>
          </a:p>
        </p:txBody>
      </p:sp>
      <p:sp>
        <p:nvSpPr>
          <p:cNvPr id="5" name="Shape 3"/>
          <p:cNvSpPr/>
          <p:nvPr/>
        </p:nvSpPr>
        <p:spPr>
          <a:xfrm>
            <a:off x="365760" y="1234440"/>
            <a:ext cx="4023360" cy="3474720"/>
          </a:xfrm>
          <a:prstGeom prst="rect">
            <a:avLst/>
          </a:prstGeom>
          <a:solidFill>
            <a:srgbClr val="FFFFFF"/>
          </a:solidFill>
          <a:ln w="12700">
            <a:solidFill>
              <a:srgbClr val="5B4FCF"/>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234440"/>
            <a:ext cx="4023360" cy="502920"/>
          </a:xfrm>
          <a:prstGeom prst="rect">
            <a:avLst/>
          </a:prstGeom>
          <a:solidFill>
            <a:srgbClr val="5B4FCF"/>
          </a:solidFill>
          <a:ln/>
        </p:spPr>
      </p:sp>
      <p:sp>
        <p:nvSpPr>
          <p:cNvPr id="7" name="Text 5"/>
          <p:cNvSpPr/>
          <p:nvPr/>
        </p:nvSpPr>
        <p:spPr>
          <a:xfrm>
            <a:off x="365760" y="1252728"/>
            <a:ext cx="402336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Degree Centrality</a:t>
            </a:r>
            <a:endParaRPr lang="en-US" sz="1500" dirty="0"/>
          </a:p>
        </p:txBody>
      </p:sp>
      <p:sp>
        <p:nvSpPr>
          <p:cNvPr id="8" name="Shape 6"/>
          <p:cNvSpPr/>
          <p:nvPr/>
        </p:nvSpPr>
        <p:spPr>
          <a:xfrm>
            <a:off x="548640" y="1783080"/>
            <a:ext cx="3657600" cy="384048"/>
          </a:xfrm>
          <a:prstGeom prst="rect">
            <a:avLst/>
          </a:prstGeom>
          <a:solidFill>
            <a:srgbClr val="5B4FCF">
              <a:alpha val="12000"/>
            </a:srgbClr>
          </a:solidFill>
          <a:ln/>
        </p:spPr>
      </p:sp>
      <p:sp>
        <p:nvSpPr>
          <p:cNvPr id="9" name="Text 7"/>
          <p:cNvSpPr/>
          <p:nvPr/>
        </p:nvSpPr>
        <p:spPr>
          <a:xfrm>
            <a:off x="548640" y="1801368"/>
            <a:ext cx="3657600" cy="347472"/>
          </a:xfrm>
          <a:prstGeom prst="rect">
            <a:avLst/>
          </a:prstGeom>
          <a:noFill/>
          <a:ln/>
        </p:spPr>
        <p:txBody>
          <a:bodyPr wrap="square" rtlCol="0" anchor="ctr"/>
          <a:lstStyle/>
          <a:p>
            <a:pPr algn="ctr" indent="0" marL="0">
              <a:buNone/>
            </a:pPr>
            <a:r>
              <a:rPr lang="en-US" sz="1000" b="1" i="1" dirty="0">
                <a:solidFill>
                  <a:srgbClr val="5B4FCF"/>
                </a:solidFill>
                <a:latin typeface="Calibri" pitchFamily="34" charset="0"/>
                <a:ea typeface="Calibri" pitchFamily="34" charset="-122"/>
                <a:cs typeface="Calibri" pitchFamily="34" charset="-120"/>
              </a:rPr>
              <a:t>Formula: # unique connections / (N-1)</a:t>
            </a:r>
            <a:endParaRPr lang="en-US" sz="1000" dirty="0"/>
          </a:p>
        </p:txBody>
      </p:sp>
      <p:sp>
        <p:nvSpPr>
          <p:cNvPr id="10" name="Text 8"/>
          <p:cNvSpPr/>
          <p:nvPr/>
        </p:nvSpPr>
        <p:spPr>
          <a:xfrm>
            <a:off x="548640" y="2240280"/>
            <a:ext cx="3657600" cy="2286000"/>
          </a:xfrm>
          <a:prstGeom prst="rect">
            <a:avLst/>
          </a:prstGeom>
          <a:noFill/>
          <a:ln/>
        </p:spPr>
        <p:txBody>
          <a:bodyPr wrap="square" rtlCol="0" anchor="ctr"/>
          <a:lstStyle/>
          <a:p>
            <a:pPr indent="0" marL="0">
              <a:lnSpc>
                <a:spcPct val="150000"/>
              </a:lnSpc>
              <a:buNone/>
            </a:pPr>
            <a:r>
              <a:rPr lang="en-US" sz="1200" dirty="0">
                <a:solidFill>
                  <a:srgbClr val="64748B"/>
                </a:solidFill>
                <a:latin typeface="Calibri" pitchFamily="34" charset="0"/>
                <a:ea typeface="Calibri" pitchFamily="34" charset="-122"/>
                <a:cs typeface="Calibri" pitchFamily="34" charset="-120"/>
              </a:rPr>
              <a:t>For a CONDITION node: how many distinct drugs have been tested against it across all trials. High degree = most researched disease area. Reflects global trial investment and disease burden priorities.</a:t>
            </a:r>
            <a:endParaRPr lang="en-US" sz="1200" dirty="0"/>
          </a:p>
        </p:txBody>
      </p:sp>
      <p:sp>
        <p:nvSpPr>
          <p:cNvPr id="11" name="Shape 9"/>
          <p:cNvSpPr/>
          <p:nvPr/>
        </p:nvSpPr>
        <p:spPr>
          <a:xfrm>
            <a:off x="4709160" y="1234440"/>
            <a:ext cx="4023360" cy="347472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4709160" y="1234440"/>
            <a:ext cx="4023360" cy="502920"/>
          </a:xfrm>
          <a:prstGeom prst="rect">
            <a:avLst/>
          </a:prstGeom>
          <a:solidFill>
            <a:srgbClr val="0D9488"/>
          </a:solidFill>
          <a:ln/>
        </p:spPr>
      </p:sp>
      <p:sp>
        <p:nvSpPr>
          <p:cNvPr id="13" name="Text 11"/>
          <p:cNvSpPr/>
          <p:nvPr/>
        </p:nvSpPr>
        <p:spPr>
          <a:xfrm>
            <a:off x="4709160" y="1252728"/>
            <a:ext cx="402336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Betweenness Centrality</a:t>
            </a:r>
            <a:endParaRPr lang="en-US" sz="1500" dirty="0"/>
          </a:p>
        </p:txBody>
      </p:sp>
      <p:sp>
        <p:nvSpPr>
          <p:cNvPr id="14" name="Shape 12"/>
          <p:cNvSpPr/>
          <p:nvPr/>
        </p:nvSpPr>
        <p:spPr>
          <a:xfrm>
            <a:off x="4892040" y="1783080"/>
            <a:ext cx="3657600" cy="384048"/>
          </a:xfrm>
          <a:prstGeom prst="rect">
            <a:avLst/>
          </a:prstGeom>
          <a:solidFill>
            <a:srgbClr val="0D9488">
              <a:alpha val="12000"/>
            </a:srgbClr>
          </a:solidFill>
          <a:ln/>
        </p:spPr>
      </p:sp>
      <p:sp>
        <p:nvSpPr>
          <p:cNvPr id="15" name="Text 13"/>
          <p:cNvSpPr/>
          <p:nvPr/>
        </p:nvSpPr>
        <p:spPr>
          <a:xfrm>
            <a:off x="4892040" y="1801368"/>
            <a:ext cx="3657600" cy="347472"/>
          </a:xfrm>
          <a:prstGeom prst="rect">
            <a:avLst/>
          </a:prstGeom>
          <a:noFill/>
          <a:ln/>
        </p:spPr>
        <p:txBody>
          <a:bodyPr wrap="square" rtlCol="0" anchor="ctr"/>
          <a:lstStyle/>
          <a:p>
            <a:pPr algn="ctr" indent="0" marL="0">
              <a:buNone/>
            </a:pPr>
            <a:r>
              <a:rPr lang="en-US" sz="1000" b="1" i="1" dirty="0">
                <a:solidFill>
                  <a:srgbClr val="0D9488"/>
                </a:solidFill>
                <a:latin typeface="Calibri" pitchFamily="34" charset="0"/>
                <a:ea typeface="Calibri" pitchFamily="34" charset="-122"/>
                <a:cs typeface="Calibri" pitchFamily="34" charset="-120"/>
              </a:rPr>
              <a:t>Formula: Fraction of shortest paths passing through node</a:t>
            </a:r>
            <a:endParaRPr lang="en-US" sz="1000" dirty="0"/>
          </a:p>
        </p:txBody>
      </p:sp>
      <p:sp>
        <p:nvSpPr>
          <p:cNvPr id="16" name="Text 14"/>
          <p:cNvSpPr/>
          <p:nvPr/>
        </p:nvSpPr>
        <p:spPr>
          <a:xfrm>
            <a:off x="4892040" y="2240280"/>
            <a:ext cx="3657600" cy="2286000"/>
          </a:xfrm>
          <a:prstGeom prst="rect">
            <a:avLst/>
          </a:prstGeom>
          <a:noFill/>
          <a:ln/>
        </p:spPr>
        <p:txBody>
          <a:bodyPr wrap="square" rtlCol="0" anchor="ctr"/>
          <a:lstStyle/>
          <a:p>
            <a:pPr indent="0" marL="0">
              <a:lnSpc>
                <a:spcPct val="150000"/>
              </a:lnSpc>
              <a:buNone/>
            </a:pPr>
            <a:r>
              <a:rPr lang="en-US" sz="1200" dirty="0">
                <a:solidFill>
                  <a:srgbClr val="64748B"/>
                </a:solidFill>
                <a:latin typeface="Calibri" pitchFamily="34" charset="0"/>
                <a:ea typeface="Calibri" pitchFamily="34" charset="-122"/>
                <a:cs typeface="Calibri" pitchFamily="34" charset="-120"/>
              </a:rPr>
              <a:t>Identifies structural bridge nodes — those that connect otherwise disconnected trial clusters. A high-betweenness node removed would fragment the network. Reveals cross-domain research connectors.</a:t>
            </a:r>
            <a:endParaRPr lang="en-US" sz="1200" dirty="0"/>
          </a:p>
        </p:txBody>
      </p:sp>
      <p:sp>
        <p:nvSpPr>
          <p:cNvPr id="17" name="Shape 15"/>
          <p:cNvSpPr/>
          <p:nvPr/>
        </p:nvSpPr>
        <p:spPr>
          <a:xfrm>
            <a:off x="365760" y="4736592"/>
            <a:ext cx="8412480" cy="274320"/>
          </a:xfrm>
          <a:prstGeom prst="rect">
            <a:avLst/>
          </a:prstGeom>
          <a:solidFill>
            <a:srgbClr val="0F1F3D">
              <a:alpha val="10000"/>
            </a:srgbClr>
          </a:solidFill>
          <a:ln/>
        </p:spPr>
      </p:sp>
      <p:sp>
        <p:nvSpPr>
          <p:cNvPr id="18" name="Text 16"/>
          <p:cNvSpPr/>
          <p:nvPr/>
        </p:nvSpPr>
        <p:spPr>
          <a:xfrm>
            <a:off x="457200" y="4754880"/>
            <a:ext cx="8229600" cy="228600"/>
          </a:xfrm>
          <a:prstGeom prst="rect">
            <a:avLst/>
          </a:prstGeom>
          <a:noFill/>
          <a:ln/>
        </p:spPr>
        <p:txBody>
          <a:bodyPr wrap="square" rtlCol="0" anchor="ctr"/>
          <a:lstStyle/>
          <a:p>
            <a:pPr indent="0" marL="0">
              <a:buNone/>
            </a:pPr>
            <a:r>
              <a:rPr lang="en-US" sz="900" dirty="0">
                <a:solidFill>
                  <a:srgbClr val="64748B"/>
                </a:solidFill>
                <a:latin typeface="Consolas" pitchFamily="34" charset="0"/>
                <a:ea typeface="Consolas" pitchFamily="34" charset="-122"/>
                <a:cs typeface="Consolas" pitchFamily="34" charset="-120"/>
              </a:rPr>
              <a:t>Graph construction: MATCH (Study)-[:USES_INTERVENTION]-&gt;(Intervention), (Study)-[:STUDIES]-&gt;(Condition)  →  nx.Graph() with 593,487 nodes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7B6FDF"/>
                </a:solidFill>
                <a:latin typeface="Calibri" pitchFamily="34" charset="0"/>
                <a:ea typeface="Calibri" pitchFamily="34" charset="-122"/>
                <a:cs typeface="Calibri" pitchFamily="34" charset="-120"/>
              </a:rPr>
              <a:t>DEGREE CENTRALITY — TOP CONDITIONS</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Most-Connected Disease Areas in Clinical Trial Network</a:t>
            </a:r>
            <a:endParaRPr lang="en-US" sz="2000" dirty="0"/>
          </a:p>
        </p:txBody>
      </p:sp>
      <p:graphicFrame>
        <p:nvGraphicFramePr>
          <p:cNvPr id="5" name="Chart 0" descr=""/>
          <p:cNvGraphicFramePr/>
          <p:nvPr/>
        </p:nvGraphicFramePr>
        <p:xfrm>
          <a:off x="274320" y="1097280"/>
          <a:ext cx="502920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0" y="1143000"/>
            <a:ext cx="3383280" cy="1097280"/>
          </a:xfrm>
          <a:prstGeom prst="rect">
            <a:avLst/>
          </a:prstGeom>
          <a:solidFill>
            <a:srgbClr val="FFFFFF"/>
          </a:solidFill>
          <a:ln w="12700">
            <a:solidFill>
              <a:srgbClr val="5B4FCF"/>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5486400" y="1143000"/>
            <a:ext cx="91440" cy="1097280"/>
          </a:xfrm>
          <a:prstGeom prst="rect">
            <a:avLst/>
          </a:prstGeom>
          <a:solidFill>
            <a:srgbClr val="5B4FCF"/>
          </a:solidFill>
          <a:ln/>
        </p:spPr>
      </p:sp>
      <p:sp>
        <p:nvSpPr>
          <p:cNvPr id="8" name="Text 5"/>
          <p:cNvSpPr/>
          <p:nvPr/>
        </p:nvSpPr>
        <p:spPr>
          <a:xfrm>
            <a:off x="5669280" y="1188720"/>
            <a:ext cx="3108960" cy="274320"/>
          </a:xfrm>
          <a:prstGeom prst="rect">
            <a:avLst/>
          </a:prstGeom>
          <a:noFill/>
          <a:ln/>
        </p:spPr>
        <p:txBody>
          <a:bodyPr wrap="square"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Obesity (0.0150)</a:t>
            </a:r>
            <a:endParaRPr lang="en-US" sz="1100" dirty="0"/>
          </a:p>
        </p:txBody>
      </p:sp>
      <p:sp>
        <p:nvSpPr>
          <p:cNvPr id="9" name="Text 6"/>
          <p:cNvSpPr/>
          <p:nvPr/>
        </p:nvSpPr>
        <p:spPr>
          <a:xfrm>
            <a:off x="5669280" y="1463040"/>
            <a:ext cx="3108960" cy="731520"/>
          </a:xfrm>
          <a:prstGeom prst="rect">
            <a:avLst/>
          </a:prstGeom>
          <a:noFill/>
          <a:ln/>
        </p:spPr>
        <p:txBody>
          <a:bodyPr wrap="square" rtlCol="0" anchor="ctr"/>
          <a:lstStyle/>
          <a:p>
            <a:pPr indent="0" marL="0">
              <a:lnSpc>
                <a:spcPct val="130000"/>
              </a:lnSpc>
              <a:buNone/>
            </a:pPr>
            <a:r>
              <a:rPr lang="en-US" sz="950" dirty="0">
                <a:solidFill>
                  <a:srgbClr val="64748B"/>
                </a:solidFill>
                <a:latin typeface="Calibri" pitchFamily="34" charset="0"/>
                <a:ea typeface="Calibri" pitchFamily="34" charset="-122"/>
                <a:cs typeface="Calibri" pitchFamily="34" charset="-120"/>
              </a:rPr>
              <a:t>Highest degree: GLP-1 agonists, SGLT2 inhibitors, bariatric, dietary, and behavioral trials all converge on this node. Reflects the global obesity epidemic driving massive trial investment.</a:t>
            </a:r>
            <a:endParaRPr lang="en-US" sz="950" dirty="0"/>
          </a:p>
        </p:txBody>
      </p:sp>
      <p:sp>
        <p:nvSpPr>
          <p:cNvPr id="10" name="Shape 7"/>
          <p:cNvSpPr/>
          <p:nvPr/>
        </p:nvSpPr>
        <p:spPr>
          <a:xfrm>
            <a:off x="5486400" y="2377440"/>
            <a:ext cx="3383280" cy="1097280"/>
          </a:xfrm>
          <a:prstGeom prst="rect">
            <a:avLst/>
          </a:prstGeom>
          <a:solidFill>
            <a:srgbClr val="FFFFFF"/>
          </a:solidFill>
          <a:ln w="12700">
            <a:solidFill>
              <a:srgbClr val="7B6FDF"/>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5486400" y="2377440"/>
            <a:ext cx="91440" cy="1097280"/>
          </a:xfrm>
          <a:prstGeom prst="rect">
            <a:avLst/>
          </a:prstGeom>
          <a:solidFill>
            <a:srgbClr val="7B6FDF"/>
          </a:solidFill>
          <a:ln/>
        </p:spPr>
      </p:sp>
      <p:sp>
        <p:nvSpPr>
          <p:cNvPr id="12" name="Text 9"/>
          <p:cNvSpPr/>
          <p:nvPr/>
        </p:nvSpPr>
        <p:spPr>
          <a:xfrm>
            <a:off x="5669280" y="2423160"/>
            <a:ext cx="3108960" cy="274320"/>
          </a:xfrm>
          <a:prstGeom prst="rect">
            <a:avLst/>
          </a:prstGeom>
          <a:noFill/>
          <a:ln/>
        </p:spPr>
        <p:txBody>
          <a:bodyPr wrap="square"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Breast Cancer (0.0143)</a:t>
            </a:r>
            <a:endParaRPr lang="en-US" sz="1100" dirty="0"/>
          </a:p>
        </p:txBody>
      </p:sp>
      <p:sp>
        <p:nvSpPr>
          <p:cNvPr id="13" name="Text 10"/>
          <p:cNvSpPr/>
          <p:nvPr/>
        </p:nvSpPr>
        <p:spPr>
          <a:xfrm>
            <a:off x="5669280" y="2697480"/>
            <a:ext cx="3108960" cy="731520"/>
          </a:xfrm>
          <a:prstGeom prst="rect">
            <a:avLst/>
          </a:prstGeom>
          <a:noFill/>
          <a:ln/>
        </p:spPr>
        <p:txBody>
          <a:bodyPr wrap="square" rtlCol="0" anchor="ctr"/>
          <a:lstStyle/>
          <a:p>
            <a:pPr indent="0" marL="0">
              <a:lnSpc>
                <a:spcPct val="130000"/>
              </a:lnSpc>
              <a:buNone/>
            </a:pPr>
            <a:r>
              <a:rPr lang="en-US" sz="950" dirty="0">
                <a:solidFill>
                  <a:srgbClr val="64748B"/>
                </a:solidFill>
                <a:latin typeface="Calibri" pitchFamily="34" charset="0"/>
                <a:ea typeface="Calibri" pitchFamily="34" charset="-122"/>
                <a:cs typeface="Calibri" pitchFamily="34" charset="-120"/>
              </a:rPr>
              <a:t>Tested with the widest variety of drugs — chemotherapy backbones, targeted therapies (CDK4/6i, HER2), immunotherapy, and hormonal agents all connect here.</a:t>
            </a:r>
            <a:endParaRPr lang="en-US" sz="950" dirty="0"/>
          </a:p>
        </p:txBody>
      </p:sp>
      <p:sp>
        <p:nvSpPr>
          <p:cNvPr id="14" name="Shape 11"/>
          <p:cNvSpPr/>
          <p:nvPr/>
        </p:nvSpPr>
        <p:spPr>
          <a:xfrm>
            <a:off x="5486400" y="3611880"/>
            <a:ext cx="3383280" cy="10972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15" name="Shape 12"/>
          <p:cNvSpPr/>
          <p:nvPr/>
        </p:nvSpPr>
        <p:spPr>
          <a:xfrm>
            <a:off x="5486400" y="3611880"/>
            <a:ext cx="91440" cy="1097280"/>
          </a:xfrm>
          <a:prstGeom prst="rect">
            <a:avLst/>
          </a:prstGeom>
          <a:solidFill>
            <a:srgbClr val="0D9488"/>
          </a:solidFill>
          <a:ln/>
        </p:spPr>
      </p:sp>
      <p:sp>
        <p:nvSpPr>
          <p:cNvPr id="16" name="Text 13"/>
          <p:cNvSpPr/>
          <p:nvPr/>
        </p:nvSpPr>
        <p:spPr>
          <a:xfrm>
            <a:off x="5669280" y="3657600"/>
            <a:ext cx="3108960" cy="274320"/>
          </a:xfrm>
          <a:prstGeom prst="rect">
            <a:avLst/>
          </a:prstGeom>
          <a:noFill/>
          <a:ln/>
        </p:spPr>
        <p:txBody>
          <a:bodyPr wrap="square"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Pain &amp; Heart Failure</a:t>
            </a:r>
            <a:endParaRPr lang="en-US" sz="1100" dirty="0"/>
          </a:p>
        </p:txBody>
      </p:sp>
      <p:sp>
        <p:nvSpPr>
          <p:cNvPr id="17" name="Text 14"/>
          <p:cNvSpPr/>
          <p:nvPr/>
        </p:nvSpPr>
        <p:spPr>
          <a:xfrm>
            <a:off x="5669280" y="3931920"/>
            <a:ext cx="3108960" cy="731520"/>
          </a:xfrm>
          <a:prstGeom prst="rect">
            <a:avLst/>
          </a:prstGeom>
          <a:noFill/>
          <a:ln/>
        </p:spPr>
        <p:txBody>
          <a:bodyPr wrap="square" rtlCol="0" anchor="ctr"/>
          <a:lstStyle/>
          <a:p>
            <a:pPr indent="0" marL="0">
              <a:lnSpc>
                <a:spcPct val="130000"/>
              </a:lnSpc>
              <a:buNone/>
            </a:pPr>
            <a:r>
              <a:rPr lang="en-US" sz="950" dirty="0">
                <a:solidFill>
                  <a:srgbClr val="64748B"/>
                </a:solidFill>
                <a:latin typeface="Calibri" pitchFamily="34" charset="0"/>
                <a:ea typeface="Calibri" pitchFamily="34" charset="-122"/>
                <a:cs typeface="Calibri" pitchFamily="34" charset="-120"/>
              </a:rPr>
              <a:t>Despite appearing mid-list in degree, both score very high in betweenness — they act as bridges between analgesic, surgical, and cardiovascular clusters.</a:t>
            </a:r>
            <a:endParaRPr lang="en-US" sz="950" dirty="0"/>
          </a:p>
        </p:txBody>
      </p:sp>
      <p:sp>
        <p:nvSpPr>
          <p:cNvPr id="18" name="Text 15"/>
          <p:cNvSpPr/>
          <p:nvPr/>
        </p:nvSpPr>
        <p:spPr>
          <a:xfrm>
            <a:off x="365760" y="4800600"/>
            <a:ext cx="8412480" cy="256032"/>
          </a:xfrm>
          <a:prstGeom prst="rect">
            <a:avLst/>
          </a:prstGeom>
          <a:noFill/>
          <a:ln/>
        </p:spPr>
        <p:txBody>
          <a:bodyPr wrap="square" rtlCol="0" anchor="ctr"/>
          <a:lstStyle/>
          <a:p>
            <a:pPr indent="0" marL="0">
              <a:buNone/>
            </a:pPr>
            <a:r>
              <a:rPr lang="en-US" sz="950" b="1" i="1" dirty="0">
                <a:solidFill>
                  <a:srgbClr val="5B4FCF"/>
                </a:solidFill>
                <a:latin typeface="Calibri" pitchFamily="34" charset="0"/>
                <a:ea typeface="Calibri" pitchFamily="34" charset="-122"/>
                <a:cs typeface="Calibri" pitchFamily="34" charset="-120"/>
              </a:rPr>
              <a:t>Key insight: All top nodes are DISEASE CONDITIONS — confirming the graph's condition-centric structure driven by trial volume per disease area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BETWEENNESS CENTRALITY — BRIDGE NODES</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Structural Connectors Across Therapeutic Areas</a:t>
            </a:r>
            <a:endParaRPr lang="en-US" sz="2000" dirty="0"/>
          </a:p>
        </p:txBody>
      </p:sp>
      <p:graphicFrame>
        <p:nvGraphicFramePr>
          <p:cNvPr id="5" name="Chart 0" descr=""/>
          <p:cNvGraphicFramePr/>
          <p:nvPr/>
        </p:nvGraphicFramePr>
        <p:xfrm>
          <a:off x="274320" y="1097280"/>
          <a:ext cx="502920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0" y="1143000"/>
            <a:ext cx="3383280" cy="1325880"/>
          </a:xfrm>
          <a:prstGeom prst="rect">
            <a:avLst/>
          </a:prstGeom>
          <a:solidFill>
            <a:srgbClr val="FFF1F1"/>
          </a:solidFill>
          <a:ln w="12700">
            <a:solidFill>
              <a:srgbClr val="E05252"/>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5486400" y="1143000"/>
            <a:ext cx="109728" cy="1325880"/>
          </a:xfrm>
          <a:prstGeom prst="rect">
            <a:avLst/>
          </a:prstGeom>
          <a:solidFill>
            <a:srgbClr val="E05252"/>
          </a:solidFill>
          <a:ln/>
        </p:spPr>
      </p:sp>
      <p:sp>
        <p:nvSpPr>
          <p:cNvPr id="8" name="Text 5"/>
          <p:cNvSpPr/>
          <p:nvPr/>
        </p:nvSpPr>
        <p:spPr>
          <a:xfrm>
            <a:off x="5669280" y="1170432"/>
            <a:ext cx="3108960" cy="320040"/>
          </a:xfrm>
          <a:prstGeom prst="rect">
            <a:avLst/>
          </a:prstGeom>
          <a:noFill/>
          <a:ln/>
        </p:spPr>
        <p:txBody>
          <a:bodyPr wrap="square" rtlCol="0" anchor="ctr"/>
          <a:lstStyle/>
          <a:p>
            <a:pPr indent="0" marL="0">
              <a:buNone/>
            </a:pPr>
            <a:r>
              <a:rPr lang="en-US" sz="1100" b="1" dirty="0">
                <a:solidFill>
                  <a:srgbClr val="E05252"/>
                </a:solidFill>
                <a:latin typeface="Calibri" pitchFamily="34" charset="0"/>
                <a:ea typeface="Calibri" pitchFamily="34" charset="-122"/>
                <a:cs typeface="Calibri" pitchFamily="34" charset="-120"/>
              </a:rPr>
              <a:t>⭐  Dexamethasone — Only Drug</a:t>
            </a:r>
            <a:endParaRPr lang="en-US" sz="1100" dirty="0"/>
          </a:p>
        </p:txBody>
      </p:sp>
      <p:sp>
        <p:nvSpPr>
          <p:cNvPr id="9" name="Text 6"/>
          <p:cNvSpPr/>
          <p:nvPr/>
        </p:nvSpPr>
        <p:spPr>
          <a:xfrm>
            <a:off x="5669280" y="1481328"/>
            <a:ext cx="3108960" cy="914400"/>
          </a:xfrm>
          <a:prstGeom prst="rect">
            <a:avLst/>
          </a:prstGeom>
          <a:noFill/>
          <a:ln/>
        </p:spPr>
        <p:txBody>
          <a:bodyPr wrap="square" rtlCol="0" anchor="ctr"/>
          <a:lstStyle/>
          <a:p>
            <a:pPr indent="0" marL="0">
              <a:lnSpc>
                <a:spcPct val="130000"/>
              </a:lnSpc>
              <a:buNone/>
            </a:pPr>
            <a:r>
              <a:rPr lang="en-US" sz="950" dirty="0">
                <a:solidFill>
                  <a:srgbClr val="64748B"/>
                </a:solidFill>
                <a:latin typeface="Calibri" pitchFamily="34" charset="0"/>
                <a:ea typeface="Calibri" pitchFamily="34" charset="-122"/>
                <a:cs typeface="Calibri" pitchFamily="34" charset="-120"/>
              </a:rPr>
              <a:t>The sole pharmaceutical agent in the betweenness top 25. Used in oncology pre-medication, COVID-19 (RECOVERY trial), surgical anaesthesia, sepsis, and haematology — spanning ALL major disease communities simultaneously.</a:t>
            </a:r>
            <a:endParaRPr lang="en-US" sz="950" dirty="0"/>
          </a:p>
        </p:txBody>
      </p:sp>
      <p:sp>
        <p:nvSpPr>
          <p:cNvPr id="10" name="Shape 7"/>
          <p:cNvSpPr/>
          <p:nvPr/>
        </p:nvSpPr>
        <p:spPr>
          <a:xfrm>
            <a:off x="5486400" y="2606040"/>
            <a:ext cx="3383280" cy="8686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5486400" y="2606040"/>
            <a:ext cx="91440" cy="868680"/>
          </a:xfrm>
          <a:prstGeom prst="rect">
            <a:avLst/>
          </a:prstGeom>
          <a:solidFill>
            <a:srgbClr val="0D9488"/>
          </a:solidFill>
          <a:ln/>
        </p:spPr>
      </p:sp>
      <p:sp>
        <p:nvSpPr>
          <p:cNvPr id="12" name="Text 9"/>
          <p:cNvSpPr/>
          <p:nvPr/>
        </p:nvSpPr>
        <p:spPr>
          <a:xfrm>
            <a:off x="5623560" y="2642616"/>
            <a:ext cx="3108960" cy="237744"/>
          </a:xfrm>
          <a:prstGeom prst="rect">
            <a:avLst/>
          </a:prstGeom>
          <a:noFill/>
          <a:ln/>
        </p:spPr>
        <p:txBody>
          <a:bodyPr wrap="square" rtlCol="0" anchor="ctr"/>
          <a:lstStyle/>
          <a:p>
            <a:pPr indent="0" marL="0">
              <a:buNone/>
            </a:pPr>
            <a:r>
              <a:rPr lang="en-US" sz="1000" b="1" dirty="0">
                <a:solidFill>
                  <a:srgbClr val="0F1F3D"/>
                </a:solidFill>
                <a:latin typeface="Calibri" pitchFamily="34" charset="0"/>
                <a:ea typeface="Calibri" pitchFamily="34" charset="-122"/>
                <a:cs typeface="Calibri" pitchFamily="34" charset="-120"/>
              </a:rPr>
              <a:t>Knee Osteoarthritis (0.020)</a:t>
            </a:r>
            <a:endParaRPr lang="en-US" sz="1000" dirty="0"/>
          </a:p>
        </p:txBody>
      </p:sp>
      <p:sp>
        <p:nvSpPr>
          <p:cNvPr id="13" name="Text 10"/>
          <p:cNvSpPr/>
          <p:nvPr/>
        </p:nvSpPr>
        <p:spPr>
          <a:xfrm>
            <a:off x="5623560" y="2880360"/>
            <a:ext cx="3154680" cy="530352"/>
          </a:xfrm>
          <a:prstGeom prst="rect">
            <a:avLst/>
          </a:prstGeom>
          <a:noFill/>
          <a:ln/>
        </p:spPr>
        <p:txBody>
          <a:bodyPr wrap="square" rtlCol="0" anchor="ctr"/>
          <a:lstStyle/>
          <a:p>
            <a:pPr indent="0" marL="0">
              <a:lnSpc>
                <a:spcPct val="125000"/>
              </a:lnSpc>
              <a:buNone/>
            </a:pPr>
            <a:r>
              <a:rPr lang="en-US" sz="900" dirty="0">
                <a:solidFill>
                  <a:srgbClr val="64748B"/>
                </a:solidFill>
                <a:latin typeface="Calibri" pitchFamily="34" charset="0"/>
                <a:ea typeface="Calibri" pitchFamily="34" charset="-122"/>
                <a:cs typeface="Calibri" pitchFamily="34" charset="-120"/>
              </a:rPr>
              <a:t>Connects musculoskeletal, pain management, surgical, and metabolic trial clusters. High betweenness despite moderate degree — a genuine cross-domain bridge.</a:t>
            </a:r>
            <a:endParaRPr lang="en-US" sz="900" dirty="0"/>
          </a:p>
        </p:txBody>
      </p:sp>
      <p:sp>
        <p:nvSpPr>
          <p:cNvPr id="14" name="Shape 11"/>
          <p:cNvSpPr/>
          <p:nvPr/>
        </p:nvSpPr>
        <p:spPr>
          <a:xfrm>
            <a:off x="5486400" y="3566160"/>
            <a:ext cx="3383280" cy="8686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15" name="Shape 12"/>
          <p:cNvSpPr/>
          <p:nvPr/>
        </p:nvSpPr>
        <p:spPr>
          <a:xfrm>
            <a:off x="5486400" y="3566160"/>
            <a:ext cx="91440" cy="868680"/>
          </a:xfrm>
          <a:prstGeom prst="rect">
            <a:avLst/>
          </a:prstGeom>
          <a:solidFill>
            <a:srgbClr val="0D9488"/>
          </a:solidFill>
          <a:ln/>
        </p:spPr>
      </p:sp>
      <p:sp>
        <p:nvSpPr>
          <p:cNvPr id="16" name="Text 13"/>
          <p:cNvSpPr/>
          <p:nvPr/>
        </p:nvSpPr>
        <p:spPr>
          <a:xfrm>
            <a:off x="5623560" y="3602736"/>
            <a:ext cx="3108960" cy="237744"/>
          </a:xfrm>
          <a:prstGeom prst="rect">
            <a:avLst/>
          </a:prstGeom>
          <a:noFill/>
          <a:ln/>
        </p:spPr>
        <p:txBody>
          <a:bodyPr wrap="square" rtlCol="0" anchor="ctr"/>
          <a:lstStyle/>
          <a:p>
            <a:pPr indent="0" marL="0">
              <a:buNone/>
            </a:pPr>
            <a:r>
              <a:rPr lang="en-US" sz="1000" b="1" dirty="0">
                <a:solidFill>
                  <a:srgbClr val="0F1F3D"/>
                </a:solidFill>
                <a:latin typeface="Calibri" pitchFamily="34" charset="0"/>
                <a:ea typeface="Calibri" pitchFamily="34" charset="-122"/>
                <a:cs typeface="Calibri" pitchFamily="34" charset="-120"/>
              </a:rPr>
              <a:t>Infertility (0.012)</a:t>
            </a:r>
            <a:endParaRPr lang="en-US" sz="1000" dirty="0"/>
          </a:p>
        </p:txBody>
      </p:sp>
      <p:sp>
        <p:nvSpPr>
          <p:cNvPr id="17" name="Text 14"/>
          <p:cNvSpPr/>
          <p:nvPr/>
        </p:nvSpPr>
        <p:spPr>
          <a:xfrm>
            <a:off x="5623560" y="3840480"/>
            <a:ext cx="3154680" cy="530352"/>
          </a:xfrm>
          <a:prstGeom prst="rect">
            <a:avLst/>
          </a:prstGeom>
          <a:noFill/>
          <a:ln/>
        </p:spPr>
        <p:txBody>
          <a:bodyPr wrap="square" rtlCol="0" anchor="ctr"/>
          <a:lstStyle/>
          <a:p>
            <a:pPr indent="0" marL="0">
              <a:lnSpc>
                <a:spcPct val="125000"/>
              </a:lnSpc>
              <a:buNone/>
            </a:pPr>
            <a:r>
              <a:rPr lang="en-US" sz="900" dirty="0">
                <a:solidFill>
                  <a:srgbClr val="64748B"/>
                </a:solidFill>
                <a:latin typeface="Calibri" pitchFamily="34" charset="0"/>
                <a:ea typeface="Calibri" pitchFamily="34" charset="-122"/>
                <a:cs typeface="Calibri" pitchFamily="34" charset="-120"/>
              </a:rPr>
              <a:t>Bridges reproductive endocrinology, metabolic disease (PCOS, insulin resistance), and oncology (fertility-sparing). Unexpected bridging role.</a:t>
            </a:r>
            <a:endParaRPr lang="en-US" sz="900" dirty="0"/>
          </a:p>
        </p:txBody>
      </p:sp>
      <p:sp>
        <p:nvSpPr>
          <p:cNvPr id="18" name="Shape 15"/>
          <p:cNvSpPr/>
          <p:nvPr/>
        </p:nvSpPr>
        <p:spPr>
          <a:xfrm>
            <a:off x="5486400" y="4526280"/>
            <a:ext cx="3383280" cy="8686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19" name="Shape 16"/>
          <p:cNvSpPr/>
          <p:nvPr/>
        </p:nvSpPr>
        <p:spPr>
          <a:xfrm>
            <a:off x="5486400" y="4526280"/>
            <a:ext cx="91440" cy="868680"/>
          </a:xfrm>
          <a:prstGeom prst="rect">
            <a:avLst/>
          </a:prstGeom>
          <a:solidFill>
            <a:srgbClr val="0D9488"/>
          </a:solidFill>
          <a:ln/>
        </p:spPr>
      </p:sp>
      <p:sp>
        <p:nvSpPr>
          <p:cNvPr id="20" name="Text 17"/>
          <p:cNvSpPr/>
          <p:nvPr/>
        </p:nvSpPr>
        <p:spPr>
          <a:xfrm>
            <a:off x="5623560" y="4562856"/>
            <a:ext cx="3108960" cy="237744"/>
          </a:xfrm>
          <a:prstGeom prst="rect">
            <a:avLst/>
          </a:prstGeom>
          <a:noFill/>
          <a:ln/>
        </p:spPr>
        <p:txBody>
          <a:bodyPr wrap="square" rtlCol="0" anchor="ctr"/>
          <a:lstStyle/>
          <a:p>
            <a:pPr indent="0" marL="0">
              <a:buNone/>
            </a:pPr>
            <a:r>
              <a:rPr lang="en-US" sz="1000" b="1" dirty="0">
                <a:solidFill>
                  <a:srgbClr val="0F1F3D"/>
                </a:solidFill>
                <a:latin typeface="Calibri" pitchFamily="34" charset="0"/>
                <a:ea typeface="Calibri" pitchFamily="34" charset="-122"/>
                <a:cs typeface="Calibri" pitchFamily="34" charset="-120"/>
              </a:rPr>
              <a:t>Epilepsy (0.010)</a:t>
            </a:r>
            <a:endParaRPr lang="en-US" sz="1000" dirty="0"/>
          </a:p>
        </p:txBody>
      </p:sp>
      <p:sp>
        <p:nvSpPr>
          <p:cNvPr id="21" name="Text 18"/>
          <p:cNvSpPr/>
          <p:nvPr/>
        </p:nvSpPr>
        <p:spPr>
          <a:xfrm>
            <a:off x="5623560" y="4800600"/>
            <a:ext cx="3154680" cy="530352"/>
          </a:xfrm>
          <a:prstGeom prst="rect">
            <a:avLst/>
          </a:prstGeom>
          <a:noFill/>
          <a:ln/>
        </p:spPr>
        <p:txBody>
          <a:bodyPr wrap="square" rtlCol="0" anchor="ctr"/>
          <a:lstStyle/>
          <a:p>
            <a:pPr indent="0" marL="0">
              <a:lnSpc>
                <a:spcPct val="125000"/>
              </a:lnSpc>
              <a:buNone/>
            </a:pPr>
            <a:r>
              <a:rPr lang="en-US" sz="900" dirty="0">
                <a:solidFill>
                  <a:srgbClr val="64748B"/>
                </a:solidFill>
                <a:latin typeface="Calibri" pitchFamily="34" charset="0"/>
                <a:ea typeface="Calibri" pitchFamily="34" charset="-122"/>
                <a:cs typeface="Calibri" pitchFamily="34" charset="-120"/>
              </a:rPr>
              <a:t>Links neurology, psychiatry, and paediatric clusters. Anti-epileptic drugs are tested across CNS disorders making this a hub for neurological research.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ANALYSIS 2 — COMMUNITY DETECTION</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Louvain Algorithm on Drug–Condition Graph</a:t>
            </a:r>
            <a:endParaRPr lang="en-US" sz="2000" dirty="0"/>
          </a:p>
        </p:txBody>
      </p:sp>
      <p:graphicFrame>
        <p:nvGraphicFramePr>
          <p:cNvPr id="5" name="Chart 0" descr=""/>
          <p:cNvGraphicFramePr/>
          <p:nvPr/>
        </p:nvGraphicFramePr>
        <p:xfrm>
          <a:off x="274320" y="1097280"/>
          <a:ext cx="512064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77840" y="1143000"/>
            <a:ext cx="32918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7" name="Text 4"/>
          <p:cNvSpPr/>
          <p:nvPr/>
        </p:nvSpPr>
        <p:spPr>
          <a:xfrm>
            <a:off x="5577840" y="1179576"/>
            <a:ext cx="1280160" cy="685800"/>
          </a:xfrm>
          <a:prstGeom prst="rect">
            <a:avLst/>
          </a:prstGeom>
          <a:noFill/>
          <a:ln/>
        </p:spPr>
        <p:txBody>
          <a:bodyPr wrap="square"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15,585</a:t>
            </a:r>
            <a:endParaRPr lang="en-US" sz="2200" dirty="0"/>
          </a:p>
        </p:txBody>
      </p:sp>
      <p:sp>
        <p:nvSpPr>
          <p:cNvPr id="8" name="Shape 5"/>
          <p:cNvSpPr/>
          <p:nvPr/>
        </p:nvSpPr>
        <p:spPr>
          <a:xfrm>
            <a:off x="6903720" y="1280160"/>
            <a:ext cx="0" cy="502920"/>
          </a:xfrm>
          <a:prstGeom prst="line">
            <a:avLst/>
          </a:prstGeom>
          <a:noFill/>
          <a:ln w="12700">
            <a:solidFill>
              <a:srgbClr val="E2E8F0"/>
            </a:solidFill>
            <a:prstDash val="solid"/>
          </a:ln>
        </p:spPr>
      </p:sp>
      <p:sp>
        <p:nvSpPr>
          <p:cNvPr id="9" name="Text 6"/>
          <p:cNvSpPr/>
          <p:nvPr/>
        </p:nvSpPr>
        <p:spPr>
          <a:xfrm>
            <a:off x="6995160" y="1307592"/>
            <a:ext cx="1783080" cy="5029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Total</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Communities</a:t>
            </a:r>
            <a:endParaRPr lang="en-US" sz="1100" dirty="0"/>
          </a:p>
        </p:txBody>
      </p:sp>
      <p:sp>
        <p:nvSpPr>
          <p:cNvPr id="10" name="Shape 7"/>
          <p:cNvSpPr/>
          <p:nvPr/>
        </p:nvSpPr>
        <p:spPr>
          <a:xfrm>
            <a:off x="5577840" y="2057400"/>
            <a:ext cx="32918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1" name="Text 8"/>
          <p:cNvSpPr/>
          <p:nvPr/>
        </p:nvSpPr>
        <p:spPr>
          <a:xfrm>
            <a:off x="5577840" y="2093976"/>
            <a:ext cx="1280160" cy="685800"/>
          </a:xfrm>
          <a:prstGeom prst="rect">
            <a:avLst/>
          </a:prstGeom>
          <a:noFill/>
          <a:ln/>
        </p:spPr>
        <p:txBody>
          <a:bodyPr wrap="square"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59.3%</a:t>
            </a:r>
            <a:endParaRPr lang="en-US" sz="2200" dirty="0"/>
          </a:p>
        </p:txBody>
      </p:sp>
      <p:sp>
        <p:nvSpPr>
          <p:cNvPr id="12" name="Shape 9"/>
          <p:cNvSpPr/>
          <p:nvPr/>
        </p:nvSpPr>
        <p:spPr>
          <a:xfrm>
            <a:off x="6903720" y="2194560"/>
            <a:ext cx="0" cy="502920"/>
          </a:xfrm>
          <a:prstGeom prst="line">
            <a:avLst/>
          </a:prstGeom>
          <a:noFill/>
          <a:ln w="12700">
            <a:solidFill>
              <a:srgbClr val="E2E8F0"/>
            </a:solidFill>
            <a:prstDash val="solid"/>
          </a:ln>
        </p:spPr>
      </p:sp>
      <p:sp>
        <p:nvSpPr>
          <p:cNvPr id="13" name="Text 10"/>
          <p:cNvSpPr/>
          <p:nvPr/>
        </p:nvSpPr>
        <p:spPr>
          <a:xfrm>
            <a:off x="6995160" y="2221992"/>
            <a:ext cx="1783080" cy="5029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Singleton or</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Pair Clusters</a:t>
            </a:r>
            <a:endParaRPr lang="en-US" sz="1100" dirty="0"/>
          </a:p>
        </p:txBody>
      </p:sp>
      <p:sp>
        <p:nvSpPr>
          <p:cNvPr id="14" name="Shape 11"/>
          <p:cNvSpPr/>
          <p:nvPr/>
        </p:nvSpPr>
        <p:spPr>
          <a:xfrm>
            <a:off x="5577840" y="2971800"/>
            <a:ext cx="32918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5" name="Text 12"/>
          <p:cNvSpPr/>
          <p:nvPr/>
        </p:nvSpPr>
        <p:spPr>
          <a:xfrm>
            <a:off x="5577840" y="3008376"/>
            <a:ext cx="1280160" cy="685800"/>
          </a:xfrm>
          <a:prstGeom prst="rect">
            <a:avLst/>
          </a:prstGeom>
          <a:noFill/>
          <a:ln/>
        </p:spPr>
        <p:txBody>
          <a:bodyPr wrap="square"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43.7%</a:t>
            </a:r>
            <a:endParaRPr lang="en-US" sz="2200" dirty="0"/>
          </a:p>
        </p:txBody>
      </p:sp>
      <p:sp>
        <p:nvSpPr>
          <p:cNvPr id="16" name="Shape 13"/>
          <p:cNvSpPr/>
          <p:nvPr/>
        </p:nvSpPr>
        <p:spPr>
          <a:xfrm>
            <a:off x="6903720" y="3108960"/>
            <a:ext cx="0" cy="502920"/>
          </a:xfrm>
          <a:prstGeom prst="line">
            <a:avLst/>
          </a:prstGeom>
          <a:noFill/>
          <a:ln w="12700">
            <a:solidFill>
              <a:srgbClr val="E2E8F0"/>
            </a:solidFill>
            <a:prstDash val="solid"/>
          </a:ln>
        </p:spPr>
      </p:sp>
      <p:sp>
        <p:nvSpPr>
          <p:cNvPr id="17" name="Text 14"/>
          <p:cNvSpPr/>
          <p:nvPr/>
        </p:nvSpPr>
        <p:spPr>
          <a:xfrm>
            <a:off x="6995160" y="3136392"/>
            <a:ext cx="1783080" cy="5029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Nodes 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Top 5 Communities</a:t>
            </a:r>
            <a:endParaRPr lang="en-US" sz="1100" dirty="0"/>
          </a:p>
        </p:txBody>
      </p:sp>
      <p:sp>
        <p:nvSpPr>
          <p:cNvPr id="18" name="Shape 15"/>
          <p:cNvSpPr/>
          <p:nvPr/>
        </p:nvSpPr>
        <p:spPr>
          <a:xfrm>
            <a:off x="5577840" y="3886200"/>
            <a:ext cx="3291840" cy="7772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9" name="Text 16"/>
          <p:cNvSpPr/>
          <p:nvPr/>
        </p:nvSpPr>
        <p:spPr>
          <a:xfrm>
            <a:off x="5577840" y="3922776"/>
            <a:ext cx="1280160" cy="685800"/>
          </a:xfrm>
          <a:prstGeom prst="rect">
            <a:avLst/>
          </a:prstGeom>
          <a:noFill/>
          <a:ln/>
        </p:spPr>
        <p:txBody>
          <a:bodyPr wrap="square" rtlCol="0" anchor="ctr"/>
          <a:lstStyle/>
          <a:p>
            <a:pPr algn="ctr" indent="0" marL="0">
              <a:buNone/>
            </a:pPr>
            <a:r>
              <a:rPr lang="en-US" sz="2200" b="1" dirty="0">
                <a:solidFill>
                  <a:srgbClr val="0D9488"/>
                </a:solidFill>
                <a:latin typeface="Calibri" pitchFamily="34" charset="0"/>
                <a:ea typeface="Calibri" pitchFamily="34" charset="-122"/>
                <a:cs typeface="Calibri" pitchFamily="34" charset="-120"/>
              </a:rPr>
              <a:t>28</a:t>
            </a:r>
            <a:endParaRPr lang="en-US" sz="2200" dirty="0"/>
          </a:p>
        </p:txBody>
      </p:sp>
      <p:sp>
        <p:nvSpPr>
          <p:cNvPr id="20" name="Shape 17"/>
          <p:cNvSpPr/>
          <p:nvPr/>
        </p:nvSpPr>
        <p:spPr>
          <a:xfrm>
            <a:off x="6903720" y="4023360"/>
            <a:ext cx="0" cy="502920"/>
          </a:xfrm>
          <a:prstGeom prst="line">
            <a:avLst/>
          </a:prstGeom>
          <a:noFill/>
          <a:ln w="12700">
            <a:solidFill>
              <a:srgbClr val="E2E8F0"/>
            </a:solidFill>
            <a:prstDash val="solid"/>
          </a:ln>
        </p:spPr>
      </p:sp>
      <p:sp>
        <p:nvSpPr>
          <p:cNvPr id="21" name="Text 18"/>
          <p:cNvSpPr/>
          <p:nvPr/>
        </p:nvSpPr>
        <p:spPr>
          <a:xfrm>
            <a:off x="6995160" y="4050792"/>
            <a:ext cx="1783080" cy="5029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Mega-clusters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(&gt;1,000 nodes)</a:t>
            </a:r>
            <a:endParaRPr lang="en-US" sz="1100" dirty="0"/>
          </a:p>
        </p:txBody>
      </p:sp>
      <p:sp>
        <p:nvSpPr>
          <p:cNvPr id="22" name="Text 19"/>
          <p:cNvSpPr/>
          <p:nvPr/>
        </p:nvSpPr>
        <p:spPr>
          <a:xfrm>
            <a:off x="365760" y="4754880"/>
            <a:ext cx="8412480" cy="292608"/>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The extreme skew (59% singletons) is expected in large bipartite trial graphs — rare drug-condition pairs from small trials form isolated nodes, while the core knowledge concentrates in ~28 mega-communities representing major therapeutic areas.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7B6FDF"/>
                </a:solidFill>
                <a:latin typeface="Calibri" pitchFamily="34" charset="0"/>
                <a:ea typeface="Calibri" pitchFamily="34" charset="-122"/>
                <a:cs typeface="Calibri" pitchFamily="34" charset="-120"/>
              </a:rPr>
              <a:t>COMMUNITY PROFILES — CLUSTERS #9, #6, #82, #68, #15</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Top 5 Communities: 259,214 Nodes (43.7% of Graph)</a:t>
            </a:r>
            <a:endParaRPr lang="en-US" sz="2000" dirty="0"/>
          </a:p>
        </p:txBody>
      </p:sp>
      <p:sp>
        <p:nvSpPr>
          <p:cNvPr id="5" name="Shape 3"/>
          <p:cNvSpPr/>
          <p:nvPr/>
        </p:nvSpPr>
        <p:spPr>
          <a:xfrm>
            <a:off x="274320" y="114300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143000"/>
            <a:ext cx="4160520" cy="73152"/>
          </a:xfrm>
          <a:prstGeom prst="rect">
            <a:avLst/>
          </a:prstGeom>
          <a:solidFill>
            <a:srgbClr val="5B4FCF"/>
          </a:solidFill>
          <a:ln/>
        </p:spPr>
      </p:sp>
      <p:sp>
        <p:nvSpPr>
          <p:cNvPr id="7" name="Shape 5"/>
          <p:cNvSpPr/>
          <p:nvPr/>
        </p:nvSpPr>
        <p:spPr>
          <a:xfrm>
            <a:off x="274320" y="1216152"/>
            <a:ext cx="594360" cy="1097280"/>
          </a:xfrm>
          <a:prstGeom prst="rect">
            <a:avLst/>
          </a:prstGeom>
          <a:solidFill>
            <a:srgbClr val="5B4FCF">
              <a:alpha val="12000"/>
            </a:srgbClr>
          </a:solidFill>
          <a:ln/>
        </p:spPr>
      </p:sp>
      <p:sp>
        <p:nvSpPr>
          <p:cNvPr id="8" name="Text 6"/>
          <p:cNvSpPr/>
          <p:nvPr/>
        </p:nvSpPr>
        <p:spPr>
          <a:xfrm>
            <a:off x="274320" y="1216152"/>
            <a:ext cx="594360" cy="411480"/>
          </a:xfrm>
          <a:prstGeom prst="rect">
            <a:avLst/>
          </a:prstGeom>
          <a:noFill/>
          <a:ln/>
        </p:spPr>
        <p:txBody>
          <a:bodyPr wrap="square" rtlCol="0" anchor="ctr"/>
          <a:lstStyle/>
          <a:p>
            <a:pPr algn="ctr" indent="0" marL="0">
              <a:buNone/>
            </a:pPr>
            <a:r>
              <a:rPr lang="en-US" sz="1400" b="1" dirty="0">
                <a:solidFill>
                  <a:srgbClr val="5B4FCF"/>
                </a:solidFill>
                <a:latin typeface="Calibri" pitchFamily="34" charset="0"/>
                <a:ea typeface="Calibri" pitchFamily="34" charset="-122"/>
                <a:cs typeface="Calibri" pitchFamily="34" charset="-120"/>
              </a:rPr>
              <a:t>#9</a:t>
            </a:r>
            <a:endParaRPr lang="en-US" sz="1400" dirty="0"/>
          </a:p>
        </p:txBody>
      </p:sp>
      <p:sp>
        <p:nvSpPr>
          <p:cNvPr id="9" name="Text 7"/>
          <p:cNvSpPr/>
          <p:nvPr/>
        </p:nvSpPr>
        <p:spPr>
          <a:xfrm>
            <a:off x="274320" y="1618488"/>
            <a:ext cx="594360" cy="274320"/>
          </a:xfrm>
          <a:prstGeom prst="rect">
            <a:avLst/>
          </a:prstGeom>
          <a:noFill/>
          <a:ln/>
        </p:spPr>
        <p:txBody>
          <a:bodyPr wrap="square" rtlCol="0" anchor="ctr"/>
          <a:lstStyle/>
          <a:p>
            <a:pPr algn="ctr" indent="0" marL="0">
              <a:buNone/>
            </a:pPr>
            <a:r>
              <a:rPr lang="en-US" sz="800" dirty="0">
                <a:solidFill>
                  <a:srgbClr val="5B4FCF"/>
                </a:solidFill>
                <a:latin typeface="Calibri" pitchFamily="34" charset="0"/>
                <a:ea typeface="Calibri" pitchFamily="34" charset="-122"/>
                <a:cs typeface="Calibri" pitchFamily="34" charset="-120"/>
              </a:rPr>
              <a:t>59,883</a:t>
            </a:r>
            <a:endParaRPr lang="en-US" sz="800" dirty="0"/>
          </a:p>
        </p:txBody>
      </p:sp>
      <p:sp>
        <p:nvSpPr>
          <p:cNvPr id="10" name="Text 8"/>
          <p:cNvSpPr/>
          <p:nvPr/>
        </p:nvSpPr>
        <p:spPr>
          <a:xfrm>
            <a:off x="274320" y="187452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11" name="Text 9"/>
          <p:cNvSpPr/>
          <p:nvPr/>
        </p:nvSpPr>
        <p:spPr>
          <a:xfrm>
            <a:off x="914400" y="123444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Metabolic &amp; Behavioral Health</a:t>
            </a:r>
            <a:endParaRPr lang="en-US" sz="1050" dirty="0"/>
          </a:p>
        </p:txBody>
      </p:sp>
      <p:sp>
        <p:nvSpPr>
          <p:cNvPr id="12" name="Text 10"/>
          <p:cNvSpPr/>
          <p:nvPr/>
        </p:nvSpPr>
        <p:spPr>
          <a:xfrm>
            <a:off x="914400" y="149047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Largest cluster. Centers on Type 2 Diabetes + Depression + Obesity co-comorbidity. Dominated by behavioral interventions (CBT, motivational interviewing, mindfulness), antidepressants (Escitalopram), and lifestyle programs.</a:t>
            </a:r>
            <a:endParaRPr lang="en-US" sz="850" dirty="0"/>
          </a:p>
        </p:txBody>
      </p:sp>
      <p:sp>
        <p:nvSpPr>
          <p:cNvPr id="13" name="Text 11"/>
          <p:cNvSpPr/>
          <p:nvPr/>
        </p:nvSpPr>
        <p:spPr>
          <a:xfrm>
            <a:off x="914400" y="2057400"/>
            <a:ext cx="3429000" cy="182880"/>
          </a:xfrm>
          <a:prstGeom prst="rect">
            <a:avLst/>
          </a:prstGeom>
          <a:noFill/>
          <a:ln/>
        </p:spPr>
        <p:txBody>
          <a:bodyPr wrap="square" rtlCol="0" anchor="ctr"/>
          <a:lstStyle/>
          <a:p>
            <a:pPr indent="0" marL="0">
              <a:buNone/>
            </a:pPr>
            <a:r>
              <a:rPr lang="en-US" sz="800" i="1" dirty="0">
                <a:solidFill>
                  <a:srgbClr val="5B4FCF"/>
                </a:solidFill>
                <a:latin typeface="Calibri" pitchFamily="34" charset="0"/>
                <a:ea typeface="Calibri" pitchFamily="34" charset="-122"/>
                <a:cs typeface="Calibri" pitchFamily="34" charset="-120"/>
              </a:rPr>
              <a:t>T2D · Depression · CBT · Gastric Bypass · Sleep</a:t>
            </a:r>
            <a:endParaRPr lang="en-US" sz="800" dirty="0"/>
          </a:p>
        </p:txBody>
      </p:sp>
      <p:sp>
        <p:nvSpPr>
          <p:cNvPr id="14" name="Shape 12"/>
          <p:cNvSpPr/>
          <p:nvPr/>
        </p:nvSpPr>
        <p:spPr>
          <a:xfrm>
            <a:off x="274320" y="242316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274320" y="2423160"/>
            <a:ext cx="4160520" cy="73152"/>
          </a:xfrm>
          <a:prstGeom prst="rect">
            <a:avLst/>
          </a:prstGeom>
          <a:solidFill>
            <a:srgbClr val="0D9488"/>
          </a:solidFill>
          <a:ln/>
        </p:spPr>
      </p:sp>
      <p:sp>
        <p:nvSpPr>
          <p:cNvPr id="16" name="Shape 14"/>
          <p:cNvSpPr/>
          <p:nvPr/>
        </p:nvSpPr>
        <p:spPr>
          <a:xfrm>
            <a:off x="274320" y="2496312"/>
            <a:ext cx="594360" cy="1097280"/>
          </a:xfrm>
          <a:prstGeom prst="rect">
            <a:avLst/>
          </a:prstGeom>
          <a:solidFill>
            <a:srgbClr val="0D9488">
              <a:alpha val="12000"/>
            </a:srgbClr>
          </a:solidFill>
          <a:ln/>
        </p:spPr>
      </p:sp>
      <p:sp>
        <p:nvSpPr>
          <p:cNvPr id="17" name="Text 15"/>
          <p:cNvSpPr/>
          <p:nvPr/>
        </p:nvSpPr>
        <p:spPr>
          <a:xfrm>
            <a:off x="274320" y="2496312"/>
            <a:ext cx="594360" cy="411480"/>
          </a:xfrm>
          <a:prstGeom prst="rect">
            <a:avLst/>
          </a:prstGeom>
          <a:noFill/>
          <a:ln/>
        </p:spPr>
        <p:txBody>
          <a:bodyPr wrap="square"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#6</a:t>
            </a:r>
            <a:endParaRPr lang="en-US" sz="1400" dirty="0"/>
          </a:p>
        </p:txBody>
      </p:sp>
      <p:sp>
        <p:nvSpPr>
          <p:cNvPr id="18" name="Text 16"/>
          <p:cNvSpPr/>
          <p:nvPr/>
        </p:nvSpPr>
        <p:spPr>
          <a:xfrm>
            <a:off x="274320" y="2898648"/>
            <a:ext cx="594360" cy="274320"/>
          </a:xfrm>
          <a:prstGeom prst="rect">
            <a:avLst/>
          </a:prstGeom>
          <a:noFill/>
          <a:ln/>
        </p:spPr>
        <p:txBody>
          <a:bodyPr wrap="square" rtlCol="0" anchor="ctr"/>
          <a:lstStyle/>
          <a:p>
            <a:pPr algn="ctr" indent="0" marL="0">
              <a:buNone/>
            </a:pPr>
            <a:r>
              <a:rPr lang="en-US" sz="800" dirty="0">
                <a:solidFill>
                  <a:srgbClr val="0D9488"/>
                </a:solidFill>
                <a:latin typeface="Calibri" pitchFamily="34" charset="0"/>
                <a:ea typeface="Calibri" pitchFamily="34" charset="-122"/>
                <a:cs typeface="Calibri" pitchFamily="34" charset="-120"/>
              </a:rPr>
              <a:t>54,431</a:t>
            </a:r>
            <a:endParaRPr lang="en-US" sz="800" dirty="0"/>
          </a:p>
        </p:txBody>
      </p:sp>
      <p:sp>
        <p:nvSpPr>
          <p:cNvPr id="19" name="Text 17"/>
          <p:cNvSpPr/>
          <p:nvPr/>
        </p:nvSpPr>
        <p:spPr>
          <a:xfrm>
            <a:off x="274320" y="315468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20" name="Text 18"/>
          <p:cNvSpPr/>
          <p:nvPr/>
        </p:nvSpPr>
        <p:spPr>
          <a:xfrm>
            <a:off x="914400" y="251460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Oncology + Hepatic/Metabolic Overlap</a:t>
            </a:r>
            <a:endParaRPr lang="en-US" sz="1050" dirty="0"/>
          </a:p>
        </p:txBody>
      </p:sp>
      <p:sp>
        <p:nvSpPr>
          <p:cNvPr id="21" name="Text 19"/>
          <p:cNvSpPr/>
          <p:nvPr/>
        </p:nvSpPr>
        <p:spPr>
          <a:xfrm>
            <a:off x="914400" y="277063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HCC and colorectal cancer trials co-occurring with metabolic agents (Metformin, Glipizide) and PD-1 inhibitors (Nivolumab, Sintilimab). Reflects trials optimizing metabolic health during cancer treatment.</a:t>
            </a:r>
            <a:endParaRPr lang="en-US" sz="850" dirty="0"/>
          </a:p>
        </p:txBody>
      </p:sp>
      <p:sp>
        <p:nvSpPr>
          <p:cNvPr id="22" name="Text 20"/>
          <p:cNvSpPr/>
          <p:nvPr/>
        </p:nvSpPr>
        <p:spPr>
          <a:xfrm>
            <a:off x="914400" y="3337560"/>
            <a:ext cx="3429000" cy="182880"/>
          </a:xfrm>
          <a:prstGeom prst="rect">
            <a:avLst/>
          </a:prstGeom>
          <a:noFill/>
          <a:ln/>
        </p:spPr>
        <p:txBody>
          <a:bodyPr wrap="square" rtlCol="0" anchor="ctr"/>
          <a:lstStyle/>
          <a:p>
            <a:pPr indent="0" marL="0">
              <a:buNone/>
            </a:pPr>
            <a:r>
              <a:rPr lang="en-US" sz="800" i="1" dirty="0">
                <a:solidFill>
                  <a:srgbClr val="0D9488"/>
                </a:solidFill>
                <a:latin typeface="Calibri" pitchFamily="34" charset="0"/>
                <a:ea typeface="Calibri" pitchFamily="34" charset="-122"/>
                <a:cs typeface="Calibri" pitchFamily="34" charset="-120"/>
              </a:rPr>
              <a:t>Liver Cancer · Nivolumab · Metformin · PegIFN · Tamoxifen</a:t>
            </a:r>
            <a:endParaRPr lang="en-US" sz="800" dirty="0"/>
          </a:p>
        </p:txBody>
      </p:sp>
      <p:sp>
        <p:nvSpPr>
          <p:cNvPr id="23" name="Shape 21"/>
          <p:cNvSpPr/>
          <p:nvPr/>
        </p:nvSpPr>
        <p:spPr>
          <a:xfrm>
            <a:off x="274320" y="370332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274320" y="3703320"/>
            <a:ext cx="4160520" cy="73152"/>
          </a:xfrm>
          <a:prstGeom prst="rect">
            <a:avLst/>
          </a:prstGeom>
          <a:solidFill>
            <a:srgbClr val="D97706"/>
          </a:solidFill>
          <a:ln/>
        </p:spPr>
      </p:sp>
      <p:sp>
        <p:nvSpPr>
          <p:cNvPr id="25" name="Shape 23"/>
          <p:cNvSpPr/>
          <p:nvPr/>
        </p:nvSpPr>
        <p:spPr>
          <a:xfrm>
            <a:off x="274320" y="3776472"/>
            <a:ext cx="594360" cy="1097280"/>
          </a:xfrm>
          <a:prstGeom prst="rect">
            <a:avLst/>
          </a:prstGeom>
          <a:solidFill>
            <a:srgbClr val="D97706">
              <a:alpha val="12000"/>
            </a:srgbClr>
          </a:solidFill>
          <a:ln/>
        </p:spPr>
      </p:sp>
      <p:sp>
        <p:nvSpPr>
          <p:cNvPr id="26" name="Text 24"/>
          <p:cNvSpPr/>
          <p:nvPr/>
        </p:nvSpPr>
        <p:spPr>
          <a:xfrm>
            <a:off x="274320" y="3776472"/>
            <a:ext cx="594360" cy="411480"/>
          </a:xfrm>
          <a:prstGeom prst="rect">
            <a:avLst/>
          </a:prstGeom>
          <a:noFill/>
          <a:ln/>
        </p:spPr>
        <p:txBody>
          <a:bodyPr wrap="square" rtlCol="0" anchor="ctr"/>
          <a:lstStyle/>
          <a:p>
            <a:pPr algn="ctr" indent="0" marL="0">
              <a:buNone/>
            </a:pPr>
            <a:r>
              <a:rPr lang="en-US" sz="1400" b="1" dirty="0">
                <a:solidFill>
                  <a:srgbClr val="D97706"/>
                </a:solidFill>
                <a:latin typeface="Calibri" pitchFamily="34" charset="0"/>
                <a:ea typeface="Calibri" pitchFamily="34" charset="-122"/>
                <a:cs typeface="Calibri" pitchFamily="34" charset="-120"/>
              </a:rPr>
              <a:t>#82</a:t>
            </a:r>
            <a:endParaRPr lang="en-US" sz="1400" dirty="0"/>
          </a:p>
        </p:txBody>
      </p:sp>
      <p:sp>
        <p:nvSpPr>
          <p:cNvPr id="27" name="Text 25"/>
          <p:cNvSpPr/>
          <p:nvPr/>
        </p:nvSpPr>
        <p:spPr>
          <a:xfrm>
            <a:off x="274320" y="4178808"/>
            <a:ext cx="594360" cy="274320"/>
          </a:xfrm>
          <a:prstGeom prst="rect">
            <a:avLst/>
          </a:prstGeom>
          <a:noFill/>
          <a:ln/>
        </p:spPr>
        <p:txBody>
          <a:bodyPr wrap="square" rtlCol="0" anchor="ctr"/>
          <a:lstStyle/>
          <a:p>
            <a:pPr algn="ctr" indent="0" marL="0">
              <a:buNone/>
            </a:pPr>
            <a:r>
              <a:rPr lang="en-US" sz="800" dirty="0">
                <a:solidFill>
                  <a:srgbClr val="D97706"/>
                </a:solidFill>
                <a:latin typeface="Calibri" pitchFamily="34" charset="0"/>
                <a:ea typeface="Calibri" pitchFamily="34" charset="-122"/>
                <a:cs typeface="Calibri" pitchFamily="34" charset="-120"/>
              </a:rPr>
              <a:t>52,820</a:t>
            </a:r>
            <a:endParaRPr lang="en-US" sz="800" dirty="0"/>
          </a:p>
        </p:txBody>
      </p:sp>
      <p:sp>
        <p:nvSpPr>
          <p:cNvPr id="28" name="Text 26"/>
          <p:cNvSpPr/>
          <p:nvPr/>
        </p:nvSpPr>
        <p:spPr>
          <a:xfrm>
            <a:off x="274320" y="443484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29" name="Text 27"/>
          <p:cNvSpPr/>
          <p:nvPr/>
        </p:nvSpPr>
        <p:spPr>
          <a:xfrm>
            <a:off x="914400" y="379476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Diabetes Pharmacotherapy</a:t>
            </a:r>
            <a:endParaRPr lang="en-US" sz="1050" dirty="0"/>
          </a:p>
        </p:txBody>
      </p:sp>
      <p:sp>
        <p:nvSpPr>
          <p:cNvPr id="30" name="Text 28"/>
          <p:cNvSpPr/>
          <p:nvPr/>
        </p:nvSpPr>
        <p:spPr>
          <a:xfrm>
            <a:off x="914400" y="405079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Tightly focused T2D drug trials. Contains every major class: SGLT2i (Dapagliflozin, Empagliflozin), GLP-1 (Dulaglutide), DPP-4i (Sitagliptin), sulfonylureas, and insulin variants plus NASH-related interventions.</a:t>
            </a:r>
            <a:endParaRPr lang="en-US" sz="850" dirty="0"/>
          </a:p>
        </p:txBody>
      </p:sp>
      <p:sp>
        <p:nvSpPr>
          <p:cNvPr id="31" name="Text 29"/>
          <p:cNvSpPr/>
          <p:nvPr/>
        </p:nvSpPr>
        <p:spPr>
          <a:xfrm>
            <a:off x="914400" y="4617720"/>
            <a:ext cx="3429000" cy="182880"/>
          </a:xfrm>
          <a:prstGeom prst="rect">
            <a:avLst/>
          </a:prstGeom>
          <a:noFill/>
          <a:ln/>
        </p:spPr>
        <p:txBody>
          <a:bodyPr wrap="square" rtlCol="0" anchor="ctr"/>
          <a:lstStyle/>
          <a:p>
            <a:pPr indent="0" marL="0">
              <a:buNone/>
            </a:pPr>
            <a:r>
              <a:rPr lang="en-US" sz="800" i="1" dirty="0">
                <a:solidFill>
                  <a:srgbClr val="D97706"/>
                </a:solidFill>
                <a:latin typeface="Calibri" pitchFamily="34" charset="0"/>
                <a:ea typeface="Calibri" pitchFamily="34" charset="-122"/>
                <a:cs typeface="Calibri" pitchFamily="34" charset="-120"/>
              </a:rPr>
              <a:t>Dapagliflozin · Empagliflozin · Sitagliptin · Insulin · NASH</a:t>
            </a:r>
            <a:endParaRPr lang="en-US" sz="800" dirty="0"/>
          </a:p>
        </p:txBody>
      </p:sp>
      <p:sp>
        <p:nvSpPr>
          <p:cNvPr id="32" name="Shape 30"/>
          <p:cNvSpPr/>
          <p:nvPr/>
        </p:nvSpPr>
        <p:spPr>
          <a:xfrm>
            <a:off x="4709160" y="114300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4709160" y="1143000"/>
            <a:ext cx="4160520" cy="73152"/>
          </a:xfrm>
          <a:prstGeom prst="rect">
            <a:avLst/>
          </a:prstGeom>
          <a:solidFill>
            <a:srgbClr val="378ADD"/>
          </a:solidFill>
          <a:ln/>
        </p:spPr>
      </p:sp>
      <p:sp>
        <p:nvSpPr>
          <p:cNvPr id="34" name="Shape 32"/>
          <p:cNvSpPr/>
          <p:nvPr/>
        </p:nvSpPr>
        <p:spPr>
          <a:xfrm>
            <a:off x="4709160" y="1216152"/>
            <a:ext cx="594360" cy="1097280"/>
          </a:xfrm>
          <a:prstGeom prst="rect">
            <a:avLst/>
          </a:prstGeom>
          <a:solidFill>
            <a:srgbClr val="378ADD">
              <a:alpha val="12000"/>
            </a:srgbClr>
          </a:solidFill>
          <a:ln/>
        </p:spPr>
      </p:sp>
      <p:sp>
        <p:nvSpPr>
          <p:cNvPr id="35" name="Text 33"/>
          <p:cNvSpPr/>
          <p:nvPr/>
        </p:nvSpPr>
        <p:spPr>
          <a:xfrm>
            <a:off x="4709160" y="1216152"/>
            <a:ext cx="594360" cy="411480"/>
          </a:xfrm>
          <a:prstGeom prst="rect">
            <a:avLst/>
          </a:prstGeom>
          <a:noFill/>
          <a:ln/>
        </p:spPr>
        <p:txBody>
          <a:bodyPr wrap="square" rtlCol="0" anchor="ctr"/>
          <a:lstStyle/>
          <a:p>
            <a:pPr algn="ctr" indent="0" marL="0">
              <a:buNone/>
            </a:pPr>
            <a:r>
              <a:rPr lang="en-US" sz="1400" b="1" dirty="0">
                <a:solidFill>
                  <a:srgbClr val="378ADD"/>
                </a:solidFill>
                <a:latin typeface="Calibri" pitchFamily="34" charset="0"/>
                <a:ea typeface="Calibri" pitchFamily="34" charset="-122"/>
                <a:cs typeface="Calibri" pitchFamily="34" charset="-120"/>
              </a:rPr>
              <a:t>#68</a:t>
            </a:r>
            <a:endParaRPr lang="en-US" sz="1400" dirty="0"/>
          </a:p>
        </p:txBody>
      </p:sp>
      <p:sp>
        <p:nvSpPr>
          <p:cNvPr id="36" name="Text 34"/>
          <p:cNvSpPr/>
          <p:nvPr/>
        </p:nvSpPr>
        <p:spPr>
          <a:xfrm>
            <a:off x="4709160" y="1618488"/>
            <a:ext cx="594360" cy="274320"/>
          </a:xfrm>
          <a:prstGeom prst="rect">
            <a:avLst/>
          </a:prstGeom>
          <a:noFill/>
          <a:ln/>
        </p:spPr>
        <p:txBody>
          <a:bodyPr wrap="square" rtlCol="0" anchor="ctr"/>
          <a:lstStyle/>
          <a:p>
            <a:pPr algn="ctr" indent="0" marL="0">
              <a:buNone/>
            </a:pPr>
            <a:r>
              <a:rPr lang="en-US" sz="800" dirty="0">
                <a:solidFill>
                  <a:srgbClr val="378ADD"/>
                </a:solidFill>
                <a:latin typeface="Calibri" pitchFamily="34" charset="0"/>
                <a:ea typeface="Calibri" pitchFamily="34" charset="-122"/>
                <a:cs typeface="Calibri" pitchFamily="34" charset="-120"/>
              </a:rPr>
              <a:t>49,693</a:t>
            </a:r>
            <a:endParaRPr lang="en-US" sz="800" dirty="0"/>
          </a:p>
        </p:txBody>
      </p:sp>
      <p:sp>
        <p:nvSpPr>
          <p:cNvPr id="37" name="Text 35"/>
          <p:cNvSpPr/>
          <p:nvPr/>
        </p:nvSpPr>
        <p:spPr>
          <a:xfrm>
            <a:off x="4709160" y="187452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38" name="Text 36"/>
          <p:cNvSpPr/>
          <p:nvPr/>
        </p:nvSpPr>
        <p:spPr>
          <a:xfrm>
            <a:off x="5349240" y="123444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Perioperative &amp; Anaesthesia Care</a:t>
            </a:r>
            <a:endParaRPr lang="en-US" sz="1050" dirty="0"/>
          </a:p>
        </p:txBody>
      </p:sp>
      <p:sp>
        <p:nvSpPr>
          <p:cNvPr id="39" name="Text 37"/>
          <p:cNvSpPr/>
          <p:nvPr/>
        </p:nvSpPr>
        <p:spPr>
          <a:xfrm>
            <a:off x="5349240" y="149047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Surgical drug trials: laparoscopic/bariatric surgery, cardiac and orthopaedic procedures. Key agents: Dexmedetomidine, Remifentanil, Lidocaine, Midazolam. Glucose monitoring devices link back to metabolic domain.</a:t>
            </a:r>
            <a:endParaRPr lang="en-US" sz="850" dirty="0"/>
          </a:p>
        </p:txBody>
      </p:sp>
      <p:sp>
        <p:nvSpPr>
          <p:cNvPr id="40" name="Text 38"/>
          <p:cNvSpPr/>
          <p:nvPr/>
        </p:nvSpPr>
        <p:spPr>
          <a:xfrm>
            <a:off x="5349240" y="2057400"/>
            <a:ext cx="3429000" cy="182880"/>
          </a:xfrm>
          <a:prstGeom prst="rect">
            <a:avLst/>
          </a:prstGeom>
          <a:noFill/>
          <a:ln/>
        </p:spPr>
        <p:txBody>
          <a:bodyPr wrap="square" rtlCol="0" anchor="ctr"/>
          <a:lstStyle/>
          <a:p>
            <a:pPr indent="0" marL="0">
              <a:buNone/>
            </a:pPr>
            <a:r>
              <a:rPr lang="en-US" sz="800" i="1" dirty="0">
                <a:solidFill>
                  <a:srgbClr val="378ADD"/>
                </a:solidFill>
                <a:latin typeface="Calibri" pitchFamily="34" charset="0"/>
                <a:ea typeface="Calibri" pitchFamily="34" charset="-122"/>
                <a:cs typeface="Calibri" pitchFamily="34" charset="-120"/>
              </a:rPr>
              <a:t>Dexmedetomidine · Remifentanil · Bariatric Surgery · PEEP</a:t>
            </a:r>
            <a:endParaRPr lang="en-US" sz="800" dirty="0"/>
          </a:p>
        </p:txBody>
      </p:sp>
      <p:sp>
        <p:nvSpPr>
          <p:cNvPr id="41" name="Shape 39"/>
          <p:cNvSpPr/>
          <p:nvPr/>
        </p:nvSpPr>
        <p:spPr>
          <a:xfrm>
            <a:off x="4709160" y="242316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2" name="Shape 40"/>
          <p:cNvSpPr/>
          <p:nvPr/>
        </p:nvSpPr>
        <p:spPr>
          <a:xfrm>
            <a:off x="4709160" y="2423160"/>
            <a:ext cx="4160520" cy="73152"/>
          </a:xfrm>
          <a:prstGeom prst="rect">
            <a:avLst/>
          </a:prstGeom>
          <a:solidFill>
            <a:srgbClr val="C026D3"/>
          </a:solidFill>
          <a:ln/>
        </p:spPr>
      </p:sp>
      <p:sp>
        <p:nvSpPr>
          <p:cNvPr id="43" name="Shape 41"/>
          <p:cNvSpPr/>
          <p:nvPr/>
        </p:nvSpPr>
        <p:spPr>
          <a:xfrm>
            <a:off x="4709160" y="2496312"/>
            <a:ext cx="594360" cy="1097280"/>
          </a:xfrm>
          <a:prstGeom prst="rect">
            <a:avLst/>
          </a:prstGeom>
          <a:solidFill>
            <a:srgbClr val="C026D3">
              <a:alpha val="12000"/>
            </a:srgbClr>
          </a:solidFill>
          <a:ln/>
        </p:spPr>
      </p:sp>
      <p:sp>
        <p:nvSpPr>
          <p:cNvPr id="44" name="Text 42"/>
          <p:cNvSpPr/>
          <p:nvPr/>
        </p:nvSpPr>
        <p:spPr>
          <a:xfrm>
            <a:off x="4709160" y="2496312"/>
            <a:ext cx="594360" cy="411480"/>
          </a:xfrm>
          <a:prstGeom prst="rect">
            <a:avLst/>
          </a:prstGeom>
          <a:noFill/>
          <a:ln/>
        </p:spPr>
        <p:txBody>
          <a:bodyPr wrap="square" rtlCol="0" anchor="ctr"/>
          <a:lstStyle/>
          <a:p>
            <a:pPr algn="ctr" indent="0" marL="0">
              <a:buNone/>
            </a:pPr>
            <a:r>
              <a:rPr lang="en-US" sz="1400" b="1" dirty="0">
                <a:solidFill>
                  <a:srgbClr val="C026D3"/>
                </a:solidFill>
                <a:latin typeface="Calibri" pitchFamily="34" charset="0"/>
                <a:ea typeface="Calibri" pitchFamily="34" charset="-122"/>
                <a:cs typeface="Calibri" pitchFamily="34" charset="-120"/>
              </a:rPr>
              <a:t>#15</a:t>
            </a:r>
            <a:endParaRPr lang="en-US" sz="1400" dirty="0"/>
          </a:p>
        </p:txBody>
      </p:sp>
      <p:sp>
        <p:nvSpPr>
          <p:cNvPr id="45" name="Text 43"/>
          <p:cNvSpPr/>
          <p:nvPr/>
        </p:nvSpPr>
        <p:spPr>
          <a:xfrm>
            <a:off x="4709160" y="2898648"/>
            <a:ext cx="594360" cy="274320"/>
          </a:xfrm>
          <a:prstGeom prst="rect">
            <a:avLst/>
          </a:prstGeom>
          <a:noFill/>
          <a:ln/>
        </p:spPr>
        <p:txBody>
          <a:bodyPr wrap="square" rtlCol="0" anchor="ctr"/>
          <a:lstStyle/>
          <a:p>
            <a:pPr algn="ctr" indent="0" marL="0">
              <a:buNone/>
            </a:pPr>
            <a:r>
              <a:rPr lang="en-US" sz="800" dirty="0">
                <a:solidFill>
                  <a:srgbClr val="C026D3"/>
                </a:solidFill>
                <a:latin typeface="Calibri" pitchFamily="34" charset="0"/>
                <a:ea typeface="Calibri" pitchFamily="34" charset="-122"/>
                <a:cs typeface="Calibri" pitchFamily="34" charset="-120"/>
              </a:rPr>
              <a:t>42,387</a:t>
            </a:r>
            <a:endParaRPr lang="en-US" sz="800" dirty="0"/>
          </a:p>
        </p:txBody>
      </p:sp>
      <p:sp>
        <p:nvSpPr>
          <p:cNvPr id="46" name="Text 44"/>
          <p:cNvSpPr/>
          <p:nvPr/>
        </p:nvSpPr>
        <p:spPr>
          <a:xfrm>
            <a:off x="4709160" y="315468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47" name="Text 45"/>
          <p:cNvSpPr/>
          <p:nvPr/>
        </p:nvSpPr>
        <p:spPr>
          <a:xfrm>
            <a:off x="5349240" y="251460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Neurological &amp; Musculoskeletal Rehab</a:t>
            </a:r>
            <a:endParaRPr lang="en-US" sz="1050" dirty="0"/>
          </a:p>
        </p:txBody>
      </p:sp>
      <p:sp>
        <p:nvSpPr>
          <p:cNvPr id="48" name="Text 46"/>
          <p:cNvSpPr/>
          <p:nvPr/>
        </p:nvSpPr>
        <p:spPr>
          <a:xfrm>
            <a:off x="5349240" y="277063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Neurodegenerative and musculoskeletal conditions with rehabilitation focus. MRI-based diagnostics, exercise programs, stem cell therapies, hyperbaric oxygen. Parkinson's, cognitive decline, diabetic neuropathy.</a:t>
            </a:r>
            <a:endParaRPr lang="en-US" sz="850" dirty="0"/>
          </a:p>
        </p:txBody>
      </p:sp>
      <p:sp>
        <p:nvSpPr>
          <p:cNvPr id="49" name="Text 47"/>
          <p:cNvSpPr/>
          <p:nvPr/>
        </p:nvSpPr>
        <p:spPr>
          <a:xfrm>
            <a:off x="5349240" y="3337560"/>
            <a:ext cx="3429000" cy="182880"/>
          </a:xfrm>
          <a:prstGeom prst="rect">
            <a:avLst/>
          </a:prstGeom>
          <a:noFill/>
          <a:ln/>
        </p:spPr>
        <p:txBody>
          <a:bodyPr wrap="square" rtlCol="0" anchor="ctr"/>
          <a:lstStyle/>
          <a:p>
            <a:pPr indent="0" marL="0">
              <a:buNone/>
            </a:pPr>
            <a:r>
              <a:rPr lang="en-US" sz="800" i="1" dirty="0">
                <a:solidFill>
                  <a:srgbClr val="C026D3"/>
                </a:solidFill>
                <a:latin typeface="Calibri" pitchFamily="34" charset="0"/>
                <a:ea typeface="Calibri" pitchFamily="34" charset="-122"/>
                <a:cs typeface="Calibri" pitchFamily="34" charset="-120"/>
              </a:rPr>
              <a:t>Parkinson · Cognitive Decline · Hyperbaric O₂ · fMRI · Stem Cells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COMMUNITY PROFILES — CLUSTERS #13, #10, #3, #0, #41</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Communities 6–10: Cardiovascular, Immunology, Infectious Disease &amp; Beyond</a:t>
            </a:r>
            <a:endParaRPr lang="en-US" sz="1900" dirty="0"/>
          </a:p>
        </p:txBody>
      </p:sp>
      <p:sp>
        <p:nvSpPr>
          <p:cNvPr id="5" name="Shape 3"/>
          <p:cNvSpPr/>
          <p:nvPr/>
        </p:nvSpPr>
        <p:spPr>
          <a:xfrm>
            <a:off x="274320" y="114300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143000"/>
            <a:ext cx="4160520" cy="73152"/>
          </a:xfrm>
          <a:prstGeom prst="rect">
            <a:avLst/>
          </a:prstGeom>
          <a:solidFill>
            <a:srgbClr val="059669"/>
          </a:solidFill>
          <a:ln/>
        </p:spPr>
      </p:sp>
      <p:sp>
        <p:nvSpPr>
          <p:cNvPr id="7" name="Shape 5"/>
          <p:cNvSpPr/>
          <p:nvPr/>
        </p:nvSpPr>
        <p:spPr>
          <a:xfrm>
            <a:off x="274320" y="1216152"/>
            <a:ext cx="594360" cy="1097280"/>
          </a:xfrm>
          <a:prstGeom prst="rect">
            <a:avLst/>
          </a:prstGeom>
          <a:solidFill>
            <a:srgbClr val="059669">
              <a:alpha val="12000"/>
            </a:srgbClr>
          </a:solidFill>
          <a:ln/>
        </p:spPr>
      </p:sp>
      <p:sp>
        <p:nvSpPr>
          <p:cNvPr id="8" name="Text 6"/>
          <p:cNvSpPr/>
          <p:nvPr/>
        </p:nvSpPr>
        <p:spPr>
          <a:xfrm>
            <a:off x="274320" y="1216152"/>
            <a:ext cx="594360" cy="411480"/>
          </a:xfrm>
          <a:prstGeom prst="rect">
            <a:avLst/>
          </a:prstGeom>
          <a:noFill/>
          <a:ln/>
        </p:spPr>
        <p:txBody>
          <a:bodyPr wrap="square" rtlCol="0" anchor="ctr"/>
          <a:lstStyle/>
          <a:p>
            <a:pPr algn="ctr" indent="0" marL="0">
              <a:buNone/>
            </a:pPr>
            <a:r>
              <a:rPr lang="en-US" sz="1400" b="1" dirty="0">
                <a:solidFill>
                  <a:srgbClr val="059669"/>
                </a:solidFill>
                <a:latin typeface="Calibri" pitchFamily="34" charset="0"/>
                <a:ea typeface="Calibri" pitchFamily="34" charset="-122"/>
                <a:cs typeface="Calibri" pitchFamily="34" charset="-120"/>
              </a:rPr>
              <a:t>#13</a:t>
            </a:r>
            <a:endParaRPr lang="en-US" sz="1400" dirty="0"/>
          </a:p>
        </p:txBody>
      </p:sp>
      <p:sp>
        <p:nvSpPr>
          <p:cNvPr id="9" name="Text 7"/>
          <p:cNvSpPr/>
          <p:nvPr/>
        </p:nvSpPr>
        <p:spPr>
          <a:xfrm>
            <a:off x="274320" y="1618488"/>
            <a:ext cx="594360" cy="274320"/>
          </a:xfrm>
          <a:prstGeom prst="rect">
            <a:avLst/>
          </a:prstGeom>
          <a:noFill/>
          <a:ln/>
        </p:spPr>
        <p:txBody>
          <a:bodyPr wrap="square" rtlCol="0" anchor="ctr"/>
          <a:lstStyle/>
          <a:p>
            <a:pPr algn="ctr" indent="0" marL="0">
              <a:buNone/>
            </a:pPr>
            <a:r>
              <a:rPr lang="en-US" sz="800" dirty="0">
                <a:solidFill>
                  <a:srgbClr val="059669"/>
                </a:solidFill>
                <a:latin typeface="Calibri" pitchFamily="34" charset="0"/>
                <a:ea typeface="Calibri" pitchFamily="34" charset="-122"/>
                <a:cs typeface="Calibri" pitchFamily="34" charset="-120"/>
              </a:rPr>
              <a:t>29,717</a:t>
            </a:r>
            <a:endParaRPr lang="en-US" sz="800" dirty="0"/>
          </a:p>
        </p:txBody>
      </p:sp>
      <p:sp>
        <p:nvSpPr>
          <p:cNvPr id="10" name="Text 8"/>
          <p:cNvSpPr/>
          <p:nvPr/>
        </p:nvSpPr>
        <p:spPr>
          <a:xfrm>
            <a:off x="274320" y="187452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11" name="Text 9"/>
          <p:cNvSpPr/>
          <p:nvPr/>
        </p:nvSpPr>
        <p:spPr>
          <a:xfrm>
            <a:off x="914400" y="123444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Cardiovascular Disease &amp; Prevention</a:t>
            </a:r>
            <a:endParaRPr lang="en-US" sz="1050" dirty="0"/>
          </a:p>
        </p:txBody>
      </p:sp>
      <p:sp>
        <p:nvSpPr>
          <p:cNvPr id="12" name="Text 10"/>
          <p:cNvSpPr/>
          <p:nvPr/>
        </p:nvSpPr>
        <p:spPr>
          <a:xfrm>
            <a:off x="914400" y="149047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Coronary artery disease, atrial fibrillation, heart failure. Atorvastatin, Aspirin (multiple doses), Evolocumab, Valsartan, Warfarin. Coronary stent comparisons (TAXUS vs Xience). SGLT2i (Dapagliflozin) entering cardiology — a landmark repositioning.</a:t>
            </a:r>
            <a:endParaRPr lang="en-US" sz="850" dirty="0"/>
          </a:p>
        </p:txBody>
      </p:sp>
      <p:sp>
        <p:nvSpPr>
          <p:cNvPr id="13" name="Text 11"/>
          <p:cNvSpPr/>
          <p:nvPr/>
        </p:nvSpPr>
        <p:spPr>
          <a:xfrm>
            <a:off x="914400" y="2057400"/>
            <a:ext cx="3429000" cy="182880"/>
          </a:xfrm>
          <a:prstGeom prst="rect">
            <a:avLst/>
          </a:prstGeom>
          <a:noFill/>
          <a:ln/>
        </p:spPr>
        <p:txBody>
          <a:bodyPr wrap="square" rtlCol="0" anchor="ctr"/>
          <a:lstStyle/>
          <a:p>
            <a:pPr indent="0" marL="0">
              <a:buNone/>
            </a:pPr>
            <a:r>
              <a:rPr lang="en-US" sz="800" i="1" dirty="0">
                <a:solidFill>
                  <a:srgbClr val="059669"/>
                </a:solidFill>
                <a:latin typeface="Calibri" pitchFamily="34" charset="0"/>
                <a:ea typeface="Calibri" pitchFamily="34" charset="-122"/>
                <a:cs typeface="Calibri" pitchFamily="34" charset="-120"/>
              </a:rPr>
              <a:t>Atorvastatin · Aspirin · Evolocumab · Cardiac MRI · Dapagliflozin</a:t>
            </a:r>
            <a:endParaRPr lang="en-US" sz="800" dirty="0"/>
          </a:p>
        </p:txBody>
      </p:sp>
      <p:sp>
        <p:nvSpPr>
          <p:cNvPr id="14" name="Shape 12"/>
          <p:cNvSpPr/>
          <p:nvPr/>
        </p:nvSpPr>
        <p:spPr>
          <a:xfrm>
            <a:off x="274320" y="242316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274320" y="2423160"/>
            <a:ext cx="4160520" cy="73152"/>
          </a:xfrm>
          <a:prstGeom prst="rect">
            <a:avLst/>
          </a:prstGeom>
          <a:solidFill>
            <a:srgbClr val="D97706"/>
          </a:solidFill>
          <a:ln/>
        </p:spPr>
      </p:sp>
      <p:sp>
        <p:nvSpPr>
          <p:cNvPr id="16" name="Shape 14"/>
          <p:cNvSpPr/>
          <p:nvPr/>
        </p:nvSpPr>
        <p:spPr>
          <a:xfrm>
            <a:off x="274320" y="2496312"/>
            <a:ext cx="594360" cy="1097280"/>
          </a:xfrm>
          <a:prstGeom prst="rect">
            <a:avLst/>
          </a:prstGeom>
          <a:solidFill>
            <a:srgbClr val="D97706">
              <a:alpha val="12000"/>
            </a:srgbClr>
          </a:solidFill>
          <a:ln/>
        </p:spPr>
      </p:sp>
      <p:sp>
        <p:nvSpPr>
          <p:cNvPr id="17" name="Text 15"/>
          <p:cNvSpPr/>
          <p:nvPr/>
        </p:nvSpPr>
        <p:spPr>
          <a:xfrm>
            <a:off x="274320" y="2496312"/>
            <a:ext cx="594360" cy="411480"/>
          </a:xfrm>
          <a:prstGeom prst="rect">
            <a:avLst/>
          </a:prstGeom>
          <a:noFill/>
          <a:ln/>
        </p:spPr>
        <p:txBody>
          <a:bodyPr wrap="square" rtlCol="0" anchor="ctr"/>
          <a:lstStyle/>
          <a:p>
            <a:pPr algn="ctr" indent="0" marL="0">
              <a:buNone/>
            </a:pPr>
            <a:r>
              <a:rPr lang="en-US" sz="1400" b="1" dirty="0">
                <a:solidFill>
                  <a:srgbClr val="D97706"/>
                </a:solidFill>
                <a:latin typeface="Calibri" pitchFamily="34" charset="0"/>
                <a:ea typeface="Calibri" pitchFamily="34" charset="-122"/>
                <a:cs typeface="Calibri" pitchFamily="34" charset="-120"/>
              </a:rPr>
              <a:t>#10</a:t>
            </a:r>
            <a:endParaRPr lang="en-US" sz="1400" dirty="0"/>
          </a:p>
        </p:txBody>
      </p:sp>
      <p:sp>
        <p:nvSpPr>
          <p:cNvPr id="18" name="Text 16"/>
          <p:cNvSpPr/>
          <p:nvPr/>
        </p:nvSpPr>
        <p:spPr>
          <a:xfrm>
            <a:off x="274320" y="2898648"/>
            <a:ext cx="594360" cy="274320"/>
          </a:xfrm>
          <a:prstGeom prst="rect">
            <a:avLst/>
          </a:prstGeom>
          <a:noFill/>
          <a:ln/>
        </p:spPr>
        <p:txBody>
          <a:bodyPr wrap="square" rtlCol="0" anchor="ctr"/>
          <a:lstStyle/>
          <a:p>
            <a:pPr algn="ctr" indent="0" marL="0">
              <a:buNone/>
            </a:pPr>
            <a:r>
              <a:rPr lang="en-US" sz="800" dirty="0">
                <a:solidFill>
                  <a:srgbClr val="D97706"/>
                </a:solidFill>
                <a:latin typeface="Calibri" pitchFamily="34" charset="0"/>
                <a:ea typeface="Calibri" pitchFamily="34" charset="-122"/>
                <a:cs typeface="Calibri" pitchFamily="34" charset="-120"/>
              </a:rPr>
              <a:t>26,080</a:t>
            </a:r>
            <a:endParaRPr lang="en-US" sz="800" dirty="0"/>
          </a:p>
        </p:txBody>
      </p:sp>
      <p:sp>
        <p:nvSpPr>
          <p:cNvPr id="19" name="Text 17"/>
          <p:cNvSpPr/>
          <p:nvPr/>
        </p:nvSpPr>
        <p:spPr>
          <a:xfrm>
            <a:off x="274320" y="315468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20" name="Text 18"/>
          <p:cNvSpPr/>
          <p:nvPr/>
        </p:nvSpPr>
        <p:spPr>
          <a:xfrm>
            <a:off x="914400" y="251460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Immunology, Autoimmune &amp; Gout</a:t>
            </a:r>
            <a:endParaRPr lang="en-US" sz="1050" dirty="0"/>
          </a:p>
        </p:txBody>
      </p:sp>
      <p:sp>
        <p:nvSpPr>
          <p:cNvPr id="21" name="Text 19"/>
          <p:cNvSpPr/>
          <p:nvPr/>
        </p:nvSpPr>
        <p:spPr>
          <a:xfrm>
            <a:off x="914400" y="277063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Rheumatoid arthritis, gout, GvHD, and autoimmune conditions. Abatacept, Hydroxychloroquine, Rituximab, Anakinra, Allopurinol, Rasburicase, antifungals. Mix of immunosuppressants and natural anti-inflammatory compounds.</a:t>
            </a:r>
            <a:endParaRPr lang="en-US" sz="850" dirty="0"/>
          </a:p>
        </p:txBody>
      </p:sp>
      <p:sp>
        <p:nvSpPr>
          <p:cNvPr id="22" name="Text 20"/>
          <p:cNvSpPr/>
          <p:nvPr/>
        </p:nvSpPr>
        <p:spPr>
          <a:xfrm>
            <a:off x="914400" y="3337560"/>
            <a:ext cx="3429000" cy="182880"/>
          </a:xfrm>
          <a:prstGeom prst="rect">
            <a:avLst/>
          </a:prstGeom>
          <a:noFill/>
          <a:ln/>
        </p:spPr>
        <p:txBody>
          <a:bodyPr wrap="square" rtlCol="0" anchor="ctr"/>
          <a:lstStyle/>
          <a:p>
            <a:pPr indent="0" marL="0">
              <a:buNone/>
            </a:pPr>
            <a:r>
              <a:rPr lang="en-US" sz="800" i="1" dirty="0">
                <a:solidFill>
                  <a:srgbClr val="D97706"/>
                </a:solidFill>
                <a:latin typeface="Calibri" pitchFamily="34" charset="0"/>
                <a:ea typeface="Calibri" pitchFamily="34" charset="-122"/>
                <a:cs typeface="Calibri" pitchFamily="34" charset="-120"/>
              </a:rPr>
              <a:t>RA · Gout · Abatacept · Hydroxychloroquine · Rituximab · GvHD</a:t>
            </a:r>
            <a:endParaRPr lang="en-US" sz="800" dirty="0"/>
          </a:p>
        </p:txBody>
      </p:sp>
      <p:sp>
        <p:nvSpPr>
          <p:cNvPr id="23" name="Shape 21"/>
          <p:cNvSpPr/>
          <p:nvPr/>
        </p:nvSpPr>
        <p:spPr>
          <a:xfrm>
            <a:off x="274320" y="370332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274320" y="3703320"/>
            <a:ext cx="4160520" cy="73152"/>
          </a:xfrm>
          <a:prstGeom prst="rect">
            <a:avLst/>
          </a:prstGeom>
          <a:solidFill>
            <a:srgbClr val="E05252"/>
          </a:solidFill>
          <a:ln/>
        </p:spPr>
      </p:sp>
      <p:sp>
        <p:nvSpPr>
          <p:cNvPr id="25" name="Shape 23"/>
          <p:cNvSpPr/>
          <p:nvPr/>
        </p:nvSpPr>
        <p:spPr>
          <a:xfrm>
            <a:off x="274320" y="3776472"/>
            <a:ext cx="594360" cy="1097280"/>
          </a:xfrm>
          <a:prstGeom prst="rect">
            <a:avLst/>
          </a:prstGeom>
          <a:solidFill>
            <a:srgbClr val="E05252">
              <a:alpha val="12000"/>
            </a:srgbClr>
          </a:solidFill>
          <a:ln/>
        </p:spPr>
      </p:sp>
      <p:sp>
        <p:nvSpPr>
          <p:cNvPr id="26" name="Text 24"/>
          <p:cNvSpPr/>
          <p:nvPr/>
        </p:nvSpPr>
        <p:spPr>
          <a:xfrm>
            <a:off x="274320" y="3776472"/>
            <a:ext cx="594360" cy="411480"/>
          </a:xfrm>
          <a:prstGeom prst="rect">
            <a:avLst/>
          </a:prstGeom>
          <a:noFill/>
          <a:ln/>
        </p:spPr>
        <p:txBody>
          <a:bodyPr wrap="square" rtlCol="0" anchor="ctr"/>
          <a:lstStyle/>
          <a:p>
            <a:pPr algn="ctr" indent="0" marL="0">
              <a:buNone/>
            </a:pPr>
            <a:r>
              <a:rPr lang="en-US" sz="1400" b="1" dirty="0">
                <a:solidFill>
                  <a:srgbClr val="E05252"/>
                </a:solidFill>
                <a:latin typeface="Calibri" pitchFamily="34" charset="0"/>
                <a:ea typeface="Calibri" pitchFamily="34" charset="-122"/>
                <a:cs typeface="Calibri" pitchFamily="34" charset="-120"/>
              </a:rPr>
              <a:t>#3</a:t>
            </a:r>
            <a:endParaRPr lang="en-US" sz="1400" dirty="0"/>
          </a:p>
        </p:txBody>
      </p:sp>
      <p:sp>
        <p:nvSpPr>
          <p:cNvPr id="27" name="Text 25"/>
          <p:cNvSpPr/>
          <p:nvPr/>
        </p:nvSpPr>
        <p:spPr>
          <a:xfrm>
            <a:off x="274320" y="4178808"/>
            <a:ext cx="594360" cy="274320"/>
          </a:xfrm>
          <a:prstGeom prst="rect">
            <a:avLst/>
          </a:prstGeom>
          <a:noFill/>
          <a:ln/>
        </p:spPr>
        <p:txBody>
          <a:bodyPr wrap="square" rtlCol="0" anchor="ctr"/>
          <a:lstStyle/>
          <a:p>
            <a:pPr algn="ctr" indent="0" marL="0">
              <a:buNone/>
            </a:pPr>
            <a:r>
              <a:rPr lang="en-US" sz="800" dirty="0">
                <a:solidFill>
                  <a:srgbClr val="E05252"/>
                </a:solidFill>
                <a:latin typeface="Calibri" pitchFamily="34" charset="0"/>
                <a:ea typeface="Calibri" pitchFamily="34" charset="-122"/>
                <a:cs typeface="Calibri" pitchFamily="34" charset="-120"/>
              </a:rPr>
              <a:t>24,982</a:t>
            </a:r>
            <a:endParaRPr lang="en-US" sz="800" dirty="0"/>
          </a:p>
        </p:txBody>
      </p:sp>
      <p:sp>
        <p:nvSpPr>
          <p:cNvPr id="28" name="Text 26"/>
          <p:cNvSpPr/>
          <p:nvPr/>
        </p:nvSpPr>
        <p:spPr>
          <a:xfrm>
            <a:off x="274320" y="443484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29" name="Text 27"/>
          <p:cNvSpPr/>
          <p:nvPr/>
        </p:nvSpPr>
        <p:spPr>
          <a:xfrm>
            <a:off x="914400" y="379476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Infectious Disease &amp; Respiratory</a:t>
            </a:r>
            <a:endParaRPr lang="en-US" sz="1050" dirty="0"/>
          </a:p>
        </p:txBody>
      </p:sp>
      <p:sp>
        <p:nvSpPr>
          <p:cNvPr id="30" name="Text 28"/>
          <p:cNvSpPr/>
          <p:nvPr/>
        </p:nvSpPr>
        <p:spPr>
          <a:xfrm>
            <a:off x="914400" y="405079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Respiratory infections, COVID-19, sepsis, influenza, critical care. Antibiotics (Vancomycin, Clindamycin), Oseltamivir, mechanical ventilation protocols, FMT, high-flow nasal cannula. Nitazoxanide repurposing for COVID-19.</a:t>
            </a:r>
            <a:endParaRPr lang="en-US" sz="850" dirty="0"/>
          </a:p>
        </p:txBody>
      </p:sp>
      <p:sp>
        <p:nvSpPr>
          <p:cNvPr id="31" name="Text 29"/>
          <p:cNvSpPr/>
          <p:nvPr/>
        </p:nvSpPr>
        <p:spPr>
          <a:xfrm>
            <a:off x="914400" y="4617720"/>
            <a:ext cx="3429000" cy="182880"/>
          </a:xfrm>
          <a:prstGeom prst="rect">
            <a:avLst/>
          </a:prstGeom>
          <a:noFill/>
          <a:ln/>
        </p:spPr>
        <p:txBody>
          <a:bodyPr wrap="square" rtlCol="0" anchor="ctr"/>
          <a:lstStyle/>
          <a:p>
            <a:pPr indent="0" marL="0">
              <a:buNone/>
            </a:pPr>
            <a:r>
              <a:rPr lang="en-US" sz="800" i="1" dirty="0">
                <a:solidFill>
                  <a:srgbClr val="E05252"/>
                </a:solidFill>
                <a:latin typeface="Calibri" pitchFamily="34" charset="0"/>
                <a:ea typeface="Calibri" pitchFamily="34" charset="-122"/>
                <a:cs typeface="Calibri" pitchFamily="34" charset="-120"/>
              </a:rPr>
              <a:t>COVID-19 · Sepsis · Vancomycin · FMT · Mechanical Ventilation</a:t>
            </a:r>
            <a:endParaRPr lang="en-US" sz="800" dirty="0"/>
          </a:p>
        </p:txBody>
      </p:sp>
      <p:sp>
        <p:nvSpPr>
          <p:cNvPr id="32" name="Shape 30"/>
          <p:cNvSpPr/>
          <p:nvPr/>
        </p:nvSpPr>
        <p:spPr>
          <a:xfrm>
            <a:off x="4709160" y="114300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4709160" y="1143000"/>
            <a:ext cx="4160520" cy="73152"/>
          </a:xfrm>
          <a:prstGeom prst="rect">
            <a:avLst/>
          </a:prstGeom>
          <a:solidFill>
            <a:srgbClr val="5B4FCF"/>
          </a:solidFill>
          <a:ln/>
        </p:spPr>
      </p:sp>
      <p:sp>
        <p:nvSpPr>
          <p:cNvPr id="34" name="Shape 32"/>
          <p:cNvSpPr/>
          <p:nvPr/>
        </p:nvSpPr>
        <p:spPr>
          <a:xfrm>
            <a:off x="4709160" y="1216152"/>
            <a:ext cx="594360" cy="1097280"/>
          </a:xfrm>
          <a:prstGeom prst="rect">
            <a:avLst/>
          </a:prstGeom>
          <a:solidFill>
            <a:srgbClr val="5B4FCF">
              <a:alpha val="12000"/>
            </a:srgbClr>
          </a:solidFill>
          <a:ln/>
        </p:spPr>
      </p:sp>
      <p:sp>
        <p:nvSpPr>
          <p:cNvPr id="35" name="Text 33"/>
          <p:cNvSpPr/>
          <p:nvPr/>
        </p:nvSpPr>
        <p:spPr>
          <a:xfrm>
            <a:off x="4709160" y="1216152"/>
            <a:ext cx="594360" cy="411480"/>
          </a:xfrm>
          <a:prstGeom prst="rect">
            <a:avLst/>
          </a:prstGeom>
          <a:noFill/>
          <a:ln/>
        </p:spPr>
        <p:txBody>
          <a:bodyPr wrap="square" rtlCol="0" anchor="ctr"/>
          <a:lstStyle/>
          <a:p>
            <a:pPr algn="ctr" indent="0" marL="0">
              <a:buNone/>
            </a:pPr>
            <a:r>
              <a:rPr lang="en-US" sz="1400" b="1" dirty="0">
                <a:solidFill>
                  <a:srgbClr val="5B4FCF"/>
                </a:solidFill>
                <a:latin typeface="Calibri" pitchFamily="34" charset="0"/>
                <a:ea typeface="Calibri" pitchFamily="34" charset="-122"/>
                <a:cs typeface="Calibri" pitchFamily="34" charset="-120"/>
              </a:rPr>
              <a:t>#0</a:t>
            </a:r>
            <a:endParaRPr lang="en-US" sz="1400" dirty="0"/>
          </a:p>
        </p:txBody>
      </p:sp>
      <p:sp>
        <p:nvSpPr>
          <p:cNvPr id="36" name="Text 34"/>
          <p:cNvSpPr/>
          <p:nvPr/>
        </p:nvSpPr>
        <p:spPr>
          <a:xfrm>
            <a:off x="4709160" y="1618488"/>
            <a:ext cx="594360" cy="274320"/>
          </a:xfrm>
          <a:prstGeom prst="rect">
            <a:avLst/>
          </a:prstGeom>
          <a:noFill/>
          <a:ln/>
        </p:spPr>
        <p:txBody>
          <a:bodyPr wrap="square" rtlCol="0" anchor="ctr"/>
          <a:lstStyle/>
          <a:p>
            <a:pPr algn="ctr" indent="0" marL="0">
              <a:buNone/>
            </a:pPr>
            <a:r>
              <a:rPr lang="en-US" sz="800" dirty="0">
                <a:solidFill>
                  <a:srgbClr val="5B4FCF"/>
                </a:solidFill>
                <a:latin typeface="Calibri" pitchFamily="34" charset="0"/>
                <a:ea typeface="Calibri" pitchFamily="34" charset="-122"/>
                <a:cs typeface="Calibri" pitchFamily="34" charset="-120"/>
              </a:rPr>
              <a:t>22,112</a:t>
            </a:r>
            <a:endParaRPr lang="en-US" sz="800" dirty="0"/>
          </a:p>
        </p:txBody>
      </p:sp>
      <p:sp>
        <p:nvSpPr>
          <p:cNvPr id="37" name="Text 35"/>
          <p:cNvSpPr/>
          <p:nvPr/>
        </p:nvSpPr>
        <p:spPr>
          <a:xfrm>
            <a:off x="4709160" y="187452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38" name="Text 36"/>
          <p:cNvSpPr/>
          <p:nvPr/>
        </p:nvSpPr>
        <p:spPr>
          <a:xfrm>
            <a:off x="5349240" y="123444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Hepatitis B Virology</a:t>
            </a:r>
            <a:endParaRPr lang="en-US" sz="1050" dirty="0"/>
          </a:p>
        </p:txBody>
      </p:sp>
      <p:sp>
        <p:nvSpPr>
          <p:cNvPr id="39" name="Text 37"/>
          <p:cNvSpPr/>
          <p:nvPr/>
        </p:nvSpPr>
        <p:spPr>
          <a:xfrm>
            <a:off x="5349240" y="149047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Almost entirely devoted to Chronic Hepatitis B (CHB). All antiviral classes: TAF/TDF, Entecavir, Lamivudine, PegIFN. Therapeutic vaccines and novel investigational agents (VIR-2218, Bepirovirsen — siRNA-based). Reflects the global HBV cure effort.</a:t>
            </a:r>
            <a:endParaRPr lang="en-US" sz="850" dirty="0"/>
          </a:p>
        </p:txBody>
      </p:sp>
      <p:sp>
        <p:nvSpPr>
          <p:cNvPr id="40" name="Text 38"/>
          <p:cNvSpPr/>
          <p:nvPr/>
        </p:nvSpPr>
        <p:spPr>
          <a:xfrm>
            <a:off x="5349240" y="2057400"/>
            <a:ext cx="3429000" cy="182880"/>
          </a:xfrm>
          <a:prstGeom prst="rect">
            <a:avLst/>
          </a:prstGeom>
          <a:noFill/>
          <a:ln/>
        </p:spPr>
        <p:txBody>
          <a:bodyPr wrap="square" rtlCol="0" anchor="ctr"/>
          <a:lstStyle/>
          <a:p>
            <a:pPr indent="0" marL="0">
              <a:buNone/>
            </a:pPr>
            <a:r>
              <a:rPr lang="en-US" sz="800" i="1" dirty="0">
                <a:solidFill>
                  <a:srgbClr val="5B4FCF"/>
                </a:solidFill>
                <a:latin typeface="Calibri" pitchFamily="34" charset="0"/>
                <a:ea typeface="Calibri" pitchFamily="34" charset="-122"/>
                <a:cs typeface="Calibri" pitchFamily="34" charset="-120"/>
              </a:rPr>
              <a:t>TAF/TDF · Entecavir · PegIFN · HBV Vaccine · Bepirovirsen</a:t>
            </a:r>
            <a:endParaRPr lang="en-US" sz="800" dirty="0"/>
          </a:p>
        </p:txBody>
      </p:sp>
      <p:sp>
        <p:nvSpPr>
          <p:cNvPr id="41" name="Shape 39"/>
          <p:cNvSpPr/>
          <p:nvPr/>
        </p:nvSpPr>
        <p:spPr>
          <a:xfrm>
            <a:off x="4709160" y="2423160"/>
            <a:ext cx="416052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42" name="Shape 40"/>
          <p:cNvSpPr/>
          <p:nvPr/>
        </p:nvSpPr>
        <p:spPr>
          <a:xfrm>
            <a:off x="4709160" y="2423160"/>
            <a:ext cx="4160520" cy="73152"/>
          </a:xfrm>
          <a:prstGeom prst="rect">
            <a:avLst/>
          </a:prstGeom>
          <a:solidFill>
            <a:srgbClr val="0D9488"/>
          </a:solidFill>
          <a:ln/>
        </p:spPr>
      </p:sp>
      <p:sp>
        <p:nvSpPr>
          <p:cNvPr id="43" name="Shape 41"/>
          <p:cNvSpPr/>
          <p:nvPr/>
        </p:nvSpPr>
        <p:spPr>
          <a:xfrm>
            <a:off x="4709160" y="2496312"/>
            <a:ext cx="594360" cy="1097280"/>
          </a:xfrm>
          <a:prstGeom prst="rect">
            <a:avLst/>
          </a:prstGeom>
          <a:solidFill>
            <a:srgbClr val="0D9488">
              <a:alpha val="12000"/>
            </a:srgbClr>
          </a:solidFill>
          <a:ln/>
        </p:spPr>
      </p:sp>
      <p:sp>
        <p:nvSpPr>
          <p:cNvPr id="44" name="Text 42"/>
          <p:cNvSpPr/>
          <p:nvPr/>
        </p:nvSpPr>
        <p:spPr>
          <a:xfrm>
            <a:off x="4709160" y="2496312"/>
            <a:ext cx="594360" cy="411480"/>
          </a:xfrm>
          <a:prstGeom prst="rect">
            <a:avLst/>
          </a:prstGeom>
          <a:noFill/>
          <a:ln/>
        </p:spPr>
        <p:txBody>
          <a:bodyPr wrap="square"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#41</a:t>
            </a:r>
            <a:endParaRPr lang="en-US" sz="1400" dirty="0"/>
          </a:p>
        </p:txBody>
      </p:sp>
      <p:sp>
        <p:nvSpPr>
          <p:cNvPr id="45" name="Text 43"/>
          <p:cNvSpPr/>
          <p:nvPr/>
        </p:nvSpPr>
        <p:spPr>
          <a:xfrm>
            <a:off x="4709160" y="2898648"/>
            <a:ext cx="594360" cy="274320"/>
          </a:xfrm>
          <a:prstGeom prst="rect">
            <a:avLst/>
          </a:prstGeom>
          <a:noFill/>
          <a:ln/>
        </p:spPr>
        <p:txBody>
          <a:bodyPr wrap="square" rtlCol="0" anchor="ctr"/>
          <a:lstStyle/>
          <a:p>
            <a:pPr algn="ctr" indent="0" marL="0">
              <a:buNone/>
            </a:pPr>
            <a:r>
              <a:rPr lang="en-US" sz="800" dirty="0">
                <a:solidFill>
                  <a:srgbClr val="0D9488"/>
                </a:solidFill>
                <a:latin typeface="Calibri" pitchFamily="34" charset="0"/>
                <a:ea typeface="Calibri" pitchFamily="34" charset="-122"/>
                <a:cs typeface="Calibri" pitchFamily="34" charset="-120"/>
              </a:rPr>
              <a:t>20,106</a:t>
            </a:r>
            <a:endParaRPr lang="en-US" sz="800" dirty="0"/>
          </a:p>
        </p:txBody>
      </p:sp>
      <p:sp>
        <p:nvSpPr>
          <p:cNvPr id="46" name="Text 44"/>
          <p:cNvSpPr/>
          <p:nvPr/>
        </p:nvSpPr>
        <p:spPr>
          <a:xfrm>
            <a:off x="4709160" y="3154680"/>
            <a:ext cx="594360" cy="228600"/>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nodes</a:t>
            </a:r>
            <a:endParaRPr lang="en-US" sz="700" dirty="0"/>
          </a:p>
        </p:txBody>
      </p:sp>
      <p:sp>
        <p:nvSpPr>
          <p:cNvPr id="47" name="Text 45"/>
          <p:cNvSpPr/>
          <p:nvPr/>
        </p:nvSpPr>
        <p:spPr>
          <a:xfrm>
            <a:off x="5349240" y="2514600"/>
            <a:ext cx="3429000" cy="256032"/>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Sleep Apnea, Obesity &amp; Pulmonary</a:t>
            </a:r>
            <a:endParaRPr lang="en-US" sz="1050" dirty="0"/>
          </a:p>
        </p:txBody>
      </p:sp>
      <p:sp>
        <p:nvSpPr>
          <p:cNvPr id="48" name="Text 46"/>
          <p:cNvSpPr/>
          <p:nvPr/>
        </p:nvSpPr>
        <p:spPr>
          <a:xfrm>
            <a:off x="5349240" y="2770632"/>
            <a:ext cx="3429000" cy="54864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Obstructive sleep apnea (active vs sham CPAP), polysomnography endpoints, obesity interventions, asthma. Pirfenidone (IPF), Bosentan (PAH), Roflumilast (COPD). Hyperpolarized Xe-129 MRI — cutting-edge pulmonary imaging.</a:t>
            </a:r>
            <a:endParaRPr lang="en-US" sz="850" dirty="0"/>
          </a:p>
        </p:txBody>
      </p:sp>
      <p:sp>
        <p:nvSpPr>
          <p:cNvPr id="49" name="Text 47"/>
          <p:cNvSpPr/>
          <p:nvPr/>
        </p:nvSpPr>
        <p:spPr>
          <a:xfrm>
            <a:off x="5349240" y="3337560"/>
            <a:ext cx="3429000" cy="182880"/>
          </a:xfrm>
          <a:prstGeom prst="rect">
            <a:avLst/>
          </a:prstGeom>
          <a:noFill/>
          <a:ln/>
        </p:spPr>
        <p:txBody>
          <a:bodyPr wrap="square" rtlCol="0" anchor="ctr"/>
          <a:lstStyle/>
          <a:p>
            <a:pPr indent="0" marL="0">
              <a:buNone/>
            </a:pPr>
            <a:r>
              <a:rPr lang="en-US" sz="800" i="1" dirty="0">
                <a:solidFill>
                  <a:srgbClr val="0D9488"/>
                </a:solidFill>
                <a:latin typeface="Calibri" pitchFamily="34" charset="0"/>
                <a:ea typeface="Calibri" pitchFamily="34" charset="-122"/>
                <a:cs typeface="Calibri" pitchFamily="34" charset="-120"/>
              </a:rPr>
              <a:t>CPAP · Sleep Apnea · Pirfenidone · Bosentan · Xe-129 MRI</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E05252"/>
                </a:solidFill>
                <a:latin typeface="Calibri" pitchFamily="34" charset="0"/>
                <a:ea typeface="Calibri" pitchFamily="34" charset="-122"/>
                <a:cs typeface="Calibri" pitchFamily="34" charset="-120"/>
              </a:rPr>
              <a:t>ANALYSIS 3 — DRUG REPURPOSING</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Repurposing Signals from the Clinical Trials KG</a:t>
            </a:r>
            <a:endParaRPr lang="en-US" sz="2000" dirty="0"/>
          </a:p>
        </p:txBody>
      </p:sp>
      <p:sp>
        <p:nvSpPr>
          <p:cNvPr id="5" name="Shape 3"/>
          <p:cNvSpPr/>
          <p:nvPr/>
        </p:nvSpPr>
        <p:spPr>
          <a:xfrm>
            <a:off x="320040" y="1097280"/>
            <a:ext cx="8503920" cy="1280160"/>
          </a:xfrm>
          <a:prstGeom prst="rect">
            <a:avLst/>
          </a:prstGeom>
          <a:solidFill>
            <a:srgbClr val="0F1F3D">
              <a:alpha val="8000"/>
            </a:srgbClr>
          </a:solidFill>
          <a:ln w="12700">
            <a:solidFill>
              <a:srgbClr val="5B4FCF"/>
            </a:solidFill>
            <a:prstDash val="solid"/>
          </a:ln>
        </p:spPr>
      </p:sp>
      <p:sp>
        <p:nvSpPr>
          <p:cNvPr id="6" name="Text 4"/>
          <p:cNvSpPr/>
          <p:nvPr/>
        </p:nvSpPr>
        <p:spPr>
          <a:xfrm>
            <a:off x="457200" y="1115568"/>
            <a:ext cx="1828800" cy="320040"/>
          </a:xfrm>
          <a:prstGeom prst="rect">
            <a:avLst/>
          </a:prstGeom>
          <a:noFill/>
          <a:ln/>
        </p:spPr>
        <p:txBody>
          <a:bodyPr wrap="square" rtlCol="0" anchor="ctr"/>
          <a:lstStyle/>
          <a:p>
            <a:pPr indent="0" marL="0">
              <a:buNone/>
            </a:pPr>
            <a:r>
              <a:rPr lang="en-US" sz="1100" b="1" dirty="0">
                <a:solidFill>
                  <a:srgbClr val="5B4FCF"/>
                </a:solidFill>
                <a:latin typeface="Calibri" pitchFamily="34" charset="0"/>
                <a:ea typeface="Calibri" pitchFamily="34" charset="-122"/>
                <a:cs typeface="Calibri" pitchFamily="34" charset="-120"/>
              </a:rPr>
              <a:t>Methodology</a:t>
            </a:r>
            <a:endParaRPr lang="en-US" sz="1100" dirty="0"/>
          </a:p>
        </p:txBody>
      </p:sp>
      <p:sp>
        <p:nvSpPr>
          <p:cNvPr id="7" name="Text 5"/>
          <p:cNvSpPr/>
          <p:nvPr/>
        </p:nvSpPr>
        <p:spPr>
          <a:xfrm>
            <a:off x="457200" y="1417320"/>
            <a:ext cx="8229600" cy="274320"/>
          </a:xfrm>
          <a:prstGeom prst="rect">
            <a:avLst/>
          </a:prstGeom>
          <a:noFill/>
          <a:ln/>
        </p:spPr>
        <p:txBody>
          <a:bodyPr wrap="square" rtlCol="0" anchor="ctr"/>
          <a:lstStyle/>
          <a:p>
            <a:pPr indent="0" marL="0">
              <a:buNone/>
            </a:pPr>
            <a:r>
              <a:rPr lang="en-US" sz="1000" b="1" dirty="0">
                <a:solidFill>
                  <a:srgbClr val="0F1F3D"/>
                </a:solidFill>
              </a:rPr>
              <a:t>Cypher query: </a:t>
            </a:r>
            <a:pPr indent="0" marL="0">
              <a:buNone/>
            </a:pPr>
            <a:r>
              <a:rPr lang="en-US" sz="1000" dirty="0">
                <a:solidFill>
                  <a:srgbClr val="0D9488"/>
                </a:solidFill>
                <a:latin typeface="Consolas" pitchFamily="34" charset="0"/>
                <a:ea typeface="Consolas" pitchFamily="34" charset="-122"/>
                <a:cs typeface="Consolas" pitchFamily="34" charset="-120"/>
              </a:rPr>
              <a:t>MATCH (Intervention)&lt;-[:USES_INTERVENTION]-(Study)-[:STUDIES]-&gt;(Condition)</a:t>
            </a:r>
            <a:endParaRPr lang="en-US" sz="1000" dirty="0"/>
          </a:p>
        </p:txBody>
      </p:sp>
      <p:sp>
        <p:nvSpPr>
          <p:cNvPr id="8" name="Text 6"/>
          <p:cNvSpPr/>
          <p:nvPr/>
        </p:nvSpPr>
        <p:spPr>
          <a:xfrm>
            <a:off x="457200" y="1719072"/>
            <a:ext cx="8229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COUNT(DISTINCT condition) per drug  →  Rank by n_conditions (breadth of diseases studied in trials)  →  Top 40 candidates extracted</a:t>
            </a:r>
            <a:endParaRPr lang="en-US" sz="1000" dirty="0"/>
          </a:p>
        </p:txBody>
      </p:sp>
      <p:sp>
        <p:nvSpPr>
          <p:cNvPr id="9" name="Shape 7"/>
          <p:cNvSpPr/>
          <p:nvPr/>
        </p:nvSpPr>
        <p:spPr>
          <a:xfrm>
            <a:off x="320040" y="2487168"/>
            <a:ext cx="2743200" cy="2487168"/>
          </a:xfrm>
          <a:prstGeom prst="rect">
            <a:avLst/>
          </a:prstGeom>
          <a:solidFill>
            <a:srgbClr val="FFFFFF"/>
          </a:solidFill>
          <a:ln w="12700">
            <a:solidFill>
              <a:srgbClr val="E05252"/>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320040" y="2487168"/>
            <a:ext cx="2743200" cy="438912"/>
          </a:xfrm>
          <a:prstGeom prst="rect">
            <a:avLst/>
          </a:prstGeom>
          <a:solidFill>
            <a:srgbClr val="E05252"/>
          </a:solidFill>
          <a:ln/>
        </p:spPr>
      </p:sp>
      <p:sp>
        <p:nvSpPr>
          <p:cNvPr id="11" name="Text 9"/>
          <p:cNvSpPr/>
          <p:nvPr/>
        </p:nvSpPr>
        <p:spPr>
          <a:xfrm>
            <a:off x="320040" y="2505456"/>
            <a:ext cx="27432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Cluster I</a:t>
            </a:r>
            <a:endParaRPr lang="en-US" sz="1300" dirty="0"/>
          </a:p>
        </p:txBody>
      </p:sp>
      <p:sp>
        <p:nvSpPr>
          <p:cNvPr id="12" name="Text 10"/>
          <p:cNvSpPr/>
          <p:nvPr/>
        </p:nvSpPr>
        <p:spPr>
          <a:xfrm>
            <a:off x="429768" y="2971800"/>
            <a:ext cx="2523744" cy="329184"/>
          </a:xfrm>
          <a:prstGeom prst="rect">
            <a:avLst/>
          </a:prstGeom>
          <a:noFill/>
          <a:ln/>
        </p:spPr>
        <p:txBody>
          <a:bodyPr wrap="square"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Cytotoxic Backbone Drugs</a:t>
            </a:r>
            <a:endParaRPr lang="en-US" sz="1100" dirty="0"/>
          </a:p>
        </p:txBody>
      </p:sp>
      <p:sp>
        <p:nvSpPr>
          <p:cNvPr id="13" name="Text 11"/>
          <p:cNvSpPr/>
          <p:nvPr/>
        </p:nvSpPr>
        <p:spPr>
          <a:xfrm>
            <a:off x="429768" y="3337560"/>
            <a:ext cx="2523744" cy="1508760"/>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Cyclophosphamide, Carboplatin, Cisplatin, Paclitaxel, Gemcitabine — appear in combination regimens across virtually all solid and haematological cancers. High condition breadth is partly combinatorial (many tumor subtypes tested) but also reflects genuine mechanistic versatility via DNA damage and immune modulation.</a:t>
            </a:r>
            <a:endParaRPr lang="en-US" sz="950" dirty="0"/>
          </a:p>
        </p:txBody>
      </p:sp>
      <p:sp>
        <p:nvSpPr>
          <p:cNvPr id="14" name="Shape 12"/>
          <p:cNvSpPr/>
          <p:nvPr/>
        </p:nvSpPr>
        <p:spPr>
          <a:xfrm>
            <a:off x="3200400" y="2487168"/>
            <a:ext cx="2743200" cy="2487168"/>
          </a:xfrm>
          <a:prstGeom prst="rect">
            <a:avLst/>
          </a:prstGeom>
          <a:solidFill>
            <a:srgbClr val="FFFFFF"/>
          </a:solidFill>
          <a:ln w="12700">
            <a:solidFill>
              <a:srgbClr val="5B4FCF"/>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3200400" y="2487168"/>
            <a:ext cx="2743200" cy="438912"/>
          </a:xfrm>
          <a:prstGeom prst="rect">
            <a:avLst/>
          </a:prstGeom>
          <a:solidFill>
            <a:srgbClr val="5B4FCF"/>
          </a:solidFill>
          <a:ln/>
        </p:spPr>
      </p:sp>
      <p:sp>
        <p:nvSpPr>
          <p:cNvPr id="16" name="Text 14"/>
          <p:cNvSpPr/>
          <p:nvPr/>
        </p:nvSpPr>
        <p:spPr>
          <a:xfrm>
            <a:off x="3200400" y="2505456"/>
            <a:ext cx="27432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Cluster II</a:t>
            </a:r>
            <a:endParaRPr lang="en-US" sz="1300" dirty="0"/>
          </a:p>
        </p:txBody>
      </p:sp>
      <p:sp>
        <p:nvSpPr>
          <p:cNvPr id="17" name="Text 15"/>
          <p:cNvSpPr/>
          <p:nvPr/>
        </p:nvSpPr>
        <p:spPr>
          <a:xfrm>
            <a:off x="3310128" y="2971800"/>
            <a:ext cx="2523744" cy="329184"/>
          </a:xfrm>
          <a:prstGeom prst="rect">
            <a:avLst/>
          </a:prstGeom>
          <a:noFill/>
          <a:ln/>
        </p:spPr>
        <p:txBody>
          <a:bodyPr wrap="square"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Checkpoint Inhibitors</a:t>
            </a:r>
            <a:endParaRPr lang="en-US" sz="1100" dirty="0"/>
          </a:p>
        </p:txBody>
      </p:sp>
      <p:sp>
        <p:nvSpPr>
          <p:cNvPr id="18" name="Text 16"/>
          <p:cNvSpPr/>
          <p:nvPr/>
        </p:nvSpPr>
        <p:spPr>
          <a:xfrm>
            <a:off x="3310128" y="3337560"/>
            <a:ext cx="2523744" cy="1508760"/>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Pembrolizumab, Nivolumab, Ipilimumab, Durvalumab, Atezolizumab — expanded from melanoma/NSCLC into dozens of tumor types. Nivolumab appears in HBV and COVID-19 trials, signaling genuine cross-disease immune-axis potential via PD-1 blockade beyond oncology.</a:t>
            </a:r>
            <a:endParaRPr lang="en-US" sz="950" dirty="0"/>
          </a:p>
        </p:txBody>
      </p:sp>
      <p:sp>
        <p:nvSpPr>
          <p:cNvPr id="19" name="Shape 17"/>
          <p:cNvSpPr/>
          <p:nvPr/>
        </p:nvSpPr>
        <p:spPr>
          <a:xfrm>
            <a:off x="6080760" y="2487168"/>
            <a:ext cx="2743200" cy="2487168"/>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6080760" y="2487168"/>
            <a:ext cx="2743200" cy="438912"/>
          </a:xfrm>
          <a:prstGeom prst="rect">
            <a:avLst/>
          </a:prstGeom>
          <a:solidFill>
            <a:srgbClr val="0D9488"/>
          </a:solidFill>
          <a:ln/>
        </p:spPr>
      </p:sp>
      <p:sp>
        <p:nvSpPr>
          <p:cNvPr id="21" name="Text 19"/>
          <p:cNvSpPr/>
          <p:nvPr/>
        </p:nvSpPr>
        <p:spPr>
          <a:xfrm>
            <a:off x="6080760" y="2505456"/>
            <a:ext cx="27432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Cluster III</a:t>
            </a:r>
            <a:endParaRPr lang="en-US" sz="1300" dirty="0"/>
          </a:p>
        </p:txBody>
      </p:sp>
      <p:sp>
        <p:nvSpPr>
          <p:cNvPr id="22" name="Text 20"/>
          <p:cNvSpPr/>
          <p:nvPr/>
        </p:nvSpPr>
        <p:spPr>
          <a:xfrm>
            <a:off x="6190488" y="2971800"/>
            <a:ext cx="2523744" cy="329184"/>
          </a:xfrm>
          <a:prstGeom prst="rect">
            <a:avLst/>
          </a:prstGeom>
          <a:noFill/>
          <a:ln/>
        </p:spPr>
        <p:txBody>
          <a:bodyPr wrap="square" rtlCol="0" anchor="ctr"/>
          <a:lstStyle/>
          <a:p>
            <a:pPr indent="0" marL="0">
              <a:buNone/>
            </a:pPr>
            <a:r>
              <a:rPr lang="en-US" sz="1100" b="1" dirty="0">
                <a:solidFill>
                  <a:srgbClr val="0F1F3D"/>
                </a:solidFill>
                <a:latin typeface="Calibri" pitchFamily="34" charset="0"/>
                <a:ea typeface="Calibri" pitchFamily="34" charset="-122"/>
                <a:cs typeface="Calibri" pitchFamily="34" charset="-120"/>
              </a:rPr>
              <a:t>Cross-Domain Corticosteroid</a:t>
            </a:r>
            <a:endParaRPr lang="en-US" sz="1100" dirty="0"/>
          </a:p>
        </p:txBody>
      </p:sp>
      <p:sp>
        <p:nvSpPr>
          <p:cNvPr id="23" name="Text 21"/>
          <p:cNvSpPr/>
          <p:nvPr/>
        </p:nvSpPr>
        <p:spPr>
          <a:xfrm>
            <a:off x="6190488" y="3337560"/>
            <a:ext cx="2523744" cy="1508760"/>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Dexamethasone — the sole non-oncology drug in the top tier. Spans inflammation, surgery, sepsis, respiratory distress (ARDS), haematology. Its inclusion in the COVID-19 RECOVERY trial is the textbook modern repurposing success — a 1960s steroid repurposed for a 2020 pandemic.</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E05252"/>
                </a:solidFill>
                <a:latin typeface="Calibri" pitchFamily="34" charset="0"/>
                <a:ea typeface="Calibri" pitchFamily="34" charset="-122"/>
                <a:cs typeface="Calibri" pitchFamily="34" charset="-120"/>
              </a:rPr>
              <a:t>REPURPOSING CANDIDATES — CONDITION BREADTH</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Distinct Conditions Studied per Drug (Top 19 Real Candidates)</a:t>
            </a:r>
            <a:endParaRPr lang="en-US" sz="2000" dirty="0"/>
          </a:p>
        </p:txBody>
      </p:sp>
      <p:graphicFrame>
        <p:nvGraphicFramePr>
          <p:cNvPr id="5" name="Chart 0" descr=""/>
          <p:cNvGraphicFramePr/>
          <p:nvPr/>
        </p:nvGraphicFramePr>
        <p:xfrm>
          <a:off x="274320" y="1097280"/>
          <a:ext cx="8595360" cy="38404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E05252"/>
                </a:solidFill>
                <a:latin typeface="Calibri" pitchFamily="34" charset="0"/>
                <a:ea typeface="Calibri" pitchFamily="34" charset="-122"/>
                <a:cs typeface="Calibri" pitchFamily="34" charset="-120"/>
              </a:rPr>
              <a:t>REPURPOSING — TRIAL DEPTH vs CONDITION BREADTH</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Number of Trials vs Distinct Conditions Studied</a:t>
            </a:r>
            <a:endParaRPr lang="en-US" sz="2000" dirty="0"/>
          </a:p>
        </p:txBody>
      </p:sp>
      <p:graphicFrame>
        <p:nvGraphicFramePr>
          <p:cNvPr id="5" name="Chart 0" descr=""/>
          <p:cNvGraphicFramePr/>
          <p:nvPr/>
        </p:nvGraphicFramePr>
        <p:xfrm>
          <a:off x="274320" y="109728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80760" y="1143000"/>
            <a:ext cx="2834640" cy="1170432"/>
          </a:xfrm>
          <a:prstGeom prst="rect">
            <a:avLst/>
          </a:prstGeom>
          <a:solidFill>
            <a:srgbClr val="FFFFFF"/>
          </a:solidFill>
          <a:ln w="12700">
            <a:solidFill>
              <a:srgbClr val="E05252"/>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6080760" y="1143000"/>
            <a:ext cx="2834640" cy="73152"/>
          </a:xfrm>
          <a:prstGeom prst="rect">
            <a:avLst/>
          </a:prstGeom>
          <a:solidFill>
            <a:srgbClr val="E05252"/>
          </a:solidFill>
          <a:ln/>
        </p:spPr>
      </p:sp>
      <p:sp>
        <p:nvSpPr>
          <p:cNvPr id="8" name="Text 5"/>
          <p:cNvSpPr/>
          <p:nvPr/>
        </p:nvSpPr>
        <p:spPr>
          <a:xfrm>
            <a:off x="6172200" y="1234440"/>
            <a:ext cx="2651760" cy="237744"/>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Cyclophosphamide</a:t>
            </a:r>
            <a:endParaRPr lang="en-US" sz="1050" dirty="0"/>
          </a:p>
        </p:txBody>
      </p:sp>
      <p:sp>
        <p:nvSpPr>
          <p:cNvPr id="9" name="Text 6"/>
          <p:cNvSpPr/>
          <p:nvPr/>
        </p:nvSpPr>
        <p:spPr>
          <a:xfrm>
            <a:off x="6172200" y="1463040"/>
            <a:ext cx="2651760" cy="182880"/>
          </a:xfrm>
          <a:prstGeom prst="rect">
            <a:avLst/>
          </a:prstGeom>
          <a:noFill/>
          <a:ln/>
        </p:spPr>
        <p:txBody>
          <a:bodyPr wrap="square" rtlCol="0" anchor="ctr"/>
          <a:lstStyle/>
          <a:p>
            <a:pPr indent="0" marL="0">
              <a:buNone/>
            </a:pPr>
            <a:r>
              <a:rPr lang="en-US" sz="900" i="1" dirty="0">
                <a:solidFill>
                  <a:srgbClr val="E05252"/>
                </a:solidFill>
                <a:latin typeface="Calibri" pitchFamily="34" charset="0"/>
                <a:ea typeface="Calibri" pitchFamily="34" charset="-122"/>
                <a:cs typeface="Calibri" pitchFamily="34" charset="-120"/>
              </a:rPr>
              <a:t>Top-right quadrant</a:t>
            </a:r>
            <a:endParaRPr lang="en-US" sz="900" dirty="0"/>
          </a:p>
        </p:txBody>
      </p:sp>
      <p:sp>
        <p:nvSpPr>
          <p:cNvPr id="10" name="Text 7"/>
          <p:cNvSpPr/>
          <p:nvPr/>
        </p:nvSpPr>
        <p:spPr>
          <a:xfrm>
            <a:off x="6172200" y="1655064"/>
            <a:ext cx="2651760" cy="59436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Most conditions (2,340) AND trials (1,914). Genuine broad-spectrum agent — DNA alkylation has utility across cancers, autoimmune disease, and transplant conditioning.</a:t>
            </a:r>
            <a:endParaRPr lang="en-US" sz="850" dirty="0"/>
          </a:p>
        </p:txBody>
      </p:sp>
      <p:sp>
        <p:nvSpPr>
          <p:cNvPr id="11" name="Shape 8"/>
          <p:cNvSpPr/>
          <p:nvPr/>
        </p:nvSpPr>
        <p:spPr>
          <a:xfrm>
            <a:off x="6080760" y="2404872"/>
            <a:ext cx="2834640" cy="1170432"/>
          </a:xfrm>
          <a:prstGeom prst="rect">
            <a:avLst/>
          </a:prstGeom>
          <a:solidFill>
            <a:srgbClr val="FFFFFF"/>
          </a:solidFill>
          <a:ln w="12700">
            <a:solidFill>
              <a:srgbClr val="5B4FCF"/>
            </a:solidFill>
            <a:prstDash val="solid"/>
          </a:ln>
          <a:effectLst>
            <a:outerShdw sx="100000" sy="100000" kx="0" ky="0" algn="bl" rotWithShape="0" blurRad="101600" dist="38100" dir="8100000">
              <a:srgbClr val="000000">
                <a:alpha val="10000"/>
              </a:srgbClr>
            </a:outerShdw>
          </a:effectLst>
        </p:spPr>
      </p:sp>
      <p:sp>
        <p:nvSpPr>
          <p:cNvPr id="12" name="Shape 9"/>
          <p:cNvSpPr/>
          <p:nvPr/>
        </p:nvSpPr>
        <p:spPr>
          <a:xfrm>
            <a:off x="6080760" y="2404872"/>
            <a:ext cx="2834640" cy="73152"/>
          </a:xfrm>
          <a:prstGeom prst="rect">
            <a:avLst/>
          </a:prstGeom>
          <a:solidFill>
            <a:srgbClr val="5B4FCF"/>
          </a:solidFill>
          <a:ln/>
        </p:spPr>
      </p:sp>
      <p:sp>
        <p:nvSpPr>
          <p:cNvPr id="13" name="Text 10"/>
          <p:cNvSpPr/>
          <p:nvPr/>
        </p:nvSpPr>
        <p:spPr>
          <a:xfrm>
            <a:off x="6172200" y="2496312"/>
            <a:ext cx="2651760" cy="237744"/>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Pembrolizumab</a:t>
            </a:r>
            <a:endParaRPr lang="en-US" sz="1050" dirty="0"/>
          </a:p>
        </p:txBody>
      </p:sp>
      <p:sp>
        <p:nvSpPr>
          <p:cNvPr id="14" name="Text 11"/>
          <p:cNvSpPr/>
          <p:nvPr/>
        </p:nvSpPr>
        <p:spPr>
          <a:xfrm>
            <a:off x="6172200" y="2724912"/>
            <a:ext cx="2651760" cy="182880"/>
          </a:xfrm>
          <a:prstGeom prst="rect">
            <a:avLst/>
          </a:prstGeom>
          <a:noFill/>
          <a:ln/>
        </p:spPr>
        <p:txBody>
          <a:bodyPr wrap="square" rtlCol="0" anchor="ctr"/>
          <a:lstStyle/>
          <a:p>
            <a:pPr indent="0" marL="0">
              <a:buNone/>
            </a:pPr>
            <a:r>
              <a:rPr lang="en-US" sz="900" i="1" dirty="0">
                <a:solidFill>
                  <a:srgbClr val="5B4FCF"/>
                </a:solidFill>
                <a:latin typeface="Calibri" pitchFamily="34" charset="0"/>
                <a:ea typeface="Calibri" pitchFamily="34" charset="-122"/>
                <a:cs typeface="Calibri" pitchFamily="34" charset="-120"/>
              </a:rPr>
              <a:t>High conditions, high trials</a:t>
            </a:r>
            <a:endParaRPr lang="en-US" sz="900" dirty="0"/>
          </a:p>
        </p:txBody>
      </p:sp>
      <p:sp>
        <p:nvSpPr>
          <p:cNvPr id="15" name="Text 12"/>
          <p:cNvSpPr/>
          <p:nvPr/>
        </p:nvSpPr>
        <p:spPr>
          <a:xfrm>
            <a:off x="6172200" y="2916936"/>
            <a:ext cx="2651760" cy="59436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2,223 conditions, 1,718 trials. PD-1 blockade is now standard across 30+ tumor types — the broadest mechanistic expansion in oncology history.</a:t>
            </a:r>
            <a:endParaRPr lang="en-US" sz="850" dirty="0"/>
          </a:p>
        </p:txBody>
      </p:sp>
      <p:sp>
        <p:nvSpPr>
          <p:cNvPr id="16" name="Shape 13"/>
          <p:cNvSpPr/>
          <p:nvPr/>
        </p:nvSpPr>
        <p:spPr>
          <a:xfrm>
            <a:off x="6080760" y="3666744"/>
            <a:ext cx="2834640" cy="1170432"/>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17" name="Shape 14"/>
          <p:cNvSpPr/>
          <p:nvPr/>
        </p:nvSpPr>
        <p:spPr>
          <a:xfrm>
            <a:off x="6080760" y="3666744"/>
            <a:ext cx="2834640" cy="73152"/>
          </a:xfrm>
          <a:prstGeom prst="rect">
            <a:avLst/>
          </a:prstGeom>
          <a:solidFill>
            <a:srgbClr val="0D9488"/>
          </a:solidFill>
          <a:ln/>
        </p:spPr>
      </p:sp>
      <p:sp>
        <p:nvSpPr>
          <p:cNvPr id="18" name="Text 15"/>
          <p:cNvSpPr/>
          <p:nvPr/>
        </p:nvSpPr>
        <p:spPr>
          <a:xfrm>
            <a:off x="6172200" y="3758184"/>
            <a:ext cx="2651760" cy="237744"/>
          </a:xfrm>
          <a:prstGeom prst="rect">
            <a:avLst/>
          </a:prstGeom>
          <a:noFill/>
          <a:ln/>
        </p:spPr>
        <p:txBody>
          <a:bodyPr wrap="square" rtlCol="0" anchor="ctr"/>
          <a:lstStyle/>
          <a:p>
            <a:pPr indent="0" marL="0">
              <a:buNone/>
            </a:pPr>
            <a:r>
              <a:rPr lang="en-US" sz="1050" b="1" dirty="0">
                <a:solidFill>
                  <a:srgbClr val="0F1F3D"/>
                </a:solidFill>
                <a:latin typeface="Calibri" pitchFamily="34" charset="0"/>
                <a:ea typeface="Calibri" pitchFamily="34" charset="-122"/>
                <a:cs typeface="Calibri" pitchFamily="34" charset="-120"/>
              </a:rPr>
              <a:t>Dexamethasone</a:t>
            </a:r>
            <a:endParaRPr lang="en-US" sz="1050" dirty="0"/>
          </a:p>
        </p:txBody>
      </p:sp>
      <p:sp>
        <p:nvSpPr>
          <p:cNvPr id="19" name="Text 16"/>
          <p:cNvSpPr/>
          <p:nvPr/>
        </p:nvSpPr>
        <p:spPr>
          <a:xfrm>
            <a:off x="6172200" y="3986784"/>
            <a:ext cx="2651760" cy="182880"/>
          </a:xfrm>
          <a:prstGeom prst="rect">
            <a:avLst/>
          </a:prstGeom>
          <a:noFill/>
          <a:ln/>
        </p:spPr>
        <p:txBody>
          <a:bodyPr wrap="square" rtlCol="0" anchor="ctr"/>
          <a:lstStyle/>
          <a:p>
            <a:pPr indent="0" marL="0">
              <a:buNone/>
            </a:pPr>
            <a:r>
              <a:rPr lang="en-US" sz="900" i="1" dirty="0">
                <a:solidFill>
                  <a:srgbClr val="0D9488"/>
                </a:solidFill>
                <a:latin typeface="Calibri" pitchFamily="34" charset="0"/>
                <a:ea typeface="Calibri" pitchFamily="34" charset="-122"/>
                <a:cs typeface="Calibri" pitchFamily="34" charset="-120"/>
              </a:rPr>
              <a:t>Unique quadrant position</a:t>
            </a:r>
            <a:endParaRPr lang="en-US" sz="900" dirty="0"/>
          </a:p>
        </p:txBody>
      </p:sp>
      <p:sp>
        <p:nvSpPr>
          <p:cNvPr id="20" name="Text 17"/>
          <p:cNvSpPr/>
          <p:nvPr/>
        </p:nvSpPr>
        <p:spPr>
          <a:xfrm>
            <a:off x="6172200" y="4178808"/>
            <a:ext cx="2651760" cy="594360"/>
          </a:xfrm>
          <a:prstGeom prst="rect">
            <a:avLst/>
          </a:prstGeom>
          <a:noFill/>
          <a:ln/>
        </p:spPr>
        <p:txBody>
          <a:bodyPr wrap="square" rtlCol="0" anchor="ctr"/>
          <a:lstStyle/>
          <a:p>
            <a:pPr indent="0" marL="0">
              <a:lnSpc>
                <a:spcPct val="125000"/>
              </a:lnSpc>
              <a:buNone/>
            </a:pPr>
            <a:r>
              <a:rPr lang="en-US" sz="850" dirty="0">
                <a:solidFill>
                  <a:srgbClr val="64748B"/>
                </a:solidFill>
                <a:latin typeface="Calibri" pitchFamily="34" charset="0"/>
                <a:ea typeface="Calibri" pitchFamily="34" charset="-122"/>
                <a:cs typeface="Calibri" pitchFamily="34" charset="-120"/>
              </a:rPr>
              <a:t>1,433 conditions, 1,670 trials. Only corticosteroid in top tier. High trial depth across anaesthesia, oncology, inflammation — the RECOVERY trial (COVID-19) being its most impactful recent repositioning.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E05252"/>
                </a:solidFill>
                <a:latin typeface="Calibri" pitchFamily="34" charset="0"/>
                <a:ea typeface="Calibri" pitchFamily="34" charset="-122"/>
                <a:cs typeface="Calibri" pitchFamily="34" charset="-120"/>
              </a:rPr>
              <a:t>KEY DRUG REPURPOSING PROFILES</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Mechanistic Interpretation of Top Broad-Spectrum Candidates</a:t>
            </a:r>
            <a:endParaRPr lang="en-US" sz="2000" dirty="0"/>
          </a:p>
        </p:txBody>
      </p:sp>
      <p:sp>
        <p:nvSpPr>
          <p:cNvPr id="5" name="Shape 3"/>
          <p:cNvSpPr/>
          <p:nvPr/>
        </p:nvSpPr>
        <p:spPr>
          <a:xfrm>
            <a:off x="274320" y="1143000"/>
            <a:ext cx="4160520" cy="1783080"/>
          </a:xfrm>
          <a:prstGeom prst="rect">
            <a:avLst/>
          </a:prstGeom>
          <a:solidFill>
            <a:srgbClr val="FFFFFF"/>
          </a:solidFill>
          <a:ln w="12700">
            <a:solidFill>
              <a:srgbClr val="E05252"/>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143000"/>
            <a:ext cx="4160520" cy="411480"/>
          </a:xfrm>
          <a:prstGeom prst="rect">
            <a:avLst/>
          </a:prstGeom>
          <a:solidFill>
            <a:srgbClr val="E05252"/>
          </a:solidFill>
          <a:ln/>
        </p:spPr>
      </p:sp>
      <p:sp>
        <p:nvSpPr>
          <p:cNvPr id="7" name="Text 5"/>
          <p:cNvSpPr/>
          <p:nvPr/>
        </p:nvSpPr>
        <p:spPr>
          <a:xfrm>
            <a:off x="365760" y="1179576"/>
            <a:ext cx="2743200" cy="33832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Cyclophosphamide</a:t>
            </a:r>
            <a:endParaRPr lang="en-US" sz="1200" dirty="0"/>
          </a:p>
        </p:txBody>
      </p:sp>
      <p:sp>
        <p:nvSpPr>
          <p:cNvPr id="8" name="Text 6"/>
          <p:cNvSpPr/>
          <p:nvPr/>
        </p:nvSpPr>
        <p:spPr>
          <a:xfrm>
            <a:off x="365760" y="1179576"/>
            <a:ext cx="3977640" cy="338328"/>
          </a:xfrm>
          <a:prstGeom prst="rect">
            <a:avLst/>
          </a:prstGeom>
          <a:noFill/>
          <a:ln/>
        </p:spPr>
        <p:txBody>
          <a:bodyPr wrap="square" rtlCol="0" anchor="ctr"/>
          <a:lstStyle/>
          <a:p>
            <a:pPr algn="r" indent="0" marL="0">
              <a:buNone/>
            </a:pPr>
            <a:r>
              <a:rPr lang="en-US" sz="1000" i="1" dirty="0">
                <a:solidFill>
                  <a:srgbClr val="FFFFFF"/>
                </a:solidFill>
                <a:latin typeface="Calibri" pitchFamily="34" charset="0"/>
                <a:ea typeface="Calibri" pitchFamily="34" charset="-122"/>
                <a:cs typeface="Calibri" pitchFamily="34" charset="-120"/>
              </a:rPr>
              <a:t>Alkylating Agent</a:t>
            </a:r>
            <a:endParaRPr lang="en-US" sz="1000" dirty="0"/>
          </a:p>
        </p:txBody>
      </p:sp>
      <p:sp>
        <p:nvSpPr>
          <p:cNvPr id="9" name="Text 7"/>
          <p:cNvSpPr/>
          <p:nvPr/>
        </p:nvSpPr>
        <p:spPr>
          <a:xfrm>
            <a:off x="365760" y="1600200"/>
            <a:ext cx="1920240" cy="228600"/>
          </a:xfrm>
          <a:prstGeom prst="rect">
            <a:avLst/>
          </a:prstGeom>
          <a:noFill/>
          <a:ln/>
        </p:spPr>
        <p:txBody>
          <a:bodyPr wrap="square" rtlCol="0" anchor="ctr"/>
          <a:lstStyle/>
          <a:p>
            <a:pPr indent="0" marL="0">
              <a:buNone/>
            </a:pPr>
            <a:r>
              <a:rPr lang="en-US" sz="1000" b="1" dirty="0">
                <a:solidFill>
                  <a:srgbClr val="E05252"/>
                </a:solidFill>
                <a:latin typeface="Calibri" pitchFamily="34" charset="0"/>
                <a:ea typeface="Calibri" pitchFamily="34" charset="-122"/>
                <a:cs typeface="Calibri" pitchFamily="34" charset="-120"/>
              </a:rPr>
              <a:t>2,340 conditions</a:t>
            </a:r>
            <a:endParaRPr lang="en-US" sz="1000" dirty="0"/>
          </a:p>
        </p:txBody>
      </p:sp>
      <p:sp>
        <p:nvSpPr>
          <p:cNvPr id="10" name="Text 8"/>
          <p:cNvSpPr/>
          <p:nvPr/>
        </p:nvSpPr>
        <p:spPr>
          <a:xfrm>
            <a:off x="2377440" y="1600200"/>
            <a:ext cx="1920240" cy="2286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1,914 trials</a:t>
            </a:r>
            <a:endParaRPr lang="en-US" sz="1000" dirty="0"/>
          </a:p>
        </p:txBody>
      </p:sp>
      <p:sp>
        <p:nvSpPr>
          <p:cNvPr id="11" name="Text 9"/>
          <p:cNvSpPr/>
          <p:nvPr/>
        </p:nvSpPr>
        <p:spPr>
          <a:xfrm>
            <a:off x="365760" y="1856232"/>
            <a:ext cx="3977640" cy="256032"/>
          </a:xfrm>
          <a:prstGeom prst="rect">
            <a:avLst/>
          </a:prstGeom>
          <a:noFill/>
          <a:ln/>
        </p:spPr>
        <p:txBody>
          <a:bodyPr wrap="square"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Mechanism: </a:t>
            </a:r>
            <a:pPr indent="0" marL="0">
              <a:buNone/>
            </a:pPr>
            <a:r>
              <a:rPr lang="en-US" sz="900" dirty="0">
                <a:solidFill>
                  <a:srgbClr val="64748B"/>
                </a:solidFill>
                <a:latin typeface="Calibri" pitchFamily="34" charset="0"/>
                <a:ea typeface="Calibri" pitchFamily="34" charset="-122"/>
                <a:cs typeface="Calibri" pitchFamily="34" charset="-120"/>
              </a:rPr>
              <a:t>DNA cross-linking via alkylation of guanine → cell death</a:t>
            </a:r>
            <a:endParaRPr lang="en-US" sz="900" dirty="0"/>
          </a:p>
        </p:txBody>
      </p:sp>
      <p:sp>
        <p:nvSpPr>
          <p:cNvPr id="12" name="Text 10"/>
          <p:cNvSpPr/>
          <p:nvPr/>
        </p:nvSpPr>
        <p:spPr>
          <a:xfrm>
            <a:off x="365760" y="2112264"/>
            <a:ext cx="3977640" cy="292608"/>
          </a:xfrm>
          <a:prstGeom prst="rect">
            <a:avLst/>
          </a:prstGeom>
          <a:noFill/>
          <a:ln/>
        </p:spPr>
        <p:txBody>
          <a:bodyPr wrap="square" rtlCol="0" anchor="ctr"/>
          <a:lstStyle/>
          <a:p>
            <a:pPr indent="0" marL="0">
              <a:lnSpc>
                <a:spcPct val="120000"/>
              </a:lnSpc>
              <a:buNone/>
            </a:pPr>
            <a:r>
              <a:rPr lang="en-US" sz="900" b="1" dirty="0">
                <a:solidFill>
                  <a:srgbClr val="0F1F3D"/>
                </a:solidFill>
                <a:latin typeface="Calibri" pitchFamily="34" charset="0"/>
                <a:ea typeface="Calibri" pitchFamily="34" charset="-122"/>
                <a:cs typeface="Calibri" pitchFamily="34" charset="-120"/>
              </a:rPr>
              <a:t>Used in: </a:t>
            </a:r>
            <a:pPr indent="0" marL="0">
              <a:lnSpc>
                <a:spcPct val="120000"/>
              </a:lnSpc>
              <a:buNone/>
            </a:pPr>
            <a:r>
              <a:rPr lang="en-US" sz="900" dirty="0">
                <a:solidFill>
                  <a:srgbClr val="64748B"/>
                </a:solidFill>
                <a:latin typeface="Calibri" pitchFamily="34" charset="0"/>
                <a:ea typeface="Calibri" pitchFamily="34" charset="-122"/>
                <a:cs typeface="Calibri" pitchFamily="34" charset="-120"/>
              </a:rPr>
              <a:t>Lymphoma, myeloma, breast cancer, autoimmune (RA, SLE, vasculitis), BMT conditioning, bladder cancer</a:t>
            </a:r>
            <a:endParaRPr lang="en-US" sz="900" dirty="0"/>
          </a:p>
        </p:txBody>
      </p:sp>
      <p:sp>
        <p:nvSpPr>
          <p:cNvPr id="13" name="Shape 11"/>
          <p:cNvSpPr/>
          <p:nvPr/>
        </p:nvSpPr>
        <p:spPr>
          <a:xfrm>
            <a:off x="365760" y="2441448"/>
            <a:ext cx="3977640" cy="384048"/>
          </a:xfrm>
          <a:prstGeom prst="rect">
            <a:avLst/>
          </a:prstGeom>
          <a:solidFill>
            <a:srgbClr val="E05252">
              <a:alpha val="10000"/>
            </a:srgbClr>
          </a:solidFill>
          <a:ln/>
        </p:spPr>
      </p:sp>
      <p:sp>
        <p:nvSpPr>
          <p:cNvPr id="14" name="Text 12"/>
          <p:cNvSpPr/>
          <p:nvPr/>
        </p:nvSpPr>
        <p:spPr>
          <a:xfrm>
            <a:off x="411480" y="2459736"/>
            <a:ext cx="3886200" cy="347472"/>
          </a:xfrm>
          <a:prstGeom prst="rect">
            <a:avLst/>
          </a:prstGeom>
          <a:noFill/>
          <a:ln/>
        </p:spPr>
        <p:txBody>
          <a:bodyPr wrap="square" rtlCol="0" anchor="ctr"/>
          <a:lstStyle/>
          <a:p>
            <a:pPr indent="0" marL="0">
              <a:lnSpc>
                <a:spcPct val="120000"/>
              </a:lnSpc>
              <a:buNone/>
            </a:pPr>
            <a:r>
              <a:rPr lang="en-US" sz="850" b="1" dirty="0">
                <a:solidFill>
                  <a:srgbClr val="E05252"/>
                </a:solidFill>
                <a:latin typeface="Calibri" pitchFamily="34" charset="0"/>
                <a:ea typeface="Calibri" pitchFamily="34" charset="-122"/>
                <a:cs typeface="Calibri" pitchFamily="34" charset="-120"/>
              </a:rPr>
              <a:t>KG Signal: </a:t>
            </a:r>
            <a:pPr indent="0" marL="0">
              <a:lnSpc>
                <a:spcPct val="120000"/>
              </a:lnSpc>
              <a:buNone/>
            </a:pPr>
            <a:r>
              <a:rPr lang="en-US" sz="850" dirty="0">
                <a:solidFill>
                  <a:srgbClr val="0F1F3D"/>
                </a:solidFill>
                <a:latin typeface="Calibri" pitchFamily="34" charset="0"/>
                <a:ea typeface="Calibri" pitchFamily="34" charset="-122"/>
                <a:cs typeface="Calibri" pitchFamily="34" charset="-120"/>
              </a:rPr>
              <a:t>Genuine cross-indication — same DNA-damage mechanism induces immunosuppression at low doses (metronomic dosing) exploited in autoimmune disease</a:t>
            </a:r>
            <a:endParaRPr lang="en-US" sz="850" dirty="0"/>
          </a:p>
        </p:txBody>
      </p:sp>
      <p:sp>
        <p:nvSpPr>
          <p:cNvPr id="15" name="Shape 13"/>
          <p:cNvSpPr/>
          <p:nvPr/>
        </p:nvSpPr>
        <p:spPr>
          <a:xfrm>
            <a:off x="4709160" y="1143000"/>
            <a:ext cx="4160520" cy="1783080"/>
          </a:xfrm>
          <a:prstGeom prst="rect">
            <a:avLst/>
          </a:prstGeom>
          <a:solidFill>
            <a:srgbClr val="FFFFFF"/>
          </a:solidFill>
          <a:ln w="12700">
            <a:solidFill>
              <a:srgbClr val="5B4FCF"/>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4709160" y="1143000"/>
            <a:ext cx="4160520" cy="411480"/>
          </a:xfrm>
          <a:prstGeom prst="rect">
            <a:avLst/>
          </a:prstGeom>
          <a:solidFill>
            <a:srgbClr val="5B4FCF"/>
          </a:solidFill>
          <a:ln/>
        </p:spPr>
      </p:sp>
      <p:sp>
        <p:nvSpPr>
          <p:cNvPr id="17" name="Text 15"/>
          <p:cNvSpPr/>
          <p:nvPr/>
        </p:nvSpPr>
        <p:spPr>
          <a:xfrm>
            <a:off x="4800600" y="1179576"/>
            <a:ext cx="2743200" cy="33832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Pembrolizumab</a:t>
            </a:r>
            <a:endParaRPr lang="en-US" sz="1200" dirty="0"/>
          </a:p>
        </p:txBody>
      </p:sp>
      <p:sp>
        <p:nvSpPr>
          <p:cNvPr id="18" name="Text 16"/>
          <p:cNvSpPr/>
          <p:nvPr/>
        </p:nvSpPr>
        <p:spPr>
          <a:xfrm>
            <a:off x="4800600" y="1179576"/>
            <a:ext cx="3977640" cy="338328"/>
          </a:xfrm>
          <a:prstGeom prst="rect">
            <a:avLst/>
          </a:prstGeom>
          <a:noFill/>
          <a:ln/>
        </p:spPr>
        <p:txBody>
          <a:bodyPr wrap="square" rtlCol="0" anchor="ctr"/>
          <a:lstStyle/>
          <a:p>
            <a:pPr algn="r" indent="0" marL="0">
              <a:buNone/>
            </a:pPr>
            <a:r>
              <a:rPr lang="en-US" sz="1000" i="1" dirty="0">
                <a:solidFill>
                  <a:srgbClr val="FFFFFF"/>
                </a:solidFill>
                <a:latin typeface="Calibri" pitchFamily="34" charset="0"/>
                <a:ea typeface="Calibri" pitchFamily="34" charset="-122"/>
                <a:cs typeface="Calibri" pitchFamily="34" charset="-120"/>
              </a:rPr>
              <a:t>PD-1 Checkpoint Inhibitor</a:t>
            </a:r>
            <a:endParaRPr lang="en-US" sz="1000" dirty="0"/>
          </a:p>
        </p:txBody>
      </p:sp>
      <p:sp>
        <p:nvSpPr>
          <p:cNvPr id="19" name="Text 17"/>
          <p:cNvSpPr/>
          <p:nvPr/>
        </p:nvSpPr>
        <p:spPr>
          <a:xfrm>
            <a:off x="4800600" y="1600200"/>
            <a:ext cx="1920240" cy="228600"/>
          </a:xfrm>
          <a:prstGeom prst="rect">
            <a:avLst/>
          </a:prstGeom>
          <a:noFill/>
          <a:ln/>
        </p:spPr>
        <p:txBody>
          <a:bodyPr wrap="square" rtlCol="0" anchor="ctr"/>
          <a:lstStyle/>
          <a:p>
            <a:pPr indent="0" marL="0">
              <a:buNone/>
            </a:pPr>
            <a:r>
              <a:rPr lang="en-US" sz="1000" b="1" dirty="0">
                <a:solidFill>
                  <a:srgbClr val="5B4FCF"/>
                </a:solidFill>
                <a:latin typeface="Calibri" pitchFamily="34" charset="0"/>
                <a:ea typeface="Calibri" pitchFamily="34" charset="-122"/>
                <a:cs typeface="Calibri" pitchFamily="34" charset="-120"/>
              </a:rPr>
              <a:t>2,223 conditions</a:t>
            </a:r>
            <a:endParaRPr lang="en-US" sz="1000" dirty="0"/>
          </a:p>
        </p:txBody>
      </p:sp>
      <p:sp>
        <p:nvSpPr>
          <p:cNvPr id="20" name="Text 18"/>
          <p:cNvSpPr/>
          <p:nvPr/>
        </p:nvSpPr>
        <p:spPr>
          <a:xfrm>
            <a:off x="6812280" y="1600200"/>
            <a:ext cx="1920240" cy="2286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1,718 trials</a:t>
            </a:r>
            <a:endParaRPr lang="en-US" sz="1000" dirty="0"/>
          </a:p>
        </p:txBody>
      </p:sp>
      <p:sp>
        <p:nvSpPr>
          <p:cNvPr id="21" name="Text 19"/>
          <p:cNvSpPr/>
          <p:nvPr/>
        </p:nvSpPr>
        <p:spPr>
          <a:xfrm>
            <a:off x="4800600" y="1856232"/>
            <a:ext cx="3977640" cy="256032"/>
          </a:xfrm>
          <a:prstGeom prst="rect">
            <a:avLst/>
          </a:prstGeom>
          <a:noFill/>
          <a:ln/>
        </p:spPr>
        <p:txBody>
          <a:bodyPr wrap="square"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Mechanism: </a:t>
            </a:r>
            <a:pPr indent="0" marL="0">
              <a:buNone/>
            </a:pPr>
            <a:r>
              <a:rPr lang="en-US" sz="900" dirty="0">
                <a:solidFill>
                  <a:srgbClr val="64748B"/>
                </a:solidFill>
                <a:latin typeface="Calibri" pitchFamily="34" charset="0"/>
                <a:ea typeface="Calibri" pitchFamily="34" charset="-122"/>
                <a:cs typeface="Calibri" pitchFamily="34" charset="-120"/>
              </a:rPr>
              <a:t>Blocks PD-1/PD-L1 → restores T-cell anti-tumor immunity</a:t>
            </a:r>
            <a:endParaRPr lang="en-US" sz="900" dirty="0"/>
          </a:p>
        </p:txBody>
      </p:sp>
      <p:sp>
        <p:nvSpPr>
          <p:cNvPr id="22" name="Text 20"/>
          <p:cNvSpPr/>
          <p:nvPr/>
        </p:nvSpPr>
        <p:spPr>
          <a:xfrm>
            <a:off x="4800600" y="2112264"/>
            <a:ext cx="3977640" cy="292608"/>
          </a:xfrm>
          <a:prstGeom prst="rect">
            <a:avLst/>
          </a:prstGeom>
          <a:noFill/>
          <a:ln/>
        </p:spPr>
        <p:txBody>
          <a:bodyPr wrap="square" rtlCol="0" anchor="ctr"/>
          <a:lstStyle/>
          <a:p>
            <a:pPr indent="0" marL="0">
              <a:lnSpc>
                <a:spcPct val="120000"/>
              </a:lnSpc>
              <a:buNone/>
            </a:pPr>
            <a:r>
              <a:rPr lang="en-US" sz="900" b="1" dirty="0">
                <a:solidFill>
                  <a:srgbClr val="0F1F3D"/>
                </a:solidFill>
                <a:latin typeface="Calibri" pitchFamily="34" charset="0"/>
                <a:ea typeface="Calibri" pitchFamily="34" charset="-122"/>
                <a:cs typeface="Calibri" pitchFamily="34" charset="-120"/>
              </a:rPr>
              <a:t>Used in: </a:t>
            </a:r>
            <a:pPr indent="0" marL="0">
              <a:lnSpc>
                <a:spcPct val="120000"/>
              </a:lnSpc>
              <a:buNone/>
            </a:pPr>
            <a:r>
              <a:rPr lang="en-US" sz="900" dirty="0">
                <a:solidFill>
                  <a:srgbClr val="64748B"/>
                </a:solidFill>
                <a:latin typeface="Calibri" pitchFamily="34" charset="0"/>
                <a:ea typeface="Calibri" pitchFamily="34" charset="-122"/>
                <a:cs typeface="Calibri" pitchFamily="34" charset="-120"/>
              </a:rPr>
              <a:t>NSCLC, melanoma, gastric, cervical, bladder, lymphoma, pancreatic, MSI-high tumors</a:t>
            </a:r>
            <a:endParaRPr lang="en-US" sz="900" dirty="0"/>
          </a:p>
        </p:txBody>
      </p:sp>
      <p:sp>
        <p:nvSpPr>
          <p:cNvPr id="23" name="Shape 21"/>
          <p:cNvSpPr/>
          <p:nvPr/>
        </p:nvSpPr>
        <p:spPr>
          <a:xfrm>
            <a:off x="4800600" y="2441448"/>
            <a:ext cx="3977640" cy="384048"/>
          </a:xfrm>
          <a:prstGeom prst="rect">
            <a:avLst/>
          </a:prstGeom>
          <a:solidFill>
            <a:srgbClr val="5B4FCF">
              <a:alpha val="10000"/>
            </a:srgbClr>
          </a:solidFill>
          <a:ln/>
        </p:spPr>
      </p:sp>
      <p:sp>
        <p:nvSpPr>
          <p:cNvPr id="24" name="Text 22"/>
          <p:cNvSpPr/>
          <p:nvPr/>
        </p:nvSpPr>
        <p:spPr>
          <a:xfrm>
            <a:off x="4846320" y="2459736"/>
            <a:ext cx="3886200" cy="347472"/>
          </a:xfrm>
          <a:prstGeom prst="rect">
            <a:avLst/>
          </a:prstGeom>
          <a:noFill/>
          <a:ln/>
        </p:spPr>
        <p:txBody>
          <a:bodyPr wrap="square" rtlCol="0" anchor="ctr"/>
          <a:lstStyle/>
          <a:p>
            <a:pPr indent="0" marL="0">
              <a:lnSpc>
                <a:spcPct val="120000"/>
              </a:lnSpc>
              <a:buNone/>
            </a:pPr>
            <a:r>
              <a:rPr lang="en-US" sz="850" b="1" dirty="0">
                <a:solidFill>
                  <a:srgbClr val="5B4FCF"/>
                </a:solidFill>
                <a:latin typeface="Calibri" pitchFamily="34" charset="0"/>
                <a:ea typeface="Calibri" pitchFamily="34" charset="-122"/>
                <a:cs typeface="Calibri" pitchFamily="34" charset="-120"/>
              </a:rPr>
              <a:t>KG Signal: </a:t>
            </a:r>
            <a:pPr indent="0" marL="0">
              <a:lnSpc>
                <a:spcPct val="120000"/>
              </a:lnSpc>
              <a:buNone/>
            </a:pPr>
            <a:r>
              <a:rPr lang="en-US" sz="850" dirty="0">
                <a:solidFill>
                  <a:srgbClr val="0F1F3D"/>
                </a:solidFill>
                <a:latin typeface="Calibri" pitchFamily="34" charset="0"/>
                <a:ea typeface="Calibri" pitchFamily="34" charset="-122"/>
                <a:cs typeface="Calibri" pitchFamily="34" charset="-120"/>
              </a:rPr>
              <a:t>FDA approved in 16+ tumor types. MSI-high indication is truly tumor-agnostic — first histology-independent approval in oncology</a:t>
            </a:r>
            <a:endParaRPr lang="en-US" sz="850" dirty="0"/>
          </a:p>
        </p:txBody>
      </p:sp>
      <p:sp>
        <p:nvSpPr>
          <p:cNvPr id="25" name="Shape 23"/>
          <p:cNvSpPr/>
          <p:nvPr/>
        </p:nvSpPr>
        <p:spPr>
          <a:xfrm>
            <a:off x="274320" y="3063240"/>
            <a:ext cx="4160520" cy="1783080"/>
          </a:xfrm>
          <a:prstGeom prst="rect">
            <a:avLst/>
          </a:prstGeom>
          <a:solidFill>
            <a:srgbClr val="FFFFFF"/>
          </a:solidFill>
          <a:ln w="12700">
            <a:solidFill>
              <a:srgbClr val="5B4FCF"/>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274320" y="3063240"/>
            <a:ext cx="4160520" cy="411480"/>
          </a:xfrm>
          <a:prstGeom prst="rect">
            <a:avLst/>
          </a:prstGeom>
          <a:solidFill>
            <a:srgbClr val="5B4FCF"/>
          </a:solidFill>
          <a:ln/>
        </p:spPr>
      </p:sp>
      <p:sp>
        <p:nvSpPr>
          <p:cNvPr id="27" name="Text 25"/>
          <p:cNvSpPr/>
          <p:nvPr/>
        </p:nvSpPr>
        <p:spPr>
          <a:xfrm>
            <a:off x="365760" y="3099816"/>
            <a:ext cx="2743200" cy="33832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Nivolumab</a:t>
            </a:r>
            <a:endParaRPr lang="en-US" sz="1200" dirty="0"/>
          </a:p>
        </p:txBody>
      </p:sp>
      <p:sp>
        <p:nvSpPr>
          <p:cNvPr id="28" name="Text 26"/>
          <p:cNvSpPr/>
          <p:nvPr/>
        </p:nvSpPr>
        <p:spPr>
          <a:xfrm>
            <a:off x="365760" y="3099816"/>
            <a:ext cx="3977640" cy="338328"/>
          </a:xfrm>
          <a:prstGeom prst="rect">
            <a:avLst/>
          </a:prstGeom>
          <a:noFill/>
          <a:ln/>
        </p:spPr>
        <p:txBody>
          <a:bodyPr wrap="square" rtlCol="0" anchor="ctr"/>
          <a:lstStyle/>
          <a:p>
            <a:pPr algn="r" indent="0" marL="0">
              <a:buNone/>
            </a:pPr>
            <a:r>
              <a:rPr lang="en-US" sz="1000" i="1" dirty="0">
                <a:solidFill>
                  <a:srgbClr val="FFFFFF"/>
                </a:solidFill>
                <a:latin typeface="Calibri" pitchFamily="34" charset="0"/>
                <a:ea typeface="Calibri" pitchFamily="34" charset="-122"/>
                <a:cs typeface="Calibri" pitchFamily="34" charset="-120"/>
              </a:rPr>
              <a:t>PD-1 Checkpoint Inhibitor</a:t>
            </a:r>
            <a:endParaRPr lang="en-US" sz="1000" dirty="0"/>
          </a:p>
        </p:txBody>
      </p:sp>
      <p:sp>
        <p:nvSpPr>
          <p:cNvPr id="29" name="Text 27"/>
          <p:cNvSpPr/>
          <p:nvPr/>
        </p:nvSpPr>
        <p:spPr>
          <a:xfrm>
            <a:off x="365760" y="3520440"/>
            <a:ext cx="1920240" cy="228600"/>
          </a:xfrm>
          <a:prstGeom prst="rect">
            <a:avLst/>
          </a:prstGeom>
          <a:noFill/>
          <a:ln/>
        </p:spPr>
        <p:txBody>
          <a:bodyPr wrap="square" rtlCol="0" anchor="ctr"/>
          <a:lstStyle/>
          <a:p>
            <a:pPr indent="0" marL="0">
              <a:buNone/>
            </a:pPr>
            <a:r>
              <a:rPr lang="en-US" sz="1000" b="1" dirty="0">
                <a:solidFill>
                  <a:srgbClr val="5B4FCF"/>
                </a:solidFill>
                <a:latin typeface="Calibri" pitchFamily="34" charset="0"/>
                <a:ea typeface="Calibri" pitchFamily="34" charset="-122"/>
                <a:cs typeface="Calibri" pitchFamily="34" charset="-120"/>
              </a:rPr>
              <a:t>2,079 conditions</a:t>
            </a:r>
            <a:endParaRPr lang="en-US" sz="1000" dirty="0"/>
          </a:p>
        </p:txBody>
      </p:sp>
      <p:sp>
        <p:nvSpPr>
          <p:cNvPr id="30" name="Text 28"/>
          <p:cNvSpPr/>
          <p:nvPr/>
        </p:nvSpPr>
        <p:spPr>
          <a:xfrm>
            <a:off x="2377440" y="3520440"/>
            <a:ext cx="1920240" cy="2286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1,200 trials</a:t>
            </a:r>
            <a:endParaRPr lang="en-US" sz="1000" dirty="0"/>
          </a:p>
        </p:txBody>
      </p:sp>
      <p:sp>
        <p:nvSpPr>
          <p:cNvPr id="31" name="Text 29"/>
          <p:cNvSpPr/>
          <p:nvPr/>
        </p:nvSpPr>
        <p:spPr>
          <a:xfrm>
            <a:off x="365760" y="3776472"/>
            <a:ext cx="3977640" cy="256032"/>
          </a:xfrm>
          <a:prstGeom prst="rect">
            <a:avLst/>
          </a:prstGeom>
          <a:noFill/>
          <a:ln/>
        </p:spPr>
        <p:txBody>
          <a:bodyPr wrap="square"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Mechanism: </a:t>
            </a:r>
            <a:pPr indent="0" marL="0">
              <a:buNone/>
            </a:pPr>
            <a:r>
              <a:rPr lang="en-US" sz="900" dirty="0">
                <a:solidFill>
                  <a:srgbClr val="64748B"/>
                </a:solidFill>
                <a:latin typeface="Calibri" pitchFamily="34" charset="0"/>
                <a:ea typeface="Calibri" pitchFamily="34" charset="-122"/>
                <a:cs typeface="Calibri" pitchFamily="34" charset="-120"/>
              </a:rPr>
              <a:t>Blocks PD-1 → T-cell reactivation in immunosuppressed tumor microenvironment</a:t>
            </a:r>
            <a:endParaRPr lang="en-US" sz="900" dirty="0"/>
          </a:p>
        </p:txBody>
      </p:sp>
      <p:sp>
        <p:nvSpPr>
          <p:cNvPr id="32" name="Text 30"/>
          <p:cNvSpPr/>
          <p:nvPr/>
        </p:nvSpPr>
        <p:spPr>
          <a:xfrm>
            <a:off x="365760" y="4032504"/>
            <a:ext cx="3977640" cy="292608"/>
          </a:xfrm>
          <a:prstGeom prst="rect">
            <a:avLst/>
          </a:prstGeom>
          <a:noFill/>
          <a:ln/>
        </p:spPr>
        <p:txBody>
          <a:bodyPr wrap="square" rtlCol="0" anchor="ctr"/>
          <a:lstStyle/>
          <a:p>
            <a:pPr indent="0" marL="0">
              <a:lnSpc>
                <a:spcPct val="120000"/>
              </a:lnSpc>
              <a:buNone/>
            </a:pPr>
            <a:r>
              <a:rPr lang="en-US" sz="900" b="1" dirty="0">
                <a:solidFill>
                  <a:srgbClr val="0F1F3D"/>
                </a:solidFill>
                <a:latin typeface="Calibri" pitchFamily="34" charset="0"/>
                <a:ea typeface="Calibri" pitchFamily="34" charset="-122"/>
                <a:cs typeface="Calibri" pitchFamily="34" charset="-120"/>
              </a:rPr>
              <a:t>Used in: </a:t>
            </a:r>
            <a:pPr indent="0" marL="0">
              <a:lnSpc>
                <a:spcPct val="120000"/>
              </a:lnSpc>
              <a:buNone/>
            </a:pPr>
            <a:r>
              <a:rPr lang="en-US" sz="900" dirty="0">
                <a:solidFill>
                  <a:srgbClr val="64748B"/>
                </a:solidFill>
                <a:latin typeface="Calibri" pitchFamily="34" charset="0"/>
                <a:ea typeface="Calibri" pitchFamily="34" charset="-122"/>
                <a:cs typeface="Calibri" pitchFamily="34" charset="-120"/>
              </a:rPr>
              <a:t>HCC, NSCLC, RCC, melanoma, gastric, HBV (immune restoration), COVID-19 trials</a:t>
            </a:r>
            <a:endParaRPr lang="en-US" sz="900" dirty="0"/>
          </a:p>
        </p:txBody>
      </p:sp>
      <p:sp>
        <p:nvSpPr>
          <p:cNvPr id="33" name="Shape 31"/>
          <p:cNvSpPr/>
          <p:nvPr/>
        </p:nvSpPr>
        <p:spPr>
          <a:xfrm>
            <a:off x="365760" y="4361688"/>
            <a:ext cx="3977640" cy="384048"/>
          </a:xfrm>
          <a:prstGeom prst="rect">
            <a:avLst/>
          </a:prstGeom>
          <a:solidFill>
            <a:srgbClr val="5B4FCF">
              <a:alpha val="10000"/>
            </a:srgbClr>
          </a:solidFill>
          <a:ln/>
        </p:spPr>
      </p:sp>
      <p:sp>
        <p:nvSpPr>
          <p:cNvPr id="34" name="Text 32"/>
          <p:cNvSpPr/>
          <p:nvPr/>
        </p:nvSpPr>
        <p:spPr>
          <a:xfrm>
            <a:off x="411480" y="4379976"/>
            <a:ext cx="3886200" cy="347472"/>
          </a:xfrm>
          <a:prstGeom prst="rect">
            <a:avLst/>
          </a:prstGeom>
          <a:noFill/>
          <a:ln/>
        </p:spPr>
        <p:txBody>
          <a:bodyPr wrap="square" rtlCol="0" anchor="ctr"/>
          <a:lstStyle/>
          <a:p>
            <a:pPr indent="0" marL="0">
              <a:lnSpc>
                <a:spcPct val="120000"/>
              </a:lnSpc>
              <a:buNone/>
            </a:pPr>
            <a:r>
              <a:rPr lang="en-US" sz="850" b="1" dirty="0">
                <a:solidFill>
                  <a:srgbClr val="5B4FCF"/>
                </a:solidFill>
                <a:latin typeface="Calibri" pitchFamily="34" charset="0"/>
                <a:ea typeface="Calibri" pitchFamily="34" charset="-122"/>
                <a:cs typeface="Calibri" pitchFamily="34" charset="-120"/>
              </a:rPr>
              <a:t>KG Signal: </a:t>
            </a:r>
            <a:pPr indent="0" marL="0">
              <a:lnSpc>
                <a:spcPct val="120000"/>
              </a:lnSpc>
              <a:buNone/>
            </a:pPr>
            <a:r>
              <a:rPr lang="en-US" sz="850" dirty="0">
                <a:solidFill>
                  <a:srgbClr val="0F1F3D"/>
                </a:solidFill>
                <a:latin typeface="Calibri" pitchFamily="34" charset="0"/>
                <a:ea typeface="Calibri" pitchFamily="34" charset="-122"/>
                <a:cs typeface="Calibri" pitchFamily="34" charset="-120"/>
              </a:rPr>
              <a:t>Unique: appears in HBV and COVID-19 trials — PD-1 exhaustion occurs in chronic viral infections, making checkpoint blockade a genuine repurposing hypothesis</a:t>
            </a:r>
            <a:endParaRPr lang="en-US" sz="850" dirty="0"/>
          </a:p>
        </p:txBody>
      </p:sp>
      <p:sp>
        <p:nvSpPr>
          <p:cNvPr id="35" name="Shape 33"/>
          <p:cNvSpPr/>
          <p:nvPr/>
        </p:nvSpPr>
        <p:spPr>
          <a:xfrm>
            <a:off x="4709160" y="3063240"/>
            <a:ext cx="4160520" cy="1783080"/>
          </a:xfrm>
          <a:prstGeom prst="rect">
            <a:avLst/>
          </a:prstGeom>
          <a:solidFill>
            <a:srgbClr val="FFFFFF"/>
          </a:solidFill>
          <a:ln w="12700">
            <a:solidFill>
              <a:srgbClr val="0D9488"/>
            </a:solidFill>
            <a:prstDash val="solid"/>
          </a:ln>
          <a:effectLst>
            <a:outerShdw sx="100000" sy="100000" kx="0" ky="0" algn="bl" rotWithShape="0" blurRad="101600" dist="38100" dir="8100000">
              <a:srgbClr val="000000">
                <a:alpha val="10000"/>
              </a:srgbClr>
            </a:outerShdw>
          </a:effectLst>
        </p:spPr>
      </p:sp>
      <p:sp>
        <p:nvSpPr>
          <p:cNvPr id="36" name="Shape 34"/>
          <p:cNvSpPr/>
          <p:nvPr/>
        </p:nvSpPr>
        <p:spPr>
          <a:xfrm>
            <a:off x="4709160" y="3063240"/>
            <a:ext cx="4160520" cy="411480"/>
          </a:xfrm>
          <a:prstGeom prst="rect">
            <a:avLst/>
          </a:prstGeom>
          <a:solidFill>
            <a:srgbClr val="0D9488"/>
          </a:solidFill>
          <a:ln/>
        </p:spPr>
      </p:sp>
      <p:sp>
        <p:nvSpPr>
          <p:cNvPr id="37" name="Text 35"/>
          <p:cNvSpPr/>
          <p:nvPr/>
        </p:nvSpPr>
        <p:spPr>
          <a:xfrm>
            <a:off x="4800600" y="3099816"/>
            <a:ext cx="2743200" cy="33832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Dexamethasone</a:t>
            </a:r>
            <a:endParaRPr lang="en-US" sz="1200" dirty="0"/>
          </a:p>
        </p:txBody>
      </p:sp>
      <p:sp>
        <p:nvSpPr>
          <p:cNvPr id="38" name="Text 36"/>
          <p:cNvSpPr/>
          <p:nvPr/>
        </p:nvSpPr>
        <p:spPr>
          <a:xfrm>
            <a:off x="4800600" y="3099816"/>
            <a:ext cx="3977640" cy="338328"/>
          </a:xfrm>
          <a:prstGeom prst="rect">
            <a:avLst/>
          </a:prstGeom>
          <a:noFill/>
          <a:ln/>
        </p:spPr>
        <p:txBody>
          <a:bodyPr wrap="square" rtlCol="0" anchor="ctr"/>
          <a:lstStyle/>
          <a:p>
            <a:pPr algn="r" indent="0" marL="0">
              <a:buNone/>
            </a:pPr>
            <a:r>
              <a:rPr lang="en-US" sz="1000" i="1" dirty="0">
                <a:solidFill>
                  <a:srgbClr val="FFFFFF"/>
                </a:solidFill>
                <a:latin typeface="Calibri" pitchFamily="34" charset="0"/>
                <a:ea typeface="Calibri" pitchFamily="34" charset="-122"/>
                <a:cs typeface="Calibri" pitchFamily="34" charset="-120"/>
              </a:rPr>
              <a:t>Corticosteroid</a:t>
            </a:r>
            <a:endParaRPr lang="en-US" sz="1000" dirty="0"/>
          </a:p>
        </p:txBody>
      </p:sp>
      <p:sp>
        <p:nvSpPr>
          <p:cNvPr id="39" name="Text 37"/>
          <p:cNvSpPr/>
          <p:nvPr/>
        </p:nvSpPr>
        <p:spPr>
          <a:xfrm>
            <a:off x="4800600" y="3520440"/>
            <a:ext cx="1920240" cy="228600"/>
          </a:xfrm>
          <a:prstGeom prst="rect">
            <a:avLst/>
          </a:prstGeom>
          <a:noFill/>
          <a:ln/>
        </p:spPr>
        <p:txBody>
          <a:bodyPr wrap="square"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1,433 conditions</a:t>
            </a:r>
            <a:endParaRPr lang="en-US" sz="1000" dirty="0"/>
          </a:p>
        </p:txBody>
      </p:sp>
      <p:sp>
        <p:nvSpPr>
          <p:cNvPr id="40" name="Text 38"/>
          <p:cNvSpPr/>
          <p:nvPr/>
        </p:nvSpPr>
        <p:spPr>
          <a:xfrm>
            <a:off x="6812280" y="3520440"/>
            <a:ext cx="1920240" cy="2286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1,670 trials</a:t>
            </a:r>
            <a:endParaRPr lang="en-US" sz="1000" dirty="0"/>
          </a:p>
        </p:txBody>
      </p:sp>
      <p:sp>
        <p:nvSpPr>
          <p:cNvPr id="41" name="Text 39"/>
          <p:cNvSpPr/>
          <p:nvPr/>
        </p:nvSpPr>
        <p:spPr>
          <a:xfrm>
            <a:off x="4800600" y="3776472"/>
            <a:ext cx="3977640" cy="256032"/>
          </a:xfrm>
          <a:prstGeom prst="rect">
            <a:avLst/>
          </a:prstGeom>
          <a:noFill/>
          <a:ln/>
        </p:spPr>
        <p:txBody>
          <a:bodyPr wrap="square" rtlCol="0" anchor="ctr"/>
          <a:lstStyle/>
          <a:p>
            <a:pPr indent="0" marL="0">
              <a:buNone/>
            </a:pPr>
            <a:r>
              <a:rPr lang="en-US" sz="900" b="1" dirty="0">
                <a:solidFill>
                  <a:srgbClr val="0F1F3D"/>
                </a:solidFill>
                <a:latin typeface="Calibri" pitchFamily="34" charset="0"/>
                <a:ea typeface="Calibri" pitchFamily="34" charset="-122"/>
                <a:cs typeface="Calibri" pitchFamily="34" charset="-120"/>
              </a:rPr>
              <a:t>Mechanism: </a:t>
            </a:r>
            <a:pPr indent="0" marL="0">
              <a:buNone/>
            </a:pPr>
            <a:r>
              <a:rPr lang="en-US" sz="900" dirty="0">
                <a:solidFill>
                  <a:srgbClr val="64748B"/>
                </a:solidFill>
                <a:latin typeface="Calibri" pitchFamily="34" charset="0"/>
                <a:ea typeface="Calibri" pitchFamily="34" charset="-122"/>
                <a:cs typeface="Calibri" pitchFamily="34" charset="-120"/>
              </a:rPr>
              <a:t>GR agonist → broad anti-inflammatory via NF-κB suppression, cytokine inhibition</a:t>
            </a:r>
            <a:endParaRPr lang="en-US" sz="900" dirty="0"/>
          </a:p>
        </p:txBody>
      </p:sp>
      <p:sp>
        <p:nvSpPr>
          <p:cNvPr id="42" name="Text 40"/>
          <p:cNvSpPr/>
          <p:nvPr/>
        </p:nvSpPr>
        <p:spPr>
          <a:xfrm>
            <a:off x="4800600" y="4032504"/>
            <a:ext cx="3977640" cy="292608"/>
          </a:xfrm>
          <a:prstGeom prst="rect">
            <a:avLst/>
          </a:prstGeom>
          <a:noFill/>
          <a:ln/>
        </p:spPr>
        <p:txBody>
          <a:bodyPr wrap="square" rtlCol="0" anchor="ctr"/>
          <a:lstStyle/>
          <a:p>
            <a:pPr indent="0" marL="0">
              <a:lnSpc>
                <a:spcPct val="120000"/>
              </a:lnSpc>
              <a:buNone/>
            </a:pPr>
            <a:r>
              <a:rPr lang="en-US" sz="900" b="1" dirty="0">
                <a:solidFill>
                  <a:srgbClr val="0F1F3D"/>
                </a:solidFill>
                <a:latin typeface="Calibri" pitchFamily="34" charset="0"/>
                <a:ea typeface="Calibri" pitchFamily="34" charset="-122"/>
                <a:cs typeface="Calibri" pitchFamily="34" charset="-120"/>
              </a:rPr>
              <a:t>Used in: </a:t>
            </a:r>
            <a:pPr indent="0" marL="0">
              <a:lnSpc>
                <a:spcPct val="120000"/>
              </a:lnSpc>
              <a:buNone/>
            </a:pPr>
            <a:r>
              <a:rPr lang="en-US" sz="900" dirty="0">
                <a:solidFill>
                  <a:srgbClr val="64748B"/>
                </a:solidFill>
                <a:latin typeface="Calibri" pitchFamily="34" charset="0"/>
                <a:ea typeface="Calibri" pitchFamily="34" charset="-122"/>
                <a:cs typeface="Calibri" pitchFamily="34" charset="-120"/>
              </a:rPr>
              <a:t>Cancer pre-med, ARDS, sepsis, asthma, ITP, CINV, COVID-19, surgical anaesthesia, brain edema</a:t>
            </a:r>
            <a:endParaRPr lang="en-US" sz="900" dirty="0"/>
          </a:p>
        </p:txBody>
      </p:sp>
      <p:sp>
        <p:nvSpPr>
          <p:cNvPr id="43" name="Shape 41"/>
          <p:cNvSpPr/>
          <p:nvPr/>
        </p:nvSpPr>
        <p:spPr>
          <a:xfrm>
            <a:off x="4800600" y="4361688"/>
            <a:ext cx="3977640" cy="384048"/>
          </a:xfrm>
          <a:prstGeom prst="rect">
            <a:avLst/>
          </a:prstGeom>
          <a:solidFill>
            <a:srgbClr val="0D9488">
              <a:alpha val="10000"/>
            </a:srgbClr>
          </a:solidFill>
          <a:ln/>
        </p:spPr>
      </p:sp>
      <p:sp>
        <p:nvSpPr>
          <p:cNvPr id="44" name="Text 42"/>
          <p:cNvSpPr/>
          <p:nvPr/>
        </p:nvSpPr>
        <p:spPr>
          <a:xfrm>
            <a:off x="4846320" y="4379976"/>
            <a:ext cx="3886200" cy="347472"/>
          </a:xfrm>
          <a:prstGeom prst="rect">
            <a:avLst/>
          </a:prstGeom>
          <a:noFill/>
          <a:ln/>
        </p:spPr>
        <p:txBody>
          <a:bodyPr wrap="square" rtlCol="0" anchor="ctr"/>
          <a:lstStyle/>
          <a:p>
            <a:pPr indent="0" marL="0">
              <a:lnSpc>
                <a:spcPct val="120000"/>
              </a:lnSpc>
              <a:buNone/>
            </a:pPr>
            <a:r>
              <a:rPr lang="en-US" sz="850" b="1" dirty="0">
                <a:solidFill>
                  <a:srgbClr val="0D9488"/>
                </a:solidFill>
                <a:latin typeface="Calibri" pitchFamily="34" charset="0"/>
                <a:ea typeface="Calibri" pitchFamily="34" charset="-122"/>
                <a:cs typeface="Calibri" pitchFamily="34" charset="-120"/>
              </a:rPr>
              <a:t>KG Signal: </a:t>
            </a:r>
            <a:pPr indent="0" marL="0">
              <a:lnSpc>
                <a:spcPct val="120000"/>
              </a:lnSpc>
              <a:buNone/>
            </a:pPr>
            <a:r>
              <a:rPr lang="en-US" sz="850" dirty="0">
                <a:solidFill>
                  <a:srgbClr val="0F1F3D"/>
                </a:solidFill>
                <a:latin typeface="Calibri" pitchFamily="34" charset="0"/>
                <a:ea typeface="Calibri" pitchFamily="34" charset="-122"/>
                <a:cs typeface="Calibri" pitchFamily="34" charset="-120"/>
              </a:rPr>
              <a:t>RECOVERY trial (2020): 28-day mortality ↓ 35% in ventilated COVID-19 patients. A 60-year-old steroid became the most impactful COVID treatment discovered.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F3D"/>
          </a:solidFill>
          <a:ln/>
        </p:spPr>
      </p:sp>
      <p:sp>
        <p:nvSpPr>
          <p:cNvPr id="3" name="Text 1"/>
          <p:cNvSpPr/>
          <p:nvPr/>
        </p:nvSpPr>
        <p:spPr>
          <a:xfrm>
            <a:off x="457200" y="91440"/>
            <a:ext cx="8229600" cy="32004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SYNTHESIS &amp; KEY FINDINGS</a:t>
            </a:r>
            <a:endParaRPr lang="en-US" sz="900" dirty="0"/>
          </a:p>
        </p:txBody>
      </p:sp>
      <p:sp>
        <p:nvSpPr>
          <p:cNvPr id="4" name="Text 2"/>
          <p:cNvSpPr/>
          <p:nvPr/>
        </p:nvSpPr>
        <p:spPr>
          <a:xfrm>
            <a:off x="457200" y="438912"/>
            <a:ext cx="82296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What the Clinical Trials KG Reveals</a:t>
            </a:r>
            <a:endParaRPr lang="en-US" sz="2000" dirty="0"/>
          </a:p>
        </p:txBody>
      </p:sp>
      <p:sp>
        <p:nvSpPr>
          <p:cNvPr id="5" name="Shape 3"/>
          <p:cNvSpPr/>
          <p:nvPr/>
        </p:nvSpPr>
        <p:spPr>
          <a:xfrm>
            <a:off x="274320" y="1188720"/>
            <a:ext cx="4160520" cy="16916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188720"/>
            <a:ext cx="502920" cy="1691640"/>
          </a:xfrm>
          <a:prstGeom prst="rect">
            <a:avLst/>
          </a:prstGeom>
          <a:solidFill>
            <a:srgbClr val="5B4FCF">
              <a:alpha val="12000"/>
            </a:srgbClr>
          </a:solidFill>
          <a:ln/>
        </p:spPr>
      </p:sp>
      <p:sp>
        <p:nvSpPr>
          <p:cNvPr id="7" name="Text 5"/>
          <p:cNvSpPr/>
          <p:nvPr/>
        </p:nvSpPr>
        <p:spPr>
          <a:xfrm>
            <a:off x="274320" y="1188720"/>
            <a:ext cx="502920" cy="1691640"/>
          </a:xfrm>
          <a:prstGeom prst="rect">
            <a:avLst/>
          </a:prstGeom>
          <a:noFill/>
          <a:ln/>
        </p:spPr>
        <p:txBody>
          <a:bodyPr wrap="square" rtlCol="0" anchor="ctr"/>
          <a:lstStyle/>
          <a:p>
            <a:pPr algn="ctr" indent="0" marL="0">
              <a:buNone/>
            </a:pPr>
            <a:r>
              <a:rPr lang="en-US" sz="2800" b="1" dirty="0">
                <a:solidFill>
                  <a:srgbClr val="5B4FCF"/>
                </a:solidFill>
                <a:latin typeface="Calibri" pitchFamily="34" charset="0"/>
                <a:ea typeface="Calibri" pitchFamily="34" charset="-122"/>
                <a:cs typeface="Calibri" pitchFamily="34" charset="-120"/>
              </a:rPr>
              <a:t>1</a:t>
            </a:r>
            <a:endParaRPr lang="en-US" sz="2800" dirty="0"/>
          </a:p>
        </p:txBody>
      </p:sp>
      <p:sp>
        <p:nvSpPr>
          <p:cNvPr id="8" name="Text 6"/>
          <p:cNvSpPr/>
          <p:nvPr/>
        </p:nvSpPr>
        <p:spPr>
          <a:xfrm>
            <a:off x="868680" y="1298448"/>
            <a:ext cx="3474720" cy="365760"/>
          </a:xfrm>
          <a:prstGeom prst="rect">
            <a:avLst/>
          </a:prstGeom>
          <a:noFill/>
          <a:ln/>
        </p:spPr>
        <p:txBody>
          <a:bodyPr wrap="square" rtlCol="0" anchor="ctr"/>
          <a:lstStyle/>
          <a:p>
            <a:pPr indent="0" marL="0">
              <a:buNone/>
            </a:pPr>
            <a:r>
              <a:rPr lang="en-US" sz="1150" b="1" dirty="0">
                <a:solidFill>
                  <a:srgbClr val="0F1F3D"/>
                </a:solidFill>
                <a:latin typeface="Calibri" pitchFamily="34" charset="0"/>
                <a:ea typeface="Calibri" pitchFamily="34" charset="-122"/>
                <a:cs typeface="Calibri" pitchFamily="34" charset="-120"/>
              </a:rPr>
              <a:t>Disease burden drives graph structure</a:t>
            </a:r>
            <a:endParaRPr lang="en-US" sz="1150" dirty="0"/>
          </a:p>
        </p:txBody>
      </p:sp>
      <p:sp>
        <p:nvSpPr>
          <p:cNvPr id="9" name="Shape 7"/>
          <p:cNvSpPr/>
          <p:nvPr/>
        </p:nvSpPr>
        <p:spPr>
          <a:xfrm>
            <a:off x="868680" y="1691640"/>
            <a:ext cx="3291840" cy="0"/>
          </a:xfrm>
          <a:prstGeom prst="line">
            <a:avLst/>
          </a:prstGeom>
          <a:noFill/>
          <a:ln w="12700">
            <a:solidFill>
              <a:srgbClr val="5B4FCF"/>
            </a:solidFill>
            <a:prstDash val="solid"/>
          </a:ln>
        </p:spPr>
      </p:sp>
      <p:sp>
        <p:nvSpPr>
          <p:cNvPr id="10" name="Text 8"/>
          <p:cNvSpPr/>
          <p:nvPr/>
        </p:nvSpPr>
        <p:spPr>
          <a:xfrm>
            <a:off x="868680" y="1783080"/>
            <a:ext cx="3474720" cy="1024128"/>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Degree centrality is dominated by conditions (not drugs), reflecting that disease prevalence and funding priority determine how many drugs get tested against a given condition. Obesity, Breast Cancer, Stroke, and Pain are the most 'contested' disease nodes in the entire trial network.</a:t>
            </a:r>
            <a:endParaRPr lang="en-US" sz="950" dirty="0"/>
          </a:p>
        </p:txBody>
      </p:sp>
      <p:sp>
        <p:nvSpPr>
          <p:cNvPr id="11" name="Shape 9"/>
          <p:cNvSpPr/>
          <p:nvPr/>
        </p:nvSpPr>
        <p:spPr>
          <a:xfrm>
            <a:off x="4709160" y="1188720"/>
            <a:ext cx="4160520" cy="16916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4709160" y="1188720"/>
            <a:ext cx="502920" cy="1691640"/>
          </a:xfrm>
          <a:prstGeom prst="rect">
            <a:avLst/>
          </a:prstGeom>
          <a:solidFill>
            <a:srgbClr val="0D9488">
              <a:alpha val="12000"/>
            </a:srgbClr>
          </a:solidFill>
          <a:ln/>
        </p:spPr>
      </p:sp>
      <p:sp>
        <p:nvSpPr>
          <p:cNvPr id="13" name="Text 11"/>
          <p:cNvSpPr/>
          <p:nvPr/>
        </p:nvSpPr>
        <p:spPr>
          <a:xfrm>
            <a:off x="4709160" y="1188720"/>
            <a:ext cx="502920" cy="1691640"/>
          </a:xfrm>
          <a:prstGeom prst="rect">
            <a:avLst/>
          </a:prstGeom>
          <a:noFill/>
          <a:ln/>
        </p:spPr>
        <p:txBody>
          <a:bodyPr wrap="square" rtlCol="0" anchor="ctr"/>
          <a:lstStyle/>
          <a:p>
            <a:pPr algn="ctr" indent="0" marL="0">
              <a:buNone/>
            </a:pPr>
            <a:r>
              <a:rPr lang="en-US" sz="2800" b="1" dirty="0">
                <a:solidFill>
                  <a:srgbClr val="0D9488"/>
                </a:solidFill>
                <a:latin typeface="Calibri" pitchFamily="34" charset="0"/>
                <a:ea typeface="Calibri" pitchFamily="34" charset="-122"/>
                <a:cs typeface="Calibri" pitchFamily="34" charset="-120"/>
              </a:rPr>
              <a:t>2</a:t>
            </a:r>
            <a:endParaRPr lang="en-US" sz="2800" dirty="0"/>
          </a:p>
        </p:txBody>
      </p:sp>
      <p:sp>
        <p:nvSpPr>
          <p:cNvPr id="14" name="Text 12"/>
          <p:cNvSpPr/>
          <p:nvPr/>
        </p:nvSpPr>
        <p:spPr>
          <a:xfrm>
            <a:off x="5303520" y="1298448"/>
            <a:ext cx="3474720" cy="365760"/>
          </a:xfrm>
          <a:prstGeom prst="rect">
            <a:avLst/>
          </a:prstGeom>
          <a:noFill/>
          <a:ln/>
        </p:spPr>
        <p:txBody>
          <a:bodyPr wrap="square" rtlCol="0" anchor="ctr"/>
          <a:lstStyle/>
          <a:p>
            <a:pPr indent="0" marL="0">
              <a:buNone/>
            </a:pPr>
            <a:r>
              <a:rPr lang="en-US" sz="1150" b="1" dirty="0">
                <a:solidFill>
                  <a:srgbClr val="0F1F3D"/>
                </a:solidFill>
                <a:latin typeface="Calibri" pitchFamily="34" charset="0"/>
                <a:ea typeface="Calibri" pitchFamily="34" charset="-122"/>
                <a:cs typeface="Calibri" pitchFamily="34" charset="-120"/>
              </a:rPr>
              <a:t>Betweenness reveals hidden cross-domain connectors</a:t>
            </a:r>
            <a:endParaRPr lang="en-US" sz="1150" dirty="0"/>
          </a:p>
        </p:txBody>
      </p:sp>
      <p:sp>
        <p:nvSpPr>
          <p:cNvPr id="15" name="Shape 13"/>
          <p:cNvSpPr/>
          <p:nvPr/>
        </p:nvSpPr>
        <p:spPr>
          <a:xfrm>
            <a:off x="5303520" y="1691640"/>
            <a:ext cx="3291840" cy="0"/>
          </a:xfrm>
          <a:prstGeom prst="line">
            <a:avLst/>
          </a:prstGeom>
          <a:noFill/>
          <a:ln w="12700">
            <a:solidFill>
              <a:srgbClr val="0D9488"/>
            </a:solidFill>
            <a:prstDash val="solid"/>
          </a:ln>
        </p:spPr>
      </p:sp>
      <p:sp>
        <p:nvSpPr>
          <p:cNvPr id="16" name="Text 14"/>
          <p:cNvSpPr/>
          <p:nvPr/>
        </p:nvSpPr>
        <p:spPr>
          <a:xfrm>
            <a:off x="5303520" y="1783080"/>
            <a:ext cx="3474720" cy="1024128"/>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Knee Osteoarthritis, Infertility, and Epilepsy act as structural bridges despite moderate trial volume. Dexamethasone is the only drug with this bridging role — its cross-indication presence in every major disease domain makes it irreplaceable to the network's connectivity.</a:t>
            </a:r>
            <a:endParaRPr lang="en-US" sz="950" dirty="0"/>
          </a:p>
        </p:txBody>
      </p:sp>
      <p:sp>
        <p:nvSpPr>
          <p:cNvPr id="17" name="Shape 15"/>
          <p:cNvSpPr/>
          <p:nvPr/>
        </p:nvSpPr>
        <p:spPr>
          <a:xfrm>
            <a:off x="274320" y="3017520"/>
            <a:ext cx="4160520" cy="16916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274320" y="3017520"/>
            <a:ext cx="502920" cy="1691640"/>
          </a:xfrm>
          <a:prstGeom prst="rect">
            <a:avLst/>
          </a:prstGeom>
          <a:solidFill>
            <a:srgbClr val="D97706">
              <a:alpha val="12000"/>
            </a:srgbClr>
          </a:solidFill>
          <a:ln/>
        </p:spPr>
      </p:sp>
      <p:sp>
        <p:nvSpPr>
          <p:cNvPr id="19" name="Text 17"/>
          <p:cNvSpPr/>
          <p:nvPr/>
        </p:nvSpPr>
        <p:spPr>
          <a:xfrm>
            <a:off x="274320" y="3017520"/>
            <a:ext cx="502920" cy="1691640"/>
          </a:xfrm>
          <a:prstGeom prst="rect">
            <a:avLst/>
          </a:prstGeom>
          <a:noFill/>
          <a:ln/>
        </p:spPr>
        <p:txBody>
          <a:bodyPr wrap="square" rtlCol="0" anchor="ctr"/>
          <a:lstStyle/>
          <a:p>
            <a:pPr algn="ctr" indent="0" marL="0">
              <a:buNone/>
            </a:pPr>
            <a:r>
              <a:rPr lang="en-US" sz="2800" b="1" dirty="0">
                <a:solidFill>
                  <a:srgbClr val="D97706"/>
                </a:solidFill>
                <a:latin typeface="Calibri" pitchFamily="34" charset="0"/>
                <a:ea typeface="Calibri" pitchFamily="34" charset="-122"/>
                <a:cs typeface="Calibri" pitchFamily="34" charset="-120"/>
              </a:rPr>
              <a:t>3</a:t>
            </a:r>
            <a:endParaRPr lang="en-US" sz="2800" dirty="0"/>
          </a:p>
        </p:txBody>
      </p:sp>
      <p:sp>
        <p:nvSpPr>
          <p:cNvPr id="20" name="Text 18"/>
          <p:cNvSpPr/>
          <p:nvPr/>
        </p:nvSpPr>
        <p:spPr>
          <a:xfrm>
            <a:off x="868680" y="3127248"/>
            <a:ext cx="3474720" cy="365760"/>
          </a:xfrm>
          <a:prstGeom prst="rect">
            <a:avLst/>
          </a:prstGeom>
          <a:noFill/>
          <a:ln/>
        </p:spPr>
        <p:txBody>
          <a:bodyPr wrap="square" rtlCol="0" anchor="ctr"/>
          <a:lstStyle/>
          <a:p>
            <a:pPr indent="0" marL="0">
              <a:buNone/>
            </a:pPr>
            <a:r>
              <a:rPr lang="en-US" sz="1150" b="1" dirty="0">
                <a:solidFill>
                  <a:srgbClr val="0F1F3D"/>
                </a:solidFill>
                <a:latin typeface="Calibri" pitchFamily="34" charset="0"/>
                <a:ea typeface="Calibri" pitchFamily="34" charset="-122"/>
                <a:cs typeface="Calibri" pitchFamily="34" charset="-120"/>
              </a:rPr>
              <a:t>Louvain communities map to real biomedical domains</a:t>
            </a:r>
            <a:endParaRPr lang="en-US" sz="1150" dirty="0"/>
          </a:p>
        </p:txBody>
      </p:sp>
      <p:sp>
        <p:nvSpPr>
          <p:cNvPr id="21" name="Shape 19"/>
          <p:cNvSpPr/>
          <p:nvPr/>
        </p:nvSpPr>
        <p:spPr>
          <a:xfrm>
            <a:off x="868680" y="3520440"/>
            <a:ext cx="3291840" cy="0"/>
          </a:xfrm>
          <a:prstGeom prst="line">
            <a:avLst/>
          </a:prstGeom>
          <a:noFill/>
          <a:ln w="12700">
            <a:solidFill>
              <a:srgbClr val="D97706"/>
            </a:solidFill>
            <a:prstDash val="solid"/>
          </a:ln>
        </p:spPr>
      </p:sp>
      <p:sp>
        <p:nvSpPr>
          <p:cNvPr id="22" name="Text 20"/>
          <p:cNvSpPr/>
          <p:nvPr/>
        </p:nvSpPr>
        <p:spPr>
          <a:xfrm>
            <a:off x="868680" y="3611880"/>
            <a:ext cx="3474720" cy="1024128"/>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All 10 largest communities correspond to coherent therapeutic areas: metabolic disease, oncology, cardiovascular, infectious disease, and virology. The HBV community (#0) is the most specific — almost exclusively devoted to one pathogen's eradication — reflecting sustained global scientific focus.</a:t>
            </a:r>
            <a:endParaRPr lang="en-US" sz="950" dirty="0"/>
          </a:p>
        </p:txBody>
      </p:sp>
      <p:sp>
        <p:nvSpPr>
          <p:cNvPr id="23" name="Shape 21"/>
          <p:cNvSpPr/>
          <p:nvPr/>
        </p:nvSpPr>
        <p:spPr>
          <a:xfrm>
            <a:off x="4709160" y="3017520"/>
            <a:ext cx="4160520" cy="16916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4709160" y="3017520"/>
            <a:ext cx="502920" cy="1691640"/>
          </a:xfrm>
          <a:prstGeom prst="rect">
            <a:avLst/>
          </a:prstGeom>
          <a:solidFill>
            <a:srgbClr val="E05252">
              <a:alpha val="12000"/>
            </a:srgbClr>
          </a:solidFill>
          <a:ln/>
        </p:spPr>
      </p:sp>
      <p:sp>
        <p:nvSpPr>
          <p:cNvPr id="25" name="Text 23"/>
          <p:cNvSpPr/>
          <p:nvPr/>
        </p:nvSpPr>
        <p:spPr>
          <a:xfrm>
            <a:off x="4709160" y="3017520"/>
            <a:ext cx="502920" cy="1691640"/>
          </a:xfrm>
          <a:prstGeom prst="rect">
            <a:avLst/>
          </a:prstGeom>
          <a:noFill/>
          <a:ln/>
        </p:spPr>
        <p:txBody>
          <a:bodyPr wrap="square" rtlCol="0" anchor="ctr"/>
          <a:lstStyle/>
          <a:p>
            <a:pPr algn="ctr" indent="0" marL="0">
              <a:buNone/>
            </a:pPr>
            <a:r>
              <a:rPr lang="en-US" sz="2800" b="1" dirty="0">
                <a:solidFill>
                  <a:srgbClr val="E05252"/>
                </a:solidFill>
                <a:latin typeface="Calibri" pitchFamily="34" charset="0"/>
                <a:ea typeface="Calibri" pitchFamily="34" charset="-122"/>
                <a:cs typeface="Calibri" pitchFamily="34" charset="-120"/>
              </a:rPr>
              <a:t>4</a:t>
            </a:r>
            <a:endParaRPr lang="en-US" sz="2800" dirty="0"/>
          </a:p>
        </p:txBody>
      </p:sp>
      <p:sp>
        <p:nvSpPr>
          <p:cNvPr id="26" name="Text 24"/>
          <p:cNvSpPr/>
          <p:nvPr/>
        </p:nvSpPr>
        <p:spPr>
          <a:xfrm>
            <a:off x="5303520" y="3127248"/>
            <a:ext cx="3474720" cy="365760"/>
          </a:xfrm>
          <a:prstGeom prst="rect">
            <a:avLst/>
          </a:prstGeom>
          <a:noFill/>
          <a:ln/>
        </p:spPr>
        <p:txBody>
          <a:bodyPr wrap="square" rtlCol="0" anchor="ctr"/>
          <a:lstStyle/>
          <a:p>
            <a:pPr indent="0" marL="0">
              <a:buNone/>
            </a:pPr>
            <a:r>
              <a:rPr lang="en-US" sz="1150" b="1" dirty="0">
                <a:solidFill>
                  <a:srgbClr val="0F1F3D"/>
                </a:solidFill>
                <a:latin typeface="Calibri" pitchFamily="34" charset="0"/>
                <a:ea typeface="Calibri" pitchFamily="34" charset="-122"/>
                <a:cs typeface="Calibri" pitchFamily="34" charset="-120"/>
              </a:rPr>
              <a:t>Repurposing signals: three distinct archetypes</a:t>
            </a:r>
            <a:endParaRPr lang="en-US" sz="1150" dirty="0"/>
          </a:p>
        </p:txBody>
      </p:sp>
      <p:sp>
        <p:nvSpPr>
          <p:cNvPr id="27" name="Shape 25"/>
          <p:cNvSpPr/>
          <p:nvPr/>
        </p:nvSpPr>
        <p:spPr>
          <a:xfrm>
            <a:off x="5303520" y="3520440"/>
            <a:ext cx="3291840" cy="0"/>
          </a:xfrm>
          <a:prstGeom prst="line">
            <a:avLst/>
          </a:prstGeom>
          <a:noFill/>
          <a:ln w="12700">
            <a:solidFill>
              <a:srgbClr val="E05252"/>
            </a:solidFill>
            <a:prstDash val="solid"/>
          </a:ln>
        </p:spPr>
      </p:sp>
      <p:sp>
        <p:nvSpPr>
          <p:cNvPr id="28" name="Text 26"/>
          <p:cNvSpPr/>
          <p:nvPr/>
        </p:nvSpPr>
        <p:spPr>
          <a:xfrm>
            <a:off x="5303520" y="3611880"/>
            <a:ext cx="3474720" cy="1024128"/>
          </a:xfrm>
          <a:prstGeom prst="rect">
            <a:avLst/>
          </a:prstGeom>
          <a:noFill/>
          <a:ln/>
        </p:spPr>
        <p:txBody>
          <a:bodyPr wrap="square" rtlCol="0" anchor="ctr"/>
          <a:lstStyle/>
          <a:p>
            <a:pPr indent="0" marL="0">
              <a:lnSpc>
                <a:spcPct val="140000"/>
              </a:lnSpc>
              <a:buNone/>
            </a:pPr>
            <a:r>
              <a:rPr lang="en-US" sz="950" dirty="0">
                <a:solidFill>
                  <a:srgbClr val="64748B"/>
                </a:solidFill>
                <a:latin typeface="Calibri" pitchFamily="34" charset="0"/>
                <a:ea typeface="Calibri" pitchFamily="34" charset="-122"/>
                <a:cs typeface="Calibri" pitchFamily="34" charset="-120"/>
              </a:rPr>
              <a:t>Cytotoxic backbone drugs (broad oncology use), checkpoint inhibitors (tumor-agnostic expansion), and Dexamethasone (true cross-indication repurposing). The KG correctly surfaces Nivolumab's HBV and COVID-19 appearances as genuine biological signals, not noise.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731520" y="-731520"/>
            <a:ext cx="3657600" cy="3657600"/>
          </a:xfrm>
          <a:prstGeom prst="ellipse">
            <a:avLst/>
          </a:prstGeom>
          <a:solidFill>
            <a:srgbClr val="5B4FCF">
              <a:alpha val="15000"/>
            </a:srgbClr>
          </a:solidFill>
          <a:ln/>
        </p:spPr>
      </p:sp>
      <p:sp>
        <p:nvSpPr>
          <p:cNvPr id="3" name="Shape 1"/>
          <p:cNvSpPr/>
          <p:nvPr/>
        </p:nvSpPr>
        <p:spPr>
          <a:xfrm>
            <a:off x="6858000" y="2743200"/>
            <a:ext cx="3200400" cy="3200400"/>
          </a:xfrm>
          <a:prstGeom prst="ellipse">
            <a:avLst/>
          </a:prstGeom>
          <a:solidFill>
            <a:srgbClr val="0D9488">
              <a:alpha val="15000"/>
            </a:srgbClr>
          </a:solidFill>
          <a:ln/>
        </p:spPr>
      </p:sp>
      <p:sp>
        <p:nvSpPr>
          <p:cNvPr id="4" name="Shape 2"/>
          <p:cNvSpPr/>
          <p:nvPr/>
        </p:nvSpPr>
        <p:spPr>
          <a:xfrm>
            <a:off x="7315200" y="457200"/>
            <a:ext cx="1828800" cy="1828800"/>
          </a:xfrm>
          <a:prstGeom prst="ellipse">
            <a:avLst/>
          </a:prstGeom>
          <a:solidFill>
            <a:srgbClr val="E05252">
              <a:alpha val="20000"/>
            </a:srgbClr>
          </a:solidFill>
          <a:ln/>
        </p:spPr>
      </p:sp>
      <p:sp>
        <p:nvSpPr>
          <p:cNvPr id="5" name="Shape 3"/>
          <p:cNvSpPr/>
          <p:nvPr/>
        </p:nvSpPr>
        <p:spPr>
          <a:xfrm>
            <a:off x="164592" y="0"/>
            <a:ext cx="109728" cy="5143500"/>
          </a:xfrm>
          <a:prstGeom prst="rect">
            <a:avLst/>
          </a:prstGeom>
          <a:solidFill>
            <a:srgbClr val="0D9488"/>
          </a:solidFill>
          <a:ln/>
        </p:spPr>
      </p:sp>
      <p:sp>
        <p:nvSpPr>
          <p:cNvPr id="6" name="Text 4"/>
          <p:cNvSpPr/>
          <p:nvPr/>
        </p:nvSpPr>
        <p:spPr>
          <a:xfrm>
            <a:off x="502920" y="914400"/>
            <a:ext cx="7315200" cy="320040"/>
          </a:xfrm>
          <a:prstGeom prst="rect">
            <a:avLst/>
          </a:prstGeom>
          <a:noFill/>
          <a:ln/>
        </p:spPr>
        <p:txBody>
          <a:bodyPr wrap="square" rtlCol="0" anchor="ctr"/>
          <a:lstStyle/>
          <a:p>
            <a:pPr indent="0" marL="0">
              <a:buNone/>
            </a:pPr>
            <a:r>
              <a:rPr lang="en-US" sz="1000" b="1" spc="400" kern="0" dirty="0">
                <a:solidFill>
                  <a:srgbClr val="14B8A6"/>
                </a:solidFill>
                <a:latin typeface="Calibri" pitchFamily="34" charset="0"/>
                <a:ea typeface="Calibri" pitchFamily="34" charset="-122"/>
                <a:cs typeface="Calibri" pitchFamily="34" charset="-120"/>
              </a:rPr>
              <a:t>CLINICAL TRIALS KG ANALYSIS</a:t>
            </a:r>
            <a:endParaRPr lang="en-US" sz="1000" dirty="0"/>
          </a:p>
        </p:txBody>
      </p:sp>
      <p:sp>
        <p:nvSpPr>
          <p:cNvPr id="7" name="Text 5"/>
          <p:cNvSpPr/>
          <p:nvPr/>
        </p:nvSpPr>
        <p:spPr>
          <a:xfrm>
            <a:off x="502920" y="1280160"/>
            <a:ext cx="6858000" cy="1280160"/>
          </a:xfrm>
          <a:prstGeom prst="rect">
            <a:avLst/>
          </a:prstGeom>
          <a:noFill/>
          <a:ln/>
        </p:spPr>
        <p:txBody>
          <a:bodyPr wrap="square" rtlCol="0" anchor="ctr"/>
          <a:lstStyle/>
          <a:p>
            <a:pPr indent="0" marL="0">
              <a:lnSpc>
                <a:spcPct val="120000"/>
              </a:lnSpc>
              <a:buNone/>
            </a:pPr>
            <a:r>
              <a:rPr lang="en-US" sz="3400" b="1" dirty="0">
                <a:solidFill>
                  <a:srgbClr val="FFFFFF"/>
                </a:solidFill>
                <a:latin typeface="Calibri" pitchFamily="34" charset="0"/>
                <a:ea typeface="Calibri" pitchFamily="34" charset="-122"/>
                <a:cs typeface="Calibri" pitchFamily="34" charset="-120"/>
              </a:rPr>
              <a:t>Conclusions &amp;</a:t>
            </a:r>
            <a:endParaRPr lang="en-US" sz="3400" dirty="0"/>
          </a:p>
          <a:p>
            <a:pPr indent="0" marL="0">
              <a:lnSpc>
                <a:spcPct val="120000"/>
              </a:lnSpc>
              <a:buNone/>
            </a:pPr>
            <a:r>
              <a:rPr lang="en-US" sz="3400" b="1" dirty="0">
                <a:solidFill>
                  <a:srgbClr val="FFFFFF"/>
                </a:solidFill>
                <a:latin typeface="Calibri" pitchFamily="34" charset="0"/>
                <a:ea typeface="Calibri" pitchFamily="34" charset="-122"/>
                <a:cs typeface="Calibri" pitchFamily="34" charset="-120"/>
              </a:rPr>
              <a:t>Next Steps</a:t>
            </a:r>
            <a:endParaRPr lang="en-US" sz="3400" dirty="0"/>
          </a:p>
        </p:txBody>
      </p:sp>
      <p:sp>
        <p:nvSpPr>
          <p:cNvPr id="8" name="Text 6"/>
          <p:cNvSpPr/>
          <p:nvPr/>
        </p:nvSpPr>
        <p:spPr>
          <a:xfrm>
            <a:off x="502920" y="2697480"/>
            <a:ext cx="7772400" cy="2011680"/>
          </a:xfrm>
          <a:prstGeom prst="rect">
            <a:avLst/>
          </a:prstGeom>
          <a:noFill/>
          <a:ln/>
        </p:spPr>
        <p:txBody>
          <a:bodyPr wrap="square" rtlCol="0" anchor="ctr"/>
          <a:lstStyle/>
          <a:p>
            <a:pPr marL="342900" indent="-342900">
              <a:lnSpc>
                <a:spcPct val="140000"/>
              </a:lnSpc>
              <a:spcAft>
                <a:spcPts val="600"/>
              </a:spcAft>
              <a:buSzPct val="100000"/>
              <a:buFont typeface="+mj-lt"/>
              <a:buAutoNum type="arabicPeriod" startAt="1"/>
            </a:pPr>
            <a:r>
              <a:rPr lang="en-US" sz="1250" dirty="0">
                <a:solidFill>
                  <a:srgbClr val="94A3B8"/>
                </a:solidFill>
                <a:latin typeface="Calibri" pitchFamily="34" charset="0"/>
                <a:ea typeface="Calibri" pitchFamily="34" charset="-122"/>
                <a:cs typeface="Calibri" pitchFamily="34" charset="-120"/>
              </a:rPr>
              <a:t>Apply GraphRAG over the KG to generate natural-language summaries per community</a:t>
            </a:r>
            <a:endParaRPr lang="en-US" sz="1250" dirty="0"/>
          </a:p>
          <a:p>
            <a:pPr marL="342900" indent="-342900">
              <a:lnSpc>
                <a:spcPct val="140000"/>
              </a:lnSpc>
              <a:spcAft>
                <a:spcPts val="600"/>
              </a:spcAft>
              <a:buSzPct val="100000"/>
              <a:buFont typeface="+mj-lt"/>
              <a:buAutoNum type="arabicPeriod" startAt="1"/>
            </a:pPr>
            <a:r>
              <a:rPr lang="en-US" sz="1250" dirty="0">
                <a:solidFill>
                  <a:srgbClr val="94A3B8"/>
                </a:solidFill>
                <a:latin typeface="Calibri" pitchFamily="34" charset="0"/>
                <a:ea typeface="Calibri" pitchFamily="34" charset="-122"/>
                <a:cs typeface="Calibri" pitchFamily="34" charset="-120"/>
              </a:rPr>
              <a:t>Extend betweenness analysis to identify drug-disease pairs with high potential but low current trial volume</a:t>
            </a:r>
            <a:endParaRPr lang="en-US" sz="1250" dirty="0"/>
          </a:p>
          <a:p>
            <a:pPr marL="342900" indent="-342900">
              <a:lnSpc>
                <a:spcPct val="140000"/>
              </a:lnSpc>
              <a:spcAft>
                <a:spcPts val="600"/>
              </a:spcAft>
              <a:buSzPct val="100000"/>
              <a:buFont typeface="+mj-lt"/>
              <a:buAutoNum type="arabicPeriod" startAt="1"/>
            </a:pPr>
            <a:r>
              <a:rPr lang="en-US" sz="1250" dirty="0">
                <a:solidFill>
                  <a:srgbClr val="94A3B8"/>
                </a:solidFill>
                <a:latin typeface="Calibri" pitchFamily="34" charset="0"/>
                <a:ea typeface="Calibri" pitchFamily="34" charset="-122"/>
                <a:cs typeface="Calibri" pitchFamily="34" charset="-120"/>
              </a:rPr>
              <a:t>Build a temporal layer — track how community structure has shifted across trial registration years</a:t>
            </a:r>
            <a:endParaRPr lang="en-US" sz="1250" dirty="0"/>
          </a:p>
          <a:p>
            <a:pPr marL="342900" indent="-342900">
              <a:lnSpc>
                <a:spcPct val="140000"/>
              </a:lnSpc>
              <a:spcAft>
                <a:spcPts val="600"/>
              </a:spcAft>
              <a:buSzPct val="100000"/>
              <a:buFont typeface="+mj-lt"/>
              <a:buAutoNum type="arabicPeriod" startAt="1"/>
            </a:pPr>
            <a:r>
              <a:rPr lang="en-US" sz="1250" dirty="0">
                <a:solidFill>
                  <a:srgbClr val="94A3B8"/>
                </a:solidFill>
                <a:latin typeface="Calibri" pitchFamily="34" charset="0"/>
                <a:ea typeface="Calibri" pitchFamily="34" charset="-122"/>
                <a:cs typeface="Calibri" pitchFamily="34" charset="-120"/>
              </a:rPr>
              <a:t>Validate repurposing signals against mechanistic databases (DrugBank, ChEMBL) for biological plausibility scoring</a:t>
            </a:r>
            <a:endParaRPr lang="en-US" sz="1250" dirty="0"/>
          </a:p>
        </p:txBody>
      </p:sp>
      <p:sp>
        <p:nvSpPr>
          <p:cNvPr id="9" name="Text 7"/>
          <p:cNvSpPr/>
          <p:nvPr/>
        </p:nvSpPr>
        <p:spPr>
          <a:xfrm>
            <a:off x="502920" y="4800600"/>
            <a:ext cx="8229600" cy="2286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Built on Neo4j Knowledge Graph · NetworkX · Python-Louvain · ClinicalTrials.gov</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Trials Knowledge Graph Analysis</dc:title>
  <dc:subject>PptxGenJS Presentation</dc:subject>
  <dc:creator>Knowledge Graph Analytics</dc:creator>
  <cp:lastModifiedBy>Knowledge Graph Analytics</cp:lastModifiedBy>
  <cp:revision>1</cp:revision>
  <dcterms:created xsi:type="dcterms:W3CDTF">2026-04-09T10:46:52Z</dcterms:created>
  <dcterms:modified xsi:type="dcterms:W3CDTF">2026-04-09T10:46:52Z</dcterms:modified>
</cp:coreProperties>
</file>