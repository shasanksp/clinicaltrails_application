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67" r:id="rId5"/>
    <p:sldId id="268" r:id="rId6"/>
    <p:sldId id="269" r:id="rId7"/>
    <p:sldId id="259" r:id="rId8"/>
    <p:sldId id="270" r:id="rId9"/>
    <p:sldId id="260" r:id="rId10"/>
    <p:sldId id="265" r:id="rId11"/>
    <p:sldId id="261" r:id="rId12"/>
    <p:sldId id="271" r:id="rId13"/>
    <p:sldId id="262" r:id="rId14"/>
    <p:sldId id="263" r:id="rId15"/>
    <p:sldId id="264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4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89320" y="91440"/>
            <a:ext cx="3108960" cy="530352"/>
          </a:xfrm>
          <a:prstGeom prst="rect">
            <a:avLst/>
          </a:prstGeom>
          <a:solidFill>
            <a:srgbClr val="00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989320" y="731520"/>
            <a:ext cx="2651760" cy="530352"/>
          </a:xfrm>
          <a:prstGeom prst="rect">
            <a:avLst/>
          </a:prstGeom>
          <a:solidFill>
            <a:srgbClr val="005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89320" y="1371600"/>
            <a:ext cx="2926080" cy="530352"/>
          </a:xfrm>
          <a:prstGeom prst="rect">
            <a:avLst/>
          </a:prstGeom>
          <a:solidFill>
            <a:srgbClr val="007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89320" y="2011680"/>
            <a:ext cx="2286000" cy="530352"/>
          </a:xfrm>
          <a:prstGeom prst="rect">
            <a:avLst/>
          </a:prstGeom>
          <a:solidFill>
            <a:srgbClr val="00A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89320" y="2651760"/>
            <a:ext cx="2743200" cy="530352"/>
          </a:xfrm>
          <a:prstGeom prst="rect">
            <a:avLst/>
          </a:prstGeom>
          <a:solidFill>
            <a:srgbClr val="02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89320" y="3291840"/>
            <a:ext cx="2011680" cy="530352"/>
          </a:xfrm>
          <a:prstGeom prst="rect">
            <a:avLst/>
          </a:prstGeom>
          <a:solidFill>
            <a:srgbClr val="38B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7463" y="429181"/>
            <a:ext cx="5486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  <a:latin typeface="Georgia"/>
              </a:rPr>
              <a:t>Clinical Trials</a:t>
            </a:r>
            <a:r>
              <a:rPr lang="en-IN" sz="3800" b="1" i="0" dirty="0">
                <a:solidFill>
                  <a:srgbClr val="FFFFFF"/>
                </a:solidFill>
                <a:latin typeface="Georgia"/>
              </a:rPr>
              <a:t> -</a:t>
            </a:r>
            <a:endParaRPr sz="38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7463" y="1124125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Georgia"/>
              </a:rPr>
              <a:t>Knowledge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463" y="2069734"/>
            <a:ext cx="4937760" cy="32004"/>
          </a:xfrm>
          <a:prstGeom prst="rect">
            <a:avLst/>
          </a:prstGeom>
          <a:solidFill>
            <a:srgbClr val="02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7463" y="2489804"/>
            <a:ext cx="5303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Clinical Informatics  ·  Graph AI  · </a:t>
            </a:r>
            <a:r>
              <a:rPr lang="en-IN" sz="1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Neo4j graph DB</a:t>
            </a:r>
            <a:endParaRPr lang="en-IN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685590-B83C-7054-DC2A-A2E7EF55D01A}"/>
              </a:ext>
            </a:extLst>
          </p:cNvPr>
          <p:cNvSpPr/>
          <p:nvPr/>
        </p:nvSpPr>
        <p:spPr>
          <a:xfrm>
            <a:off x="5989320" y="3931920"/>
            <a:ext cx="2545080" cy="530352"/>
          </a:xfrm>
          <a:prstGeom prst="rect">
            <a:avLst/>
          </a:prstGeom>
          <a:solidFill>
            <a:srgbClr val="007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50D5A5-C280-509D-903C-5E0E0AB670E8}"/>
              </a:ext>
            </a:extLst>
          </p:cNvPr>
          <p:cNvSpPr/>
          <p:nvPr/>
        </p:nvSpPr>
        <p:spPr>
          <a:xfrm>
            <a:off x="5989320" y="4572000"/>
            <a:ext cx="2999232" cy="530352"/>
          </a:xfrm>
          <a:prstGeom prst="rect">
            <a:avLst/>
          </a:prstGeom>
          <a:solidFill>
            <a:srgbClr val="00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A71529-B5C0-6997-0EA9-13970198FDE1}"/>
              </a:ext>
            </a:extLst>
          </p:cNvPr>
          <p:cNvSpPr txBox="1"/>
          <p:nvPr/>
        </p:nvSpPr>
        <p:spPr>
          <a:xfrm>
            <a:off x="427463" y="2995328"/>
            <a:ext cx="45927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550K+ clinical trails ·  6 node types  ·  5 edge types </a:t>
            </a:r>
            <a:endParaRPr lang="en-IN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5544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Georgia"/>
              </a:rPr>
              <a:t>What </a:t>
            </a:r>
            <a:r>
              <a:rPr lang="en-IN" sz="2600" b="1" i="0" dirty="0">
                <a:solidFill>
                  <a:srgbClr val="FFFFFF"/>
                </a:solidFill>
                <a:latin typeface="Georgia"/>
              </a:rPr>
              <a:t>I</a:t>
            </a:r>
            <a:r>
              <a:rPr sz="2600" b="1" i="0" dirty="0">
                <a:solidFill>
                  <a:srgbClr val="FFFFFF"/>
                </a:solidFill>
                <a:latin typeface="Georgia"/>
              </a:rPr>
              <a:t>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4864" cy="6217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149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9669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Georgia"/>
              </a:rPr>
              <a:t>Drug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80160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 dirty="0">
                <a:solidFill>
                  <a:srgbClr val="5A7084"/>
                </a:solidFill>
                <a:latin typeface="Calibri"/>
              </a:rPr>
              <a:t>Evidence · Competition · Geography</a:t>
            </a:r>
            <a:r>
              <a:rPr lang="en-IN" sz="1050" dirty="0">
                <a:solidFill>
                  <a:srgbClr val="5A7084"/>
                </a:solidFill>
              </a:rPr>
              <a:t> · Multi-hop paths</a:t>
            </a:r>
            <a:endParaRPr sz="1050" b="0" i="0" dirty="0">
              <a:solidFill>
                <a:srgbClr val="5A7084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0040" y="1764792"/>
            <a:ext cx="54864" cy="6217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764792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8196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013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Georgia"/>
              </a:rPr>
              <a:t>Disease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84832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7084"/>
                </a:solidFill>
                <a:latin typeface="Calibri"/>
              </a:rPr>
              <a:t>Landscape · Design · Phase · Enrollment · Sponsor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569464"/>
            <a:ext cx="54864" cy="6217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569464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6243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606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Georgia"/>
              </a:rPr>
              <a:t>Sponsor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889504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7084"/>
                </a:solidFill>
                <a:latin typeface="Calibri"/>
              </a:rPr>
              <a:t>Portfolio · Geo reach · Pipeline · Drugs · Collaborators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74136"/>
            <a:ext cx="54864" cy="621792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3374136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4290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45EC2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4107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Georgia"/>
              </a:rPr>
              <a:t>Network &amp;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694176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7084"/>
                </a:solidFill>
                <a:latin typeface="Calibri"/>
              </a:rPr>
              <a:t>Centrality · Communities · Repurposing signals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78808"/>
            <a:ext cx="54864" cy="62179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4178808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2336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76F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153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Georgia"/>
              </a:rPr>
              <a:t>Geo &amp; Temporal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498848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7084"/>
                </a:solidFill>
                <a:latin typeface="Calibri"/>
              </a:rPr>
              <a:t>Global density · Timeline trends · Phase heatmap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78AB34B-9982-E576-BFB1-CBE087D72021}"/>
              </a:ext>
            </a:extLst>
          </p:cNvPr>
          <p:cNvGrpSpPr/>
          <p:nvPr/>
        </p:nvGrpSpPr>
        <p:grpSpPr>
          <a:xfrm>
            <a:off x="150876" y="1063876"/>
            <a:ext cx="4224528" cy="1490241"/>
            <a:chOff x="237744" y="1550832"/>
            <a:chExt cx="4224528" cy="1490241"/>
          </a:xfrm>
        </p:grpSpPr>
        <p:sp>
          <p:nvSpPr>
            <p:cNvPr id="5" name="Rectangle 4"/>
            <p:cNvSpPr/>
            <p:nvPr/>
          </p:nvSpPr>
          <p:spPr>
            <a:xfrm>
              <a:off x="237744" y="1552965"/>
              <a:ext cx="4224528" cy="148810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237744" y="1552965"/>
              <a:ext cx="50292" cy="1488108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88036" y="1550832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Evidence Profile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88036" y="1907792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Aggregates every trial ever run for a drug by phase, status, condition and geography in a single query. Replaces weeks of manual registry work.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88036" y="2429958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Drug developers, BD teams assessing clinical maturity before in-licensing, and medical affairs preparing HCP evidence summaries.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C9DC3AD-2116-3890-9229-B0F6B5DC4DFE}"/>
              </a:ext>
            </a:extLst>
          </p:cNvPr>
          <p:cNvGrpSpPr/>
          <p:nvPr/>
        </p:nvGrpSpPr>
        <p:grpSpPr>
          <a:xfrm>
            <a:off x="150876" y="2960442"/>
            <a:ext cx="4224528" cy="1488108"/>
            <a:chOff x="150876" y="2960442"/>
            <a:chExt cx="4224528" cy="1488108"/>
          </a:xfrm>
        </p:grpSpPr>
        <p:sp>
          <p:nvSpPr>
            <p:cNvPr id="14" name="Rectangle 13"/>
            <p:cNvSpPr/>
            <p:nvPr/>
          </p:nvSpPr>
          <p:spPr>
            <a:xfrm>
              <a:off x="150876" y="2960442"/>
              <a:ext cx="4224528" cy="148810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50876" y="2960442"/>
              <a:ext cx="50292" cy="1488108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19456" y="2960442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Competitive Landscape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37744" y="3325851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Finds every drug that shares a condition with the target compound, ranked by trial volume, also every sponsor investing in the drug.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168" y="3875926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Portfolio strategy and white space mapping; medical affairs competitive dossiers; licensing analysts sizing the field.</a:t>
              </a:r>
            </a:p>
          </p:txBody>
        </p:sp>
      </p:grpSp>
      <p:sp>
        <p:nvSpPr>
          <p:cNvPr id="23" name="Rectangle 22"/>
          <p:cNvSpPr/>
          <p:nvPr/>
        </p:nvSpPr>
        <p:spPr>
          <a:xfrm>
            <a:off x="4681728" y="1066008"/>
            <a:ext cx="4224528" cy="15057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81728" y="1066008"/>
            <a:ext cx="50292" cy="1505741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36592" y="1080092"/>
            <a:ext cx="40873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Geographic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2020" y="1419506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WHAT IT DOES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Maps the countries actively conducting trials for a drug, exposing regional concentration risk and untapped recruitment markets.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6592" y="1943001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Clinical operations optimizing site selection; market access teams forecasting country by country launch readiness.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81728" y="2962048"/>
            <a:ext cx="4224528" cy="14865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681728" y="2962048"/>
            <a:ext cx="50292" cy="1486501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32020" y="2962048"/>
            <a:ext cx="40873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D1B3E"/>
                </a:solidFill>
                <a:latin typeface="Calibri"/>
              </a:rPr>
              <a:t>Multi-hop Paths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5454" y="3325850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000" b="1" i="0" dirty="0">
                <a:solidFill>
                  <a:srgbClr val="8AA0B4"/>
                </a:solidFill>
                <a:latin typeface="Calibri"/>
              </a:rPr>
              <a:t>WHAT IT DOES</a:t>
            </a:r>
          </a:p>
          <a:p>
            <a:r>
              <a:rPr lang="en-US" sz="800" dirty="0">
                <a:solidFill>
                  <a:srgbClr val="2D3A4A"/>
                </a:solidFill>
              </a:rPr>
              <a:t>Constructs the Drug → Study → Condition → Sponsor subgraph, the structured context chunk fed to the LLM in the </a:t>
            </a:r>
            <a:r>
              <a:rPr lang="en-US" sz="800" dirty="0" err="1">
                <a:solidFill>
                  <a:srgbClr val="2D3A4A"/>
                </a:solidFill>
              </a:rPr>
              <a:t>GraphRAG</a:t>
            </a:r>
            <a:r>
              <a:rPr lang="en-US" sz="800" dirty="0">
                <a:solidFill>
                  <a:srgbClr val="2D3A4A"/>
                </a:solidFill>
              </a:rPr>
              <a:t> pipeline.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32020" y="3875926"/>
            <a:ext cx="408736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8AA0B4"/>
                </a:solidFill>
                <a:latin typeface="Calibri"/>
              </a:rPr>
              <a:t>WHO USES IT</a:t>
            </a:r>
            <a:endParaRPr lang="en-IN" sz="1000" b="1" i="0" dirty="0">
              <a:solidFill>
                <a:srgbClr val="8AA0B4"/>
              </a:solidFill>
              <a:latin typeface="Calibri"/>
            </a:endParaRPr>
          </a:p>
          <a:p>
            <a:r>
              <a:rPr lang="en-US" sz="800" dirty="0">
                <a:solidFill>
                  <a:srgbClr val="2D3A4A"/>
                </a:solidFill>
              </a:rPr>
              <a:t>AI/ML teams building grounded clinical Q&amp;A agents; regulatory writers who need citation ready evidence chains.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A9085-2C2D-C0EC-8506-F857C41C4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D575B0-AACD-2AC3-41E2-1833A3F9B3D3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C63BF-9175-7435-0814-A9FD9D9B1DA4}"/>
              </a:ext>
            </a:extLst>
          </p:cNvPr>
          <p:cNvSpPr txBox="1"/>
          <p:nvPr/>
        </p:nvSpPr>
        <p:spPr>
          <a:xfrm>
            <a:off x="320040" y="54864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  <a:r>
              <a:rPr lang="en-IN" sz="1100" b="1" i="0" dirty="0">
                <a:solidFill>
                  <a:srgbClr val="00B4D8"/>
                </a:solidFill>
                <a:latin typeface="Calibri"/>
              </a:rPr>
              <a:t> - </a:t>
            </a:r>
            <a:r>
              <a:rPr lang="en-IN" sz="1100" b="1" dirty="0">
                <a:solidFill>
                  <a:srgbClr val="00B4D8"/>
                </a:solidFill>
                <a:latin typeface="+mj-lt"/>
              </a:rPr>
              <a:t>Donepezil</a:t>
            </a:r>
            <a:endParaRPr sz="1100" b="1" i="0" dirty="0">
              <a:solidFill>
                <a:srgbClr val="00B4D8"/>
              </a:solidFill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B8C04C9-4CC9-BCE6-B0B7-54A3C49B0C21}"/>
              </a:ext>
            </a:extLst>
          </p:cNvPr>
          <p:cNvGrpSpPr/>
          <p:nvPr/>
        </p:nvGrpSpPr>
        <p:grpSpPr>
          <a:xfrm>
            <a:off x="75110" y="4506891"/>
            <a:ext cx="8993779" cy="566928"/>
            <a:chOff x="66501" y="4445116"/>
            <a:chExt cx="8993779" cy="566928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D51DC88-7E49-111C-1EB8-90DA63BFC709}"/>
                </a:ext>
              </a:extLst>
            </p:cNvPr>
            <p:cNvSpPr/>
            <p:nvPr/>
          </p:nvSpPr>
          <p:spPr>
            <a:xfrm>
              <a:off x="66501" y="4445116"/>
              <a:ext cx="8993779" cy="566928"/>
            </a:xfrm>
            <a:prstGeom prst="rect">
              <a:avLst/>
            </a:prstGeom>
            <a:solidFill>
              <a:srgbClr val="0D1B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422891F-0CCA-5595-85CA-A7EC62D59E36}"/>
                </a:ext>
              </a:extLst>
            </p:cNvPr>
            <p:cNvGrpSpPr/>
            <p:nvPr/>
          </p:nvGrpSpPr>
          <p:grpSpPr>
            <a:xfrm>
              <a:off x="654231" y="4520063"/>
              <a:ext cx="894838" cy="417033"/>
              <a:chOff x="295102" y="4490836"/>
              <a:chExt cx="1371600" cy="512064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6F621A-5B3F-539F-5B5B-F7A822BD17C0}"/>
                  </a:ext>
                </a:extLst>
              </p:cNvPr>
              <p:cNvSpPr txBox="1"/>
              <p:nvPr/>
            </p:nvSpPr>
            <p:spPr>
              <a:xfrm>
                <a:off x="295102" y="4490836"/>
                <a:ext cx="1371600" cy="3200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00B4D8"/>
                    </a:solidFill>
                    <a:latin typeface="Georgia"/>
                  </a:rPr>
                  <a:t>319</a:t>
                </a:r>
                <a:endParaRPr sz="1500" b="1" i="0" dirty="0">
                  <a:solidFill>
                    <a:srgbClr val="00B4D8"/>
                  </a:solidFill>
                  <a:latin typeface="Georgia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71E0684-2B42-C58E-028C-6D6EC548B838}"/>
                  </a:ext>
                </a:extLst>
              </p:cNvPr>
              <p:cNvSpPr txBox="1"/>
              <p:nvPr/>
            </p:nvSpPr>
            <p:spPr>
              <a:xfrm>
                <a:off x="295102" y="4801732"/>
                <a:ext cx="1371600" cy="2011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800" b="0" i="0" dirty="0">
                    <a:solidFill>
                      <a:srgbClr val="7A9BB5"/>
                    </a:solidFill>
                    <a:latin typeface="Calibri"/>
                  </a:rPr>
                  <a:t>Donepezil trials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82B3F3F-9D8B-3C78-E282-F210A592B53A}"/>
                </a:ext>
              </a:extLst>
            </p:cNvPr>
            <p:cNvGrpSpPr/>
            <p:nvPr/>
          </p:nvGrpSpPr>
          <p:grpSpPr>
            <a:xfrm>
              <a:off x="2848295" y="4501246"/>
              <a:ext cx="1109057" cy="417033"/>
              <a:chOff x="1959725" y="4533202"/>
              <a:chExt cx="1699953" cy="469698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CAC637-F161-0EE9-3C72-9A6D10FB7756}"/>
                  </a:ext>
                </a:extLst>
              </p:cNvPr>
              <p:cNvSpPr txBox="1"/>
              <p:nvPr/>
            </p:nvSpPr>
            <p:spPr>
              <a:xfrm>
                <a:off x="1959725" y="4533202"/>
                <a:ext cx="1699953" cy="323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00B4D8"/>
                    </a:solidFill>
                    <a:latin typeface="Georgia"/>
                  </a:rPr>
                  <a:t>Phase2</a:t>
                </a:r>
                <a:endParaRPr sz="1500" b="1" i="0" dirty="0">
                  <a:solidFill>
                    <a:srgbClr val="00B4D8"/>
                  </a:solidFill>
                  <a:latin typeface="Georgia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9AD4322-E0EF-A544-46CF-C9E5506538FD}"/>
                  </a:ext>
                </a:extLst>
              </p:cNvPr>
              <p:cNvSpPr txBox="1"/>
              <p:nvPr/>
            </p:nvSpPr>
            <p:spPr>
              <a:xfrm>
                <a:off x="2123902" y="4801732"/>
                <a:ext cx="1371600" cy="2011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800" b="0" i="0">
                    <a:solidFill>
                      <a:srgbClr val="7A9BB5"/>
                    </a:solidFill>
                    <a:latin typeface="Calibri"/>
                  </a:rPr>
                  <a:t>Dominant phase</a:t>
                </a: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467FF7F-61B3-BABE-E55E-008FFC45D1DF}"/>
                </a:ext>
              </a:extLst>
            </p:cNvPr>
            <p:cNvGrpSpPr/>
            <p:nvPr/>
          </p:nvGrpSpPr>
          <p:grpSpPr>
            <a:xfrm>
              <a:off x="5412875" y="4491567"/>
              <a:ext cx="882534" cy="426712"/>
              <a:chOff x="3952702" y="4490836"/>
              <a:chExt cx="1371600" cy="512064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DE3ECCA-0B7B-B7DD-B1EA-58FDEC370C62}"/>
                  </a:ext>
                </a:extLst>
              </p:cNvPr>
              <p:cNvSpPr txBox="1"/>
              <p:nvPr/>
            </p:nvSpPr>
            <p:spPr>
              <a:xfrm>
                <a:off x="3952702" y="4490836"/>
                <a:ext cx="1371600" cy="3200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00B4D8"/>
                    </a:solidFill>
                    <a:latin typeface="Georgia"/>
                  </a:rPr>
                  <a:t>73</a:t>
                </a:r>
                <a:r>
                  <a:rPr sz="1500" b="1" i="0" dirty="0">
                    <a:solidFill>
                      <a:srgbClr val="00B4D8"/>
                    </a:solidFill>
                    <a:latin typeface="Georgia"/>
                  </a:rPr>
                  <a:t>%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27FA9-33FE-7186-6957-432A4CD8831C}"/>
                  </a:ext>
                </a:extLst>
              </p:cNvPr>
              <p:cNvSpPr txBox="1"/>
              <p:nvPr/>
            </p:nvSpPr>
            <p:spPr>
              <a:xfrm>
                <a:off x="3952702" y="4801732"/>
                <a:ext cx="1371600" cy="2011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800" b="0" i="0" dirty="0">
                    <a:solidFill>
                      <a:srgbClr val="7A9BB5"/>
                    </a:solidFill>
                    <a:latin typeface="Calibri"/>
                  </a:rPr>
                  <a:t>Completed trials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B0D6C39-A749-BB2D-1EEC-EFC9672A22F2}"/>
                </a:ext>
              </a:extLst>
            </p:cNvPr>
            <p:cNvGrpSpPr/>
            <p:nvPr/>
          </p:nvGrpSpPr>
          <p:grpSpPr>
            <a:xfrm>
              <a:off x="7474693" y="4491567"/>
              <a:ext cx="985058" cy="445529"/>
              <a:chOff x="7863840" y="4466667"/>
              <a:chExt cx="1371600" cy="512064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FEEF79A-23D0-4EFD-604B-158FE651035E}"/>
                  </a:ext>
                </a:extLst>
              </p:cNvPr>
              <p:cNvSpPr txBox="1"/>
              <p:nvPr/>
            </p:nvSpPr>
            <p:spPr>
              <a:xfrm>
                <a:off x="7863840" y="4466667"/>
                <a:ext cx="1371600" cy="3200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1500" b="1" i="0" dirty="0">
                    <a:solidFill>
                      <a:srgbClr val="00B4D8"/>
                    </a:solidFill>
                    <a:latin typeface="Georgia"/>
                  </a:rPr>
                  <a:t>3</a:t>
                </a:r>
                <a:r>
                  <a:rPr lang="en-IN" sz="1500" b="1" i="0" dirty="0">
                    <a:solidFill>
                      <a:srgbClr val="00B4D8"/>
                    </a:solidFill>
                    <a:latin typeface="Georgia"/>
                  </a:rPr>
                  <a:t>2</a:t>
                </a:r>
                <a:endParaRPr sz="1500" b="1" i="0" dirty="0">
                  <a:solidFill>
                    <a:srgbClr val="00B4D8"/>
                  </a:solidFill>
                  <a:latin typeface="Georgi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A574008-83D2-7307-EE2C-9393FD5C072B}"/>
                  </a:ext>
                </a:extLst>
              </p:cNvPr>
              <p:cNvSpPr txBox="1"/>
              <p:nvPr/>
            </p:nvSpPr>
            <p:spPr>
              <a:xfrm>
                <a:off x="7863840" y="4777563"/>
                <a:ext cx="1371600" cy="2011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800" b="0" i="0">
                    <a:solidFill>
                      <a:srgbClr val="7A9BB5"/>
                    </a:solidFill>
                    <a:latin typeface="Calibri"/>
                  </a:rPr>
                  <a:t>Countries studied</a:t>
                </a:r>
              </a:p>
            </p:txBody>
          </p:sp>
        </p:grpSp>
      </p:grpSp>
      <p:pic>
        <p:nvPicPr>
          <p:cNvPr id="1032" name="Picture 8">
            <a:extLst>
              <a:ext uri="{FF2B5EF4-FFF2-40B4-BE49-F238E27FC236}">
                <a16:creationId xmlns:a16="http://schemas.microsoft.com/office/drawing/2014/main" id="{15D8F979-05D1-523A-D86D-D899674C8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8757" y="2078525"/>
            <a:ext cx="3049089" cy="241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F3A047F6-B5B5-47FA-C145-B001BB590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" y="599404"/>
            <a:ext cx="2855221" cy="153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2F750AF0-61E9-A60B-1809-775635271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608" y="587266"/>
            <a:ext cx="2688913" cy="1621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380AF45-D7FB-11DA-8E07-843FEC783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530586"/>
              </p:ext>
            </p:extLst>
          </p:nvPr>
        </p:nvGraphicFramePr>
        <p:xfrm>
          <a:off x="5964759" y="537060"/>
          <a:ext cx="3104130" cy="14325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034710">
                  <a:extLst>
                    <a:ext uri="{9D8B030D-6E8A-4147-A177-3AD203B41FA5}">
                      <a16:colId xmlns:a16="http://schemas.microsoft.com/office/drawing/2014/main" val="2751907117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868970464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288764733"/>
                    </a:ext>
                  </a:extLst>
                </a:gridCol>
              </a:tblGrid>
              <a:tr h="186619">
                <a:tc gridSpan="3"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Top competitors to Donepezil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756379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Radiation therapy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Metformin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Paclitaxel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977454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Carboplatin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Cyclophosphamide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Trastuzumab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98856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Docetaxel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Methotrexate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Cisplatin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102718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Midazolam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Aripiprazole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Olanzapine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5585187"/>
                  </a:ext>
                </a:extLst>
              </a:tr>
              <a:tr h="320689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Conventional surgery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Risperidone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Capecitabine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16481"/>
                  </a:ext>
                </a:extLst>
              </a:tr>
            </a:tbl>
          </a:graphicData>
        </a:graphic>
      </p:graphicFrame>
      <p:pic>
        <p:nvPicPr>
          <p:cNvPr id="1034" name="Picture 10">
            <a:extLst>
              <a:ext uri="{FF2B5EF4-FFF2-40B4-BE49-F238E27FC236}">
                <a16:creationId xmlns:a16="http://schemas.microsoft.com/office/drawing/2014/main" id="{E8E10B7A-6AE1-34BA-15C4-166338083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469" y="2095200"/>
            <a:ext cx="3210742" cy="2251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>
            <a:extLst>
              <a:ext uri="{FF2B5EF4-FFF2-40B4-BE49-F238E27FC236}">
                <a16:creationId xmlns:a16="http://schemas.microsoft.com/office/drawing/2014/main" id="{C6E943F9-AC3E-B282-811C-36C3FBB005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6" y="2227571"/>
            <a:ext cx="2837766" cy="1514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798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F5300-80DF-5CF8-76BB-81BF2F606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F7719-C6AF-318A-BA40-C59195731062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7ABF89-F386-B9CE-0332-951643838273}"/>
              </a:ext>
            </a:extLst>
          </p:cNvPr>
          <p:cNvSpPr txBox="1"/>
          <p:nvPr/>
        </p:nvSpPr>
        <p:spPr>
          <a:xfrm>
            <a:off x="320040" y="54864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  <a:r>
              <a:rPr lang="en-IN" sz="1100" b="1" i="0" dirty="0">
                <a:solidFill>
                  <a:srgbClr val="00B4D8"/>
                </a:solidFill>
                <a:latin typeface="Calibri"/>
              </a:rPr>
              <a:t> - </a:t>
            </a:r>
            <a:r>
              <a:rPr lang="en-IN" sz="1100" b="1" i="0" dirty="0">
                <a:solidFill>
                  <a:srgbClr val="00B4D8"/>
                </a:solidFill>
                <a:latin typeface="+mj-lt"/>
              </a:rPr>
              <a:t>S</a:t>
            </a:r>
            <a:r>
              <a:rPr lang="en-IN" sz="1100" b="1" dirty="0">
                <a:solidFill>
                  <a:srgbClr val="00B4D8"/>
                </a:solidFill>
                <a:latin typeface="+mj-lt"/>
              </a:rPr>
              <a:t>emaglutide</a:t>
            </a:r>
            <a:endParaRPr sz="1100" b="1" i="0" dirty="0">
              <a:solidFill>
                <a:srgbClr val="00B4D8"/>
              </a:solidFill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789DF8A-DFF9-6003-497C-8DED007402BC}"/>
              </a:ext>
            </a:extLst>
          </p:cNvPr>
          <p:cNvGrpSpPr/>
          <p:nvPr/>
        </p:nvGrpSpPr>
        <p:grpSpPr>
          <a:xfrm>
            <a:off x="75110" y="4506891"/>
            <a:ext cx="8993779" cy="566928"/>
            <a:chOff x="66501" y="4445116"/>
            <a:chExt cx="8993779" cy="566928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833F03B-AFF3-CB23-3943-750BBE6D1602}"/>
                </a:ext>
              </a:extLst>
            </p:cNvPr>
            <p:cNvSpPr/>
            <p:nvPr/>
          </p:nvSpPr>
          <p:spPr>
            <a:xfrm>
              <a:off x="66501" y="4445116"/>
              <a:ext cx="8993779" cy="566928"/>
            </a:xfrm>
            <a:prstGeom prst="rect">
              <a:avLst/>
            </a:prstGeom>
            <a:solidFill>
              <a:srgbClr val="0D1B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92EB99C-B277-DE23-4905-30EA5F3EBBA8}"/>
                </a:ext>
              </a:extLst>
            </p:cNvPr>
            <p:cNvGrpSpPr/>
            <p:nvPr/>
          </p:nvGrpSpPr>
          <p:grpSpPr>
            <a:xfrm>
              <a:off x="654231" y="4520067"/>
              <a:ext cx="1014780" cy="468643"/>
              <a:chOff x="295102" y="4490836"/>
              <a:chExt cx="1555446" cy="575434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58448C1-B8B4-4B2D-A3F7-D7C4092FCCD4}"/>
                  </a:ext>
                </a:extLst>
              </p:cNvPr>
              <p:cNvSpPr txBox="1"/>
              <p:nvPr/>
            </p:nvSpPr>
            <p:spPr>
              <a:xfrm>
                <a:off x="295102" y="4490836"/>
                <a:ext cx="1371600" cy="3968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1500" b="1" i="0" dirty="0">
                    <a:solidFill>
                      <a:srgbClr val="00B4D8"/>
                    </a:solidFill>
                    <a:latin typeface="Georgia"/>
                  </a:rPr>
                  <a:t>1231</a:t>
                </a:r>
                <a:endParaRPr sz="1500" b="1" i="0" dirty="0">
                  <a:solidFill>
                    <a:srgbClr val="00B4D8"/>
                  </a:solidFill>
                  <a:latin typeface="Georgia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649121-979F-F46A-D71B-C612670C6459}"/>
                  </a:ext>
                </a:extLst>
              </p:cNvPr>
              <p:cNvSpPr txBox="1"/>
              <p:nvPr/>
            </p:nvSpPr>
            <p:spPr>
              <a:xfrm>
                <a:off x="295102" y="4801732"/>
                <a:ext cx="1555446" cy="2645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800" dirty="0">
                    <a:solidFill>
                      <a:srgbClr val="7A9BB5"/>
                    </a:solidFill>
                  </a:rPr>
                  <a:t>Semaglutide</a:t>
                </a:r>
                <a:r>
                  <a:rPr sz="800" b="0" i="0" dirty="0">
                    <a:solidFill>
                      <a:srgbClr val="7A9BB5"/>
                    </a:solidFill>
                    <a:latin typeface="Calibri"/>
                  </a:rPr>
                  <a:t> trials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E2BBD53-263D-87CD-3B42-07D9AC28B69A}"/>
                </a:ext>
              </a:extLst>
            </p:cNvPr>
            <p:cNvGrpSpPr/>
            <p:nvPr/>
          </p:nvGrpSpPr>
          <p:grpSpPr>
            <a:xfrm>
              <a:off x="2848295" y="4501246"/>
              <a:ext cx="1109057" cy="417033"/>
              <a:chOff x="1959725" y="4533202"/>
              <a:chExt cx="1699953" cy="469698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0B2AD17-D1F6-DE72-BB0C-DB75A77B573A}"/>
                  </a:ext>
                </a:extLst>
              </p:cNvPr>
              <p:cNvSpPr txBox="1"/>
              <p:nvPr/>
            </p:nvSpPr>
            <p:spPr>
              <a:xfrm>
                <a:off x="1959725" y="4533202"/>
                <a:ext cx="1699953" cy="3639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00B4D8"/>
                    </a:solidFill>
                    <a:latin typeface="Georgia"/>
                  </a:rPr>
                  <a:t>Phase3</a:t>
                </a:r>
                <a:endParaRPr sz="1500" b="1" i="0" dirty="0">
                  <a:solidFill>
                    <a:srgbClr val="00B4D8"/>
                  </a:solidFill>
                  <a:latin typeface="Georgia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89BC682-9C0A-84F3-6084-0CBBE5ACACAD}"/>
                  </a:ext>
                </a:extLst>
              </p:cNvPr>
              <p:cNvSpPr txBox="1"/>
              <p:nvPr/>
            </p:nvSpPr>
            <p:spPr>
              <a:xfrm>
                <a:off x="2123902" y="4801732"/>
                <a:ext cx="1371600" cy="2011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800" b="0" i="0">
                    <a:solidFill>
                      <a:srgbClr val="7A9BB5"/>
                    </a:solidFill>
                    <a:latin typeface="Calibri"/>
                  </a:rPr>
                  <a:t>Dominant phase</a:t>
                </a: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AE9EEE3-F56C-0D72-2001-0526B9C2EECE}"/>
                </a:ext>
              </a:extLst>
            </p:cNvPr>
            <p:cNvGrpSpPr/>
            <p:nvPr/>
          </p:nvGrpSpPr>
          <p:grpSpPr>
            <a:xfrm>
              <a:off x="5412875" y="4491567"/>
              <a:ext cx="882534" cy="426712"/>
              <a:chOff x="3952702" y="4490836"/>
              <a:chExt cx="1371600" cy="512064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8573206-0532-8B75-93DE-8EB18364430D}"/>
                  </a:ext>
                </a:extLst>
              </p:cNvPr>
              <p:cNvSpPr txBox="1"/>
              <p:nvPr/>
            </p:nvSpPr>
            <p:spPr>
              <a:xfrm>
                <a:off x="3952702" y="4490836"/>
                <a:ext cx="1371600" cy="3200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00B4D8"/>
                    </a:solidFill>
                    <a:latin typeface="Georgia"/>
                  </a:rPr>
                  <a:t>73</a:t>
                </a:r>
                <a:r>
                  <a:rPr sz="1500" b="1" i="0" dirty="0">
                    <a:solidFill>
                      <a:srgbClr val="00B4D8"/>
                    </a:solidFill>
                    <a:latin typeface="Georgia"/>
                  </a:rPr>
                  <a:t>%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29C06C-146A-F17D-4DB8-911680A0DD26}"/>
                  </a:ext>
                </a:extLst>
              </p:cNvPr>
              <p:cNvSpPr txBox="1"/>
              <p:nvPr/>
            </p:nvSpPr>
            <p:spPr>
              <a:xfrm>
                <a:off x="3952702" y="4801732"/>
                <a:ext cx="1371600" cy="2011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800" b="0" i="0" dirty="0">
                    <a:solidFill>
                      <a:srgbClr val="7A9BB5"/>
                    </a:solidFill>
                    <a:latin typeface="Calibri"/>
                  </a:rPr>
                  <a:t>Completed trials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1AE494-B28F-EA5B-DAA6-067A9B156180}"/>
                </a:ext>
              </a:extLst>
            </p:cNvPr>
            <p:cNvGrpSpPr/>
            <p:nvPr/>
          </p:nvGrpSpPr>
          <p:grpSpPr>
            <a:xfrm>
              <a:off x="7474693" y="4491567"/>
              <a:ext cx="985058" cy="445529"/>
              <a:chOff x="7863840" y="4466667"/>
              <a:chExt cx="1371600" cy="512064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1444A6-F4A8-95FA-7B1C-08673291FDDB}"/>
                  </a:ext>
                </a:extLst>
              </p:cNvPr>
              <p:cNvSpPr txBox="1"/>
              <p:nvPr/>
            </p:nvSpPr>
            <p:spPr>
              <a:xfrm>
                <a:off x="7863840" y="4466667"/>
                <a:ext cx="1371600" cy="3714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00B4D8"/>
                    </a:solidFill>
                    <a:latin typeface="Georgia"/>
                  </a:rPr>
                  <a:t>66</a:t>
                </a:r>
                <a:endParaRPr sz="1500" b="1" i="0" dirty="0">
                  <a:solidFill>
                    <a:srgbClr val="00B4D8"/>
                  </a:solidFill>
                  <a:latin typeface="Georgi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D0870D8-CCD9-5C6A-2992-39D5F63AA89B}"/>
                  </a:ext>
                </a:extLst>
              </p:cNvPr>
              <p:cNvSpPr txBox="1"/>
              <p:nvPr/>
            </p:nvSpPr>
            <p:spPr>
              <a:xfrm>
                <a:off x="7863840" y="4777563"/>
                <a:ext cx="1371600" cy="2011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800" b="0" i="0">
                    <a:solidFill>
                      <a:srgbClr val="7A9BB5"/>
                    </a:solidFill>
                    <a:latin typeface="Calibri"/>
                  </a:rPr>
                  <a:t>Countries studied</a:t>
                </a:r>
              </a:p>
            </p:txBody>
          </p:sp>
        </p:grpSp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46BE57-7C43-9499-9C71-86EC849AC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7870980"/>
              </p:ext>
            </p:extLst>
          </p:nvPr>
        </p:nvGraphicFramePr>
        <p:xfrm>
          <a:off x="5964759" y="537061"/>
          <a:ext cx="3104130" cy="17373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034710">
                  <a:extLst>
                    <a:ext uri="{9D8B030D-6E8A-4147-A177-3AD203B41FA5}">
                      <a16:colId xmlns:a16="http://schemas.microsoft.com/office/drawing/2014/main" val="2751907117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868970464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288764733"/>
                    </a:ext>
                  </a:extLst>
                </a:gridCol>
              </a:tblGrid>
              <a:tr h="180324">
                <a:tc gridSpan="3"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Top competitors to Semaglutide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756379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Metformin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Clopidogrel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Ritonavir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977454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Zidovudine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Pioglitazone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Rosuvastatin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98856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Sitagliptin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Aspirin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Atorvastatin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102718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Dapagliflozin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Insulin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Itraconazole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5585187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Midazolam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Liraglutide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Lamivudine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16481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Propofol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Insulin aspart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Prednisone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649038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Insulin detemir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1431210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3B7E8A21-DF35-0C25-3869-767144258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863" y="2050368"/>
            <a:ext cx="3032846" cy="161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93DBBD5-E50F-A0B6-39C0-AA43B7CC4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9242" y="480549"/>
            <a:ext cx="2641281" cy="161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6E1EAEC-C2A9-68DE-CE32-20EE63E81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15" y="466344"/>
            <a:ext cx="2892810" cy="1552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D4A9A085-65B6-05F5-7975-97195BEE37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5218" y="2340105"/>
            <a:ext cx="2982306" cy="2119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>
            <a:extLst>
              <a:ext uri="{FF2B5EF4-FFF2-40B4-BE49-F238E27FC236}">
                <a16:creationId xmlns:a16="http://schemas.microsoft.com/office/drawing/2014/main" id="{F7F5A4AC-8F1A-7D79-1FB7-066786C917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3618" y="2373533"/>
            <a:ext cx="2702690" cy="1862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5504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02  /  DISEASE ANALYTICS — APPLICATION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02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1B3E"/>
                </a:solidFill>
                <a:latin typeface="Georgia"/>
              </a:rPr>
              <a:t>Understanding every dimension of a disease 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4251960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960120"/>
            <a:ext cx="50292" cy="13335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" y="100584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Treatment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21615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1335024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Ranks every active drug by trial count for a condition, noise-filtered. Shows who dominates and who is an emerging challenger.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156921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688084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Competitive intelligence analysts; payers building formulary evidence; investors assessing therapeutic crowding.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192227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041144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Alzheimer's is led by Donepezil (52) and Memantine (24), but Lecanemab and Donanemab are rising — a shift to disease-modifying therapies.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348484"/>
            <a:ext cx="4251960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6032" y="2348484"/>
            <a:ext cx="50292" cy="13335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" y="239420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Trial Design 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60451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23388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Breaks down allocation, blinding and arm type across all trials in a disease — shows whether the field relies on RCTs or observational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95757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76448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Protocol designers benchmarking against field norms; HTA bodies assessing evidence quality; meta-analysts planning systematic reviews.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31063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29508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In Alzheimer's, single-arm and observational studies are still common — RCT gaps that create both regulatory challenge and scientific opportunity.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3736848"/>
            <a:ext cx="4251960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56032" y="3736848"/>
            <a:ext cx="50292" cy="13335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6616" y="378256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Phase Progression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99288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111752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Plots trial counts by phase for the entire disease area. A healthy funnel shows I &gt;&gt; II &gt;&gt; III. Inversion signals high attrition.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34594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464812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R&amp;D strategy leads prioritising areas; VCs screening categories; BD teams timing in-licensing to the pipeline cycle.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9900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17872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Alzheimer's Phase II is the largest bucket — many candidates are mid-pipeline with high attrition, explaining the historically low approval rate.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960120"/>
            <a:ext cx="4178808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09160" y="960120"/>
            <a:ext cx="50292" cy="2036826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00584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Enrollment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121615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9744" y="1335024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Histogram + phase-stratified median chart in one view. Exposes underpowered trials and mega-trials that skew cost estimates.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1803654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9744" y="1922526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Biostatisticians planning sample sizes; regulatory reviewers; health economists modelling trial cost distributions.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9744" y="2391156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9744" y="2510028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Alzheimer's Phase III median enrollment is ~400 — low for a CNS disease, reflecting high screen-failure rates and strict eligibility.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60" y="3060954"/>
            <a:ext cx="4178808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709160" y="3060954"/>
            <a:ext cx="50292" cy="2036826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09744" y="3106674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Sponsor Diversity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9744" y="3316986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09744" y="3435858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Classifies sponsors as Industry, Academic or Government and maps trial volumes. High academic share signals exploratory science.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744" y="3904488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9744" y="4023360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Licensing managers identifying partners; grant-writers mapping funding; investors gauging commercial momentum in a disease area.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9744" y="4491990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744" y="4610862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Alzheimer's has a strong NIH-academic mix alongside Pfizer, Lilly and Biogen — both public and private capital at scale.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02  /  DISEASE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  <a:latin typeface="Georgia"/>
              </a:rPr>
              <a:t>Disease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7084"/>
                </a:solidFill>
                <a:latin typeface="Calibri"/>
              </a:rPr>
              <a:t>Five applications mapping the full landscape of any disease area</a:t>
            </a:r>
          </a:p>
        </p:txBody>
      </p:sp>
      <p:pic>
        <p:nvPicPr>
          <p:cNvPr id="6" name="Picture 5" descr="Alzheimer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3383280" cy="1691640"/>
          </a:xfrm>
          <a:prstGeom prst="rect">
            <a:avLst/>
          </a:prstGeom>
        </p:spPr>
      </p:pic>
      <p:pic>
        <p:nvPicPr>
          <p:cNvPr id="7" name="Picture 6" descr="Alzheimer_enroll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44368"/>
            <a:ext cx="3383280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86200" y="1207008"/>
            <a:ext cx="493776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86200" y="1207008"/>
            <a:ext cx="54864" cy="6675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60" y="125272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Treatment 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49961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Ranks every drug by trial volume for a disease. Donepezil leads Alzheimer's with 52 trials.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1970532"/>
            <a:ext cx="493776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86200" y="1970532"/>
            <a:ext cx="54864" cy="6675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23360" y="2016252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Trial Design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2631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Allocation, masking &amp; arm-type breakdown — reveals RCT dominance vs. observational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2734056"/>
            <a:ext cx="493776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86200" y="2734056"/>
            <a:ext cx="54864" cy="6675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0" y="2779776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Phase Progression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0266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Pipeline maturity map — see if a disease area is early-stage or late-stage heavy.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497580"/>
            <a:ext cx="493776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86200" y="3497580"/>
            <a:ext cx="54864" cy="6675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0" y="354330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Enrollment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7901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Size distribution + median enrollment by phase. Flags underpowered trials.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86200" y="4261104"/>
            <a:ext cx="493776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886200" y="4261104"/>
            <a:ext cx="54864" cy="6675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023360" y="430682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Sponsor Diversity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Industry vs. academic vs. government split. Critical for funding &amp; partnership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03  /  SPONSOR INTELLIGENCE — APPLICATION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02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1B3E"/>
                </a:solidFill>
                <a:latin typeface="Georgia"/>
              </a:rPr>
              <a:t>Building a 360° view of any sponsor's clinical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4251960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960120"/>
            <a:ext cx="50292" cy="13335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" y="100584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Condition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21615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1335024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Ranks every disease area a sponsor runs trials in, noise-filtered of healthy volunteer and PK studies. Reveals true therapeutic focus.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156921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688084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BD teams mapping a counterpart's priorities before a deal; investors stress-testing pipeline concentration risk.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192227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041144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Pfizer's #1 condition is Rheumatoid Arthritis (96 trials), followed by Breast Cancer and Schizophrenia — genuinely diversified across immunology, oncology and CNS.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348484"/>
            <a:ext cx="4251960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6032" y="2348484"/>
            <a:ext cx="50292" cy="13335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" y="239420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Geographic Reach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60451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23388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Maps countries where a sponsor conducts trials. Reveals regional over-reliance, regulatory arbitrage strategies, and site network maturity.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95757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76448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Clinical operations choosing sites; market access teams predicting first-launch markets; regulators assessing data generalisability.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31063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29508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Pfizer runs trials in 60+ countries. Brazil, Poland and South Korea show deliberate diversification beyond the US/EU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3736848"/>
            <a:ext cx="4251960" cy="133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56032" y="3736848"/>
            <a:ext cx="50292" cy="13335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6616" y="378256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Pipeline Mix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99288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111752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Cross-tabulates trial phase against status in a stacked bar. A mature sponsor shows many COMPLETED Phase III; an early-stage one shows RECRUITING Phase 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34594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464812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Analysts building competitive pipeline maps; investors calculating probability-of-success NPV; alliance managers timing partnership approaches.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9900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17872"/>
            <a:ext cx="4114800" cy="2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Pfizer's Phase III shows the highest COMPLETED fraction — consistent with a large-cap with multiple approved products and post-marketing commitments.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960120"/>
            <a:ext cx="4178808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09160" y="960120"/>
            <a:ext cx="50292" cy="203682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00584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Drug Inventory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121615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9744" y="1335024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Lists every distinct intervention a sponsor trials, ranked by volume, placebo-filtered. Exposes flagship compounds vs. one-offs.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1803654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9744" y="1922526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Portfolio strategists prioritising investment; CMC teams forecasting manufacturing complexity; regulatory leads anticipating submission workload.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9744" y="2391156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9744" y="2510028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Pfizer's top compound by trial count is Pregabalin — still generating Phase IV evidence, indicating active life-cycle management post-approval.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60" y="3060954"/>
            <a:ext cx="4178808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709160" y="3060954"/>
            <a:ext cx="50292" cy="203682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09744" y="3106674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Collaborator Network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9744" y="3316986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09744" y="3435858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Identifies other sponsors appearing in the same trials — exposing co-development deals, consortia and academic partnerships not always announced.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744" y="3904488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9744" y="4023360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BD analysts mapping partnership ecosystems; due-diligence teams verifying collaborations; academic institutions identifying industry partners.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9744" y="4491990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744" y="4610862"/>
            <a:ext cx="4041648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Pfizer's collaborator list surfaces Wyeth and Hospira subsidiaries — confirming historical acquisition integration is still visible in trial records.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03  /  SPONSOR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  <a:latin typeface="Georgia"/>
              </a:rPr>
              <a:t>Sponsor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7084"/>
                </a:solidFill>
                <a:latin typeface="Calibri"/>
              </a:rPr>
              <a:t>Five applications for competitive intelligence on any pharma / biotech sponsor</a:t>
            </a:r>
          </a:p>
        </p:txBody>
      </p:sp>
      <p:pic>
        <p:nvPicPr>
          <p:cNvPr id="6" name="Picture 5" descr="Pfizer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0"/>
            <a:ext cx="4160520" cy="1783080"/>
          </a:xfrm>
          <a:prstGeom prst="rect">
            <a:avLst/>
          </a:prstGeom>
        </p:spPr>
      </p:pic>
      <p:pic>
        <p:nvPicPr>
          <p:cNvPr id="7" name="Picture 6" descr="Pfizer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188720"/>
            <a:ext cx="4434840" cy="1783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8600" y="3072384"/>
            <a:ext cx="162763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28600" y="3072384"/>
            <a:ext cx="1627632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" y="3081528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337560"/>
            <a:ext cx="14813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7084"/>
                </a:solidFill>
                <a:latin typeface="Calibri"/>
              </a:rPr>
              <a:t>Conditions Pfizer studies most — Rheumatoid Arthritis, Breast Cancer, Schizophrenia.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84248" y="3072384"/>
            <a:ext cx="162763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984248" y="3072384"/>
            <a:ext cx="1627632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57400" y="3081528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Geo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37560"/>
            <a:ext cx="14813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7084"/>
                </a:solidFill>
                <a:latin typeface="Calibri"/>
              </a:rPr>
              <a:t>Countries where they conduct trials — shows global reach vs. home-market concentration.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9896" y="3072384"/>
            <a:ext cx="162763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739896" y="3072384"/>
            <a:ext cx="1627632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13048" y="3081528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Pipeline Mix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3337560"/>
            <a:ext cx="14813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7084"/>
                </a:solidFill>
                <a:latin typeface="Calibri"/>
              </a:rPr>
              <a:t>Phase × status stacked chart — instantly shows Phase III completion rate.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5544" y="3072384"/>
            <a:ext cx="162763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95544" y="3072384"/>
            <a:ext cx="1627632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68696" y="3081528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Drug Inventory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8696" y="3337560"/>
            <a:ext cx="14813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7084"/>
                </a:solidFill>
                <a:latin typeface="Calibri"/>
              </a:rPr>
              <a:t>Every intervention in the pipeline — flags breadth of therapeutic bets.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51192" y="3072384"/>
            <a:ext cx="162763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51192" y="3072384"/>
            <a:ext cx="1627632" cy="23774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24344" y="3081528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Collaborators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4344" y="3337560"/>
            <a:ext cx="14813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A7084"/>
                </a:solidFill>
                <a:latin typeface="Calibri"/>
              </a:rPr>
              <a:t>Co-sponsors on shared trials — surfaces partnership &amp; licensing networks.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4133087"/>
            <a:ext cx="8686800" cy="804672"/>
          </a:xfrm>
          <a:prstGeom prst="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" y="4133087"/>
            <a:ext cx="54864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4048" y="416966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  <a:latin typeface="Calibri"/>
              </a:rPr>
              <a:t>Novo Nordisk case study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440740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D3A4A"/>
                </a:solidFill>
                <a:latin typeface="Calibri"/>
              </a:rPr>
              <a:t>634 Diabetes trials · 585 Type 2 DM · 135 Obesity · 87 Haemophilia
The portfolio map instantly tells the GLP-1 + rare disease diversification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45EC2"/>
                </a:solidFill>
                <a:latin typeface="Calibri"/>
              </a:rPr>
              <a:t>04  /  NETWORK &amp; GRAPH — APPLICATION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02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1B3E"/>
                </a:solidFill>
                <a:latin typeface="Georgia"/>
              </a:rPr>
              <a:t>Graph structure reveals what tabular data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4251960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960120"/>
            <a:ext cx="50292" cy="2036826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" y="100584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Centrality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21615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1335024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Computes degree centrality (unique connections) and betweenness centrality (bridge importance) across the drug–condition graph. High-degree nodes are therapeutically broad; high-betweenness nodes are structural bridges.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1803654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922526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Pipeline prioritisation teams; drug-repositioning researchers finding anchor conditions with maximum cross-indication reach.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239115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510028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Obesity is the highest-degree condition — connected to more distinct drugs than any other disease, reflecting its role as a comorbidity driver across cardio, diabetes and oncology.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3060954"/>
            <a:ext cx="4251960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6032" y="3060954"/>
            <a:ext cx="50292" cy="2036826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" y="310667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Community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331698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3435858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Applies the Louvain algorithm to partition the graph into dense clusters where drugs and diseases are tightly co-studied. Each community is a self-organised therapeutic area.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904488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023360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GraphRAG pipeline builders feeding disease-cluster summaries to an LLM; biomedical ontologists validating disease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449199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4610862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15,585 communities detected. The largest (59,883 nodes) is an oncology mega-cluster spanning solid tumours, haematology and targeted therapies — ideal for LLM synthesis.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960120"/>
            <a:ext cx="4178808" cy="41376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960120"/>
            <a:ext cx="50292" cy="413766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9744" y="100584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Drug Repurposing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121615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1335024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Identifies drugs studied across the greatest number of distinct conditions relative to trial volume. High condition-breadth at moderate trial count = a drug explored beyond its label — the core repurposing signal.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250393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4" y="2622804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Drug repositioning researchers; biotech startups seeking off-patent compounds; AI drug-discovery teams building training datasets; rare-disease researchers needing established safety profiles.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9744" y="379171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3910583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Cyclophosphamide spans 2,340 conditions across ~1,900 trials — a 70-year-old chemotherapy still actively studied in autoimmune, transplantation and rare conditions far beyond its original oncology label.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45EC2"/>
                </a:solidFill>
                <a:latin typeface="Calibri"/>
              </a:rPr>
              <a:t>04  /  NETWORK &amp; GRAPH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  <a:latin typeface="Georgia"/>
              </a:rPr>
              <a:t>Network &amp; Graph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7084"/>
                </a:solidFill>
                <a:latin typeface="Calibri"/>
              </a:rPr>
              <a:t>Structural analysis of the drug–condition bipartite graph</a:t>
            </a:r>
          </a:p>
        </p:txBody>
      </p:sp>
      <p:pic>
        <p:nvPicPr>
          <p:cNvPr id="6" name="Picture 5" descr="centr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0"/>
            <a:ext cx="8686800" cy="2194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28600" y="3493008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3493008"/>
            <a:ext cx="2743200" cy="54864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" y="360273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Centrality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391363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Degree + betweenness centrality identify the most strategically important drugs and conditions. Obesity, Breast Cancer, Stroke dominate by degree.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3493008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172968" y="3493008"/>
            <a:ext cx="2743200" cy="54864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82696" y="360273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Community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2696" y="391363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Louvain algorithm partitions the graph into 15,585 communities — each is a disease cluster with its dominant treatments, ready for LLM summarization.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3493008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17336" y="3493008"/>
            <a:ext cx="2743200" cy="54864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27064" y="360273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Repurposing 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3913632"/>
            <a:ext cx="252374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A7084"/>
                </a:solidFill>
                <a:latin typeface="Calibri"/>
              </a:rPr>
              <a:t>Drugs studied across the broadest condition range are flagged as repurposing candidates. Cyclophosphamide spans 2,340 conditions — a strong cross-indication signal.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76F"/>
                </a:solidFill>
                <a:latin typeface="Calibri"/>
              </a:rPr>
              <a:t>05  /  GEO &amp; TEMPORAL — APPLICATION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02920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3E"/>
                </a:solidFill>
                <a:latin typeface="Georgia"/>
              </a:rPr>
              <a:t>Where research happens, when it started — and what that reveals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1005840"/>
            <a:ext cx="4251960" cy="20139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50292" cy="201396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" y="1051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Global Trial Density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26187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1380744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Ranks every country by trial count, exposing the concentration of clinical infrastructure and the emerging role of Asia-Pacific, MENA and Latin America.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1841754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960626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Site selection and clinical operations teams; regulatory agencies assessing geographic representativeness; public health researchers mapping research equity.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242163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540508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The US accounts for 179,625 trial records — 28 % of the global total — yet represents only 4 % of world population. China is 2nd at 44,714, driven by a decade of NMPA reform.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3083814"/>
            <a:ext cx="4251960" cy="20139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6032" y="3083814"/>
            <a:ext cx="50292" cy="2013966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" y="312953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Trial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333984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3458718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Aggregates trial start dates into a monthly time series, quantifying acceleration periods, slowdowns and structural shifts in research investment.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919727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038599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Trend analysts forecasting trial volume; trial planning teams calibrating recruitment windows; investors timing sector exposure to research activity cycles.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449961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4618482"/>
            <a:ext cx="4114800" cy="433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Post-2022 monthly starts exceed all pre-pandemic peaks — driven by mRNA platform trials and oncology pipeline expansion following the COVID-19 recovery.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1005840"/>
            <a:ext cx="4178808" cy="40919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1005840"/>
            <a:ext cx="50292" cy="409194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9744" y="105156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Country × Phase Heatmap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126187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1380744"/>
            <a:ext cx="4041648" cy="1126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 pivot table of country vs. trial phase, colour-coded by intensity. Distinguishes pure Phase I recruitment markets from countries running pivotal Phase III confirmatory trials — a critical distinction for regulatory strategy and market access planning.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253441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4" y="2653284"/>
            <a:ext cx="4041648" cy="1126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Regulatory affairs teams choosing where to run pivotal trials; global health economists tracking where late-phase evidence is generated; site feasibility analysts comparing Phase III capacity across candidate markets.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9744" y="380695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3925824"/>
            <a:ext cx="4041648" cy="1126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The US dominates Phase III (28,828 records), but the UK leads Phase IV relative to size — reflecting NHS-integrated post-marketing infrastructure. Egypt's Phase IV count (992) is an emerging-market signal worth watching for future site selection.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76F"/>
                </a:solidFill>
                <a:latin typeface="Calibri"/>
              </a:rPr>
              <a:t>05  /  GEO &amp; TEMPORAL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02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D1B3E"/>
                </a:solidFill>
                <a:latin typeface="Georgia"/>
              </a:rPr>
              <a:t>Geo &amp; Temporal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7084"/>
                </a:solidFill>
                <a:latin typeface="Calibri"/>
              </a:rPr>
              <a:t>643,597 trial–location records across 223 countries spanning decades of research</a:t>
            </a:r>
          </a:p>
        </p:txBody>
      </p:sp>
      <p:pic>
        <p:nvPicPr>
          <p:cNvPr id="6" name="Picture 5" descr="geo_phas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0"/>
            <a:ext cx="5120640" cy="2606040"/>
          </a:xfrm>
          <a:prstGeom prst="rect">
            <a:avLst/>
          </a:prstGeom>
        </p:spPr>
      </p:pic>
      <p:pic>
        <p:nvPicPr>
          <p:cNvPr id="7" name="Picture 6" descr="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88720"/>
            <a:ext cx="3383280" cy="12618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0" y="2542032"/>
            <a:ext cx="342900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0" y="2542032"/>
            <a:ext cx="54864" cy="786384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14416" y="259689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Global Trial Density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4416" y="2871215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7084"/>
                </a:solidFill>
                <a:latin typeface="Calibri"/>
              </a:rPr>
              <a:t>US leads at 179K trials.
223 countries captured.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3438144"/>
            <a:ext cx="342900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0" y="3438144"/>
            <a:ext cx="54864" cy="786384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14416" y="34930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Trial 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3767328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7084"/>
                </a:solidFill>
                <a:latin typeface="Calibri"/>
              </a:rPr>
              <a:t>Monthly start-date trend
reveals research waves.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4334256"/>
            <a:ext cx="342900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0" y="4334256"/>
            <a:ext cx="54864" cy="786384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14416" y="43891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Country × Phase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4416" y="4663440"/>
            <a:ext cx="3108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7084"/>
                </a:solidFill>
                <a:latin typeface="Calibri"/>
              </a:rPr>
              <a:t>Heatmap shows which
countries run Phase III.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eorgia"/>
              </a:rPr>
              <a:t>Why it matters:
The GraphRAG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3716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4D8"/>
                </a:solidFill>
                <a:latin typeface="Calibri"/>
              </a:rPr>
              <a:t>These 20 validated outputs become structured context for a language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847088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12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01 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96596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User asks a natural language question about a drug, disease, or sponsor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68880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2587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02  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58775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Graph query fetches the relevant subgraph — validated, structured,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090672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32095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03  Augment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2095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LLM receives the subgraph as grounded context with no hallucination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12464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38313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04  Generate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83133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Model summarizes evidence, compares pipelines, surfaces repurposing leads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334256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44531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05  Hypothesize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5312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Cross-condition and cross-sponsor patterns suggest novel research directions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The stack behind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247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Data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1720" y="100584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0" y="113385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ClinicalTrials.gov — full registry, 640K+ trial records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562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Graph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73736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68880" y="186537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Neo4j — 6 node types, 5 relationship types, Cypher queries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587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Extraction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246888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68880" y="259689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Python · pandas · networkx · python-louvain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Visualization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320040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68880" y="332841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matplotlib · seaborn · plotly-ready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0507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Next stage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393192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468880" y="405993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GraphRAG pipeline → LLM summarization + hypothesis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72000"/>
            <a:ext cx="8229600" cy="4023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608576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3E"/>
                </a:solidFill>
                <a:latin typeface="Calibri"/>
              </a:rPr>
              <a:t>Interested in applying this to your therapeutic area?  Let's connect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2259</Words>
  <Application>Microsoft Office PowerPoint</Application>
  <PresentationFormat>On-screen Show (16:9)</PresentationFormat>
  <Paragraphs>285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Shasank Shekhar Padhi</cp:lastModifiedBy>
  <cp:revision>5</cp:revision>
  <dcterms:created xsi:type="dcterms:W3CDTF">2013-01-27T09:14:16Z</dcterms:created>
  <dcterms:modified xsi:type="dcterms:W3CDTF">2026-03-29T13:50:06Z</dcterms:modified>
  <cp:category/>
</cp:coreProperties>
</file>