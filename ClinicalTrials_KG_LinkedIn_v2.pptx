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68" r:id="rId5"/>
    <p:sldId id="267" r:id="rId6"/>
    <p:sldId id="269" r:id="rId7"/>
    <p:sldId id="272" r:id="rId8"/>
    <p:sldId id="273" r:id="rId9"/>
    <p:sldId id="274" r:id="rId10"/>
    <p:sldId id="275" r:id="rId11"/>
    <p:sldId id="270" r:id="rId12"/>
    <p:sldId id="276" r:id="rId13"/>
    <p:sldId id="277" r:id="rId14"/>
    <p:sldId id="278" r:id="rId15"/>
    <p:sldId id="279" r:id="rId16"/>
    <p:sldId id="271" r:id="rId17"/>
    <p:sldId id="262" r:id="rId18"/>
    <p:sldId id="265" r:id="rId19"/>
    <p:sldId id="261" r:id="rId20"/>
    <p:sldId id="263" r:id="rId21"/>
    <p:sldId id="264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D8BFFD-A85B-4C2E-B34B-5DAF0D9434DC}" type="doc">
      <dgm:prSet loTypeId="urn:microsoft.com/office/officeart/2005/8/layout/radial6" loCatId="cycle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8F389E58-2D4D-4DB1-ABDB-0DA0291DC54D}">
      <dgm:prSet phldrT="[Text]" phldr="0" custT="1"/>
      <dgm:spPr/>
      <dgm:t>
        <a:bodyPr/>
        <a:lstStyle/>
        <a:p>
          <a:r>
            <a:rPr lang="en-IN" sz="1200" b="1" dirty="0">
              <a:solidFill>
                <a:schemeClr val="bg1"/>
              </a:solidFill>
              <a:latin typeface="+mn-lt"/>
            </a:rPr>
            <a:t>Clinical applications</a:t>
          </a:r>
        </a:p>
      </dgm:t>
    </dgm:pt>
    <dgm:pt modelId="{B5ABC04A-6B87-4D99-8F49-516E255F1EAB}" type="parTrans" cxnId="{06B10CA4-7744-4AC6-BF70-D700F47759BB}">
      <dgm:prSet/>
      <dgm:spPr/>
      <dgm:t>
        <a:bodyPr/>
        <a:lstStyle/>
        <a:p>
          <a:endParaRPr lang="en-IN"/>
        </a:p>
      </dgm:t>
    </dgm:pt>
    <dgm:pt modelId="{8D4EDFAE-2FFF-48F9-8B1A-44F2BA5DFC98}" type="sibTrans" cxnId="{06B10CA4-7744-4AC6-BF70-D700F47759BB}">
      <dgm:prSet/>
      <dgm:spPr/>
      <dgm:t>
        <a:bodyPr/>
        <a:lstStyle/>
        <a:p>
          <a:endParaRPr lang="en-IN"/>
        </a:p>
      </dgm:t>
    </dgm:pt>
    <dgm:pt modelId="{F824C780-23E8-4449-A805-D1EC2F3E7142}">
      <dgm:prSet phldrT="[Text]" custT="1"/>
      <dgm:spPr/>
      <dgm:t>
        <a:bodyPr/>
        <a:lstStyle/>
        <a:p>
          <a:r>
            <a:rPr lang="en-IN" sz="900" b="1" i="0">
              <a:solidFill>
                <a:schemeClr val="bg1"/>
              </a:solidFill>
              <a:latin typeface="+mn-lt"/>
            </a:rPr>
            <a:t>Drug Intelligence</a:t>
          </a:r>
          <a:endParaRPr lang="en-IN" sz="900" b="1" dirty="0">
            <a:solidFill>
              <a:schemeClr val="bg1"/>
            </a:solidFill>
            <a:latin typeface="+mn-lt"/>
          </a:endParaRPr>
        </a:p>
      </dgm:t>
    </dgm:pt>
    <dgm:pt modelId="{CCE10986-1D5F-4533-BB57-7FF6E6E8F45D}" type="parTrans" cxnId="{E1A6EF9C-D99A-4E6C-9F6C-27C0BD933ED3}">
      <dgm:prSet/>
      <dgm:spPr/>
      <dgm:t>
        <a:bodyPr/>
        <a:lstStyle/>
        <a:p>
          <a:endParaRPr lang="en-IN"/>
        </a:p>
      </dgm:t>
    </dgm:pt>
    <dgm:pt modelId="{55BA8007-B079-4F71-890F-E026DDE5868D}" type="sibTrans" cxnId="{E1A6EF9C-D99A-4E6C-9F6C-27C0BD933ED3}">
      <dgm:prSet/>
      <dgm:spPr/>
      <dgm:t>
        <a:bodyPr/>
        <a:lstStyle/>
        <a:p>
          <a:endParaRPr lang="en-IN"/>
        </a:p>
      </dgm:t>
    </dgm:pt>
    <dgm:pt modelId="{E498FACD-9FA9-4D1A-8F83-E33EC161CF30}">
      <dgm:prSet phldrT="[Text]" custT="1"/>
      <dgm:spPr/>
      <dgm:t>
        <a:bodyPr/>
        <a:lstStyle/>
        <a:p>
          <a:r>
            <a:rPr lang="en-IN" sz="900" b="1" i="0">
              <a:solidFill>
                <a:schemeClr val="bg1"/>
              </a:solidFill>
              <a:latin typeface="+mn-lt"/>
            </a:rPr>
            <a:t>Disease Analytics</a:t>
          </a:r>
          <a:endParaRPr lang="en-IN" sz="900" b="1" dirty="0">
            <a:solidFill>
              <a:schemeClr val="bg1"/>
            </a:solidFill>
            <a:latin typeface="+mn-lt"/>
          </a:endParaRPr>
        </a:p>
      </dgm:t>
    </dgm:pt>
    <dgm:pt modelId="{6B8241DE-51D8-4E95-BAFB-D401E83BADC7}" type="parTrans" cxnId="{85ECA15E-AB6E-49B6-AC95-57845EC7CCF7}">
      <dgm:prSet/>
      <dgm:spPr/>
      <dgm:t>
        <a:bodyPr/>
        <a:lstStyle/>
        <a:p>
          <a:endParaRPr lang="en-IN"/>
        </a:p>
      </dgm:t>
    </dgm:pt>
    <dgm:pt modelId="{092691AF-865A-424F-BD93-228272BFB4AA}" type="sibTrans" cxnId="{85ECA15E-AB6E-49B6-AC95-57845EC7CCF7}">
      <dgm:prSet/>
      <dgm:spPr/>
      <dgm:t>
        <a:bodyPr/>
        <a:lstStyle/>
        <a:p>
          <a:endParaRPr lang="en-IN"/>
        </a:p>
      </dgm:t>
    </dgm:pt>
    <dgm:pt modelId="{9103F82E-32AD-45FC-B3BB-96D9B1F65AC0}">
      <dgm:prSet phldrT="[Text]" custT="1"/>
      <dgm:spPr/>
      <dgm:t>
        <a:bodyPr/>
        <a:lstStyle/>
        <a:p>
          <a:r>
            <a:rPr lang="en-IN" sz="900" b="1" i="0">
              <a:solidFill>
                <a:schemeClr val="bg1"/>
              </a:solidFill>
              <a:latin typeface="+mn-lt"/>
            </a:rPr>
            <a:t>Sponsor Intelligence</a:t>
          </a:r>
          <a:endParaRPr lang="en-IN" sz="900" b="1" dirty="0">
            <a:solidFill>
              <a:schemeClr val="bg1"/>
            </a:solidFill>
            <a:latin typeface="+mn-lt"/>
          </a:endParaRPr>
        </a:p>
      </dgm:t>
    </dgm:pt>
    <dgm:pt modelId="{BE745CD7-FCB8-49DA-9F36-A88BFD4F92DF}" type="parTrans" cxnId="{5F316D0A-684E-413F-A27D-1500AF89AD96}">
      <dgm:prSet/>
      <dgm:spPr/>
      <dgm:t>
        <a:bodyPr/>
        <a:lstStyle/>
        <a:p>
          <a:endParaRPr lang="en-IN"/>
        </a:p>
      </dgm:t>
    </dgm:pt>
    <dgm:pt modelId="{D685B41D-7A10-46C9-BA4F-F56509824598}" type="sibTrans" cxnId="{5F316D0A-684E-413F-A27D-1500AF89AD96}">
      <dgm:prSet/>
      <dgm:spPr/>
      <dgm:t>
        <a:bodyPr/>
        <a:lstStyle/>
        <a:p>
          <a:endParaRPr lang="en-IN"/>
        </a:p>
      </dgm:t>
    </dgm:pt>
    <dgm:pt modelId="{90093BA1-11E3-4841-A9F5-D6B6B016C017}">
      <dgm:prSet phldrT="[Text]" custT="1"/>
      <dgm:spPr/>
      <dgm:t>
        <a:bodyPr/>
        <a:lstStyle/>
        <a:p>
          <a:r>
            <a:rPr lang="en-IN" sz="900" b="1" i="0">
              <a:solidFill>
                <a:schemeClr val="bg1"/>
              </a:solidFill>
              <a:latin typeface="+mn-lt"/>
            </a:rPr>
            <a:t>Network &amp; Graph</a:t>
          </a:r>
          <a:endParaRPr lang="en-IN" sz="900" b="1" dirty="0">
            <a:solidFill>
              <a:schemeClr val="bg1"/>
            </a:solidFill>
            <a:latin typeface="+mn-lt"/>
          </a:endParaRPr>
        </a:p>
      </dgm:t>
    </dgm:pt>
    <dgm:pt modelId="{056235D8-33FA-42AA-94FB-FFBC0A115045}" type="parTrans" cxnId="{65B3D053-5368-4CE8-9486-92A643CA1481}">
      <dgm:prSet/>
      <dgm:spPr/>
      <dgm:t>
        <a:bodyPr/>
        <a:lstStyle/>
        <a:p>
          <a:endParaRPr lang="en-IN"/>
        </a:p>
      </dgm:t>
    </dgm:pt>
    <dgm:pt modelId="{E65A04B3-5F47-4E04-B855-1630FCB94B6E}" type="sibTrans" cxnId="{65B3D053-5368-4CE8-9486-92A643CA1481}">
      <dgm:prSet/>
      <dgm:spPr/>
      <dgm:t>
        <a:bodyPr/>
        <a:lstStyle/>
        <a:p>
          <a:endParaRPr lang="en-IN"/>
        </a:p>
      </dgm:t>
    </dgm:pt>
    <dgm:pt modelId="{2170E1B3-7B52-474B-AA4D-50E4A602DA17}">
      <dgm:prSet phldrT="[Text]" phldr="0" custT="1"/>
      <dgm:spPr/>
      <dgm:t>
        <a:bodyPr/>
        <a:lstStyle/>
        <a:p>
          <a:r>
            <a:rPr lang="en-IN" sz="900" b="1" i="0" dirty="0">
              <a:solidFill>
                <a:schemeClr val="bg1"/>
              </a:solidFill>
              <a:latin typeface="+mn-lt"/>
            </a:rPr>
            <a:t>Geo &amp; Temporal</a:t>
          </a:r>
          <a:endParaRPr lang="en-IN" sz="900" b="1" dirty="0">
            <a:solidFill>
              <a:schemeClr val="bg1"/>
            </a:solidFill>
            <a:latin typeface="+mn-lt"/>
          </a:endParaRPr>
        </a:p>
      </dgm:t>
    </dgm:pt>
    <dgm:pt modelId="{1097FA09-8F93-406A-A62F-209BFE9A3E45}" type="parTrans" cxnId="{A0717A56-B858-4133-A5EF-94A9B3760C2E}">
      <dgm:prSet/>
      <dgm:spPr/>
      <dgm:t>
        <a:bodyPr/>
        <a:lstStyle/>
        <a:p>
          <a:endParaRPr lang="en-IN"/>
        </a:p>
      </dgm:t>
    </dgm:pt>
    <dgm:pt modelId="{1B4DD4DA-1BEC-4EC7-80E9-459957A73D26}" type="sibTrans" cxnId="{A0717A56-B858-4133-A5EF-94A9B3760C2E}">
      <dgm:prSet/>
      <dgm:spPr/>
      <dgm:t>
        <a:bodyPr/>
        <a:lstStyle/>
        <a:p>
          <a:endParaRPr lang="en-IN"/>
        </a:p>
      </dgm:t>
    </dgm:pt>
    <dgm:pt modelId="{D1885796-A5A6-4EEB-BAF4-DF01B31F6DA8}" type="pres">
      <dgm:prSet presAssocID="{D8D8BFFD-A85B-4C2E-B34B-5DAF0D9434DC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EC25CDA-40BB-4F4C-A036-6899384222BC}" type="pres">
      <dgm:prSet presAssocID="{8F389E58-2D4D-4DB1-ABDB-0DA0291DC54D}" presName="centerShape" presStyleLbl="node0" presStyleIdx="0" presStyleCnt="1"/>
      <dgm:spPr/>
    </dgm:pt>
    <dgm:pt modelId="{08CFEABC-2D02-49F1-BF46-F05C8E339AEF}" type="pres">
      <dgm:prSet presAssocID="{F824C780-23E8-4449-A805-D1EC2F3E7142}" presName="node" presStyleLbl="node1" presStyleIdx="0" presStyleCnt="5">
        <dgm:presLayoutVars>
          <dgm:bulletEnabled val="1"/>
        </dgm:presLayoutVars>
      </dgm:prSet>
      <dgm:spPr/>
    </dgm:pt>
    <dgm:pt modelId="{1F76E2A1-FCF9-4FC1-B45A-6C2852738E86}" type="pres">
      <dgm:prSet presAssocID="{F824C780-23E8-4449-A805-D1EC2F3E7142}" presName="dummy" presStyleCnt="0"/>
      <dgm:spPr/>
    </dgm:pt>
    <dgm:pt modelId="{38506DA9-02AB-4619-981D-05ED0956B86B}" type="pres">
      <dgm:prSet presAssocID="{55BA8007-B079-4F71-890F-E026DDE5868D}" presName="sibTrans" presStyleLbl="sibTrans2D1" presStyleIdx="0" presStyleCnt="5"/>
      <dgm:spPr/>
    </dgm:pt>
    <dgm:pt modelId="{B4AD59A1-1736-4BAF-A482-497F375F63B4}" type="pres">
      <dgm:prSet presAssocID="{E498FACD-9FA9-4D1A-8F83-E33EC161CF30}" presName="node" presStyleLbl="node1" presStyleIdx="1" presStyleCnt="5">
        <dgm:presLayoutVars>
          <dgm:bulletEnabled val="1"/>
        </dgm:presLayoutVars>
      </dgm:prSet>
      <dgm:spPr/>
    </dgm:pt>
    <dgm:pt modelId="{95B5019E-3CC0-4A08-A4C8-65E7DD6593FF}" type="pres">
      <dgm:prSet presAssocID="{E498FACD-9FA9-4D1A-8F83-E33EC161CF30}" presName="dummy" presStyleCnt="0"/>
      <dgm:spPr/>
    </dgm:pt>
    <dgm:pt modelId="{820024F8-5B42-434D-8C8C-E9DEE3A66C90}" type="pres">
      <dgm:prSet presAssocID="{092691AF-865A-424F-BD93-228272BFB4AA}" presName="sibTrans" presStyleLbl="sibTrans2D1" presStyleIdx="1" presStyleCnt="5"/>
      <dgm:spPr/>
    </dgm:pt>
    <dgm:pt modelId="{55258307-55F7-487E-A814-C63C48F0FDA2}" type="pres">
      <dgm:prSet presAssocID="{9103F82E-32AD-45FC-B3BB-96D9B1F65AC0}" presName="node" presStyleLbl="node1" presStyleIdx="2" presStyleCnt="5">
        <dgm:presLayoutVars>
          <dgm:bulletEnabled val="1"/>
        </dgm:presLayoutVars>
      </dgm:prSet>
      <dgm:spPr/>
    </dgm:pt>
    <dgm:pt modelId="{88A7B2B6-63B6-45A3-BDAA-BBB8C4140E85}" type="pres">
      <dgm:prSet presAssocID="{9103F82E-32AD-45FC-B3BB-96D9B1F65AC0}" presName="dummy" presStyleCnt="0"/>
      <dgm:spPr/>
    </dgm:pt>
    <dgm:pt modelId="{57CD0422-177A-4E2D-B168-D1A478B1D7BB}" type="pres">
      <dgm:prSet presAssocID="{D685B41D-7A10-46C9-BA4F-F56509824598}" presName="sibTrans" presStyleLbl="sibTrans2D1" presStyleIdx="2" presStyleCnt="5"/>
      <dgm:spPr/>
    </dgm:pt>
    <dgm:pt modelId="{5E1F7D32-1D54-4291-AEF4-8156E3413AFB}" type="pres">
      <dgm:prSet presAssocID="{90093BA1-11E3-4841-A9F5-D6B6B016C017}" presName="node" presStyleLbl="node1" presStyleIdx="3" presStyleCnt="5">
        <dgm:presLayoutVars>
          <dgm:bulletEnabled val="1"/>
        </dgm:presLayoutVars>
      </dgm:prSet>
      <dgm:spPr/>
    </dgm:pt>
    <dgm:pt modelId="{0A467C73-2E91-4E77-9C8B-39B370F2D842}" type="pres">
      <dgm:prSet presAssocID="{90093BA1-11E3-4841-A9F5-D6B6B016C017}" presName="dummy" presStyleCnt="0"/>
      <dgm:spPr/>
    </dgm:pt>
    <dgm:pt modelId="{DCEF43FE-4C33-4979-A84D-ABC7251ECEF6}" type="pres">
      <dgm:prSet presAssocID="{E65A04B3-5F47-4E04-B855-1630FCB94B6E}" presName="sibTrans" presStyleLbl="sibTrans2D1" presStyleIdx="3" presStyleCnt="5"/>
      <dgm:spPr/>
    </dgm:pt>
    <dgm:pt modelId="{28A1DE0E-2CA3-4A23-81D3-9DB505C2A6F9}" type="pres">
      <dgm:prSet presAssocID="{2170E1B3-7B52-474B-AA4D-50E4A602DA17}" presName="node" presStyleLbl="node1" presStyleIdx="4" presStyleCnt="5">
        <dgm:presLayoutVars>
          <dgm:bulletEnabled val="1"/>
        </dgm:presLayoutVars>
      </dgm:prSet>
      <dgm:spPr/>
    </dgm:pt>
    <dgm:pt modelId="{4B01E30C-66E0-4749-B0D8-465B09521CDB}" type="pres">
      <dgm:prSet presAssocID="{2170E1B3-7B52-474B-AA4D-50E4A602DA17}" presName="dummy" presStyleCnt="0"/>
      <dgm:spPr/>
    </dgm:pt>
    <dgm:pt modelId="{72302A91-A4D2-44CA-BED8-B43F9A415D96}" type="pres">
      <dgm:prSet presAssocID="{1B4DD4DA-1BEC-4EC7-80E9-459957A73D26}" presName="sibTrans" presStyleLbl="sibTrans2D1" presStyleIdx="4" presStyleCnt="5"/>
      <dgm:spPr/>
    </dgm:pt>
  </dgm:ptLst>
  <dgm:cxnLst>
    <dgm:cxn modelId="{5F316D0A-684E-413F-A27D-1500AF89AD96}" srcId="{8F389E58-2D4D-4DB1-ABDB-0DA0291DC54D}" destId="{9103F82E-32AD-45FC-B3BB-96D9B1F65AC0}" srcOrd="2" destOrd="0" parTransId="{BE745CD7-FCB8-49DA-9F36-A88BFD4F92DF}" sibTransId="{D685B41D-7A10-46C9-BA4F-F56509824598}"/>
    <dgm:cxn modelId="{85BB270B-AA36-4C50-B585-B8EE416A2523}" type="presOf" srcId="{9103F82E-32AD-45FC-B3BB-96D9B1F65AC0}" destId="{55258307-55F7-487E-A814-C63C48F0FDA2}" srcOrd="0" destOrd="0" presId="urn:microsoft.com/office/officeart/2005/8/layout/radial6"/>
    <dgm:cxn modelId="{52EFA21C-FDA7-4916-BA39-73FE2E6BD8C8}" type="presOf" srcId="{8F389E58-2D4D-4DB1-ABDB-0DA0291DC54D}" destId="{9EC25CDA-40BB-4F4C-A036-6899384222BC}" srcOrd="0" destOrd="0" presId="urn:microsoft.com/office/officeart/2005/8/layout/radial6"/>
    <dgm:cxn modelId="{C061D12E-1BA8-4175-A715-2F6C79BB2022}" type="presOf" srcId="{90093BA1-11E3-4841-A9F5-D6B6B016C017}" destId="{5E1F7D32-1D54-4291-AEF4-8156E3413AFB}" srcOrd="0" destOrd="0" presId="urn:microsoft.com/office/officeart/2005/8/layout/radial6"/>
    <dgm:cxn modelId="{A40F8736-E722-4A0F-9EBC-DFB2C4657272}" type="presOf" srcId="{D685B41D-7A10-46C9-BA4F-F56509824598}" destId="{57CD0422-177A-4E2D-B168-D1A478B1D7BB}" srcOrd="0" destOrd="0" presId="urn:microsoft.com/office/officeart/2005/8/layout/radial6"/>
    <dgm:cxn modelId="{85ECA15E-AB6E-49B6-AC95-57845EC7CCF7}" srcId="{8F389E58-2D4D-4DB1-ABDB-0DA0291DC54D}" destId="{E498FACD-9FA9-4D1A-8F83-E33EC161CF30}" srcOrd="1" destOrd="0" parTransId="{6B8241DE-51D8-4E95-BAFB-D401E83BADC7}" sibTransId="{092691AF-865A-424F-BD93-228272BFB4AA}"/>
    <dgm:cxn modelId="{A95DAA65-8D9A-4FFB-AC7A-4A70BD661382}" type="presOf" srcId="{F824C780-23E8-4449-A805-D1EC2F3E7142}" destId="{08CFEABC-2D02-49F1-BF46-F05C8E339AEF}" srcOrd="0" destOrd="0" presId="urn:microsoft.com/office/officeart/2005/8/layout/radial6"/>
    <dgm:cxn modelId="{B859F747-7D01-4384-8652-7E1DDCCB136C}" type="presOf" srcId="{E65A04B3-5F47-4E04-B855-1630FCB94B6E}" destId="{DCEF43FE-4C33-4979-A84D-ABC7251ECEF6}" srcOrd="0" destOrd="0" presId="urn:microsoft.com/office/officeart/2005/8/layout/radial6"/>
    <dgm:cxn modelId="{9C85154B-A93F-421E-9920-13B1DFE9131D}" type="presOf" srcId="{2170E1B3-7B52-474B-AA4D-50E4A602DA17}" destId="{28A1DE0E-2CA3-4A23-81D3-9DB505C2A6F9}" srcOrd="0" destOrd="0" presId="urn:microsoft.com/office/officeart/2005/8/layout/radial6"/>
    <dgm:cxn modelId="{821FC373-76A2-4FB3-AB89-AEFACA70A054}" type="presOf" srcId="{D8D8BFFD-A85B-4C2E-B34B-5DAF0D9434DC}" destId="{D1885796-A5A6-4EEB-BAF4-DF01B31F6DA8}" srcOrd="0" destOrd="0" presId="urn:microsoft.com/office/officeart/2005/8/layout/radial6"/>
    <dgm:cxn modelId="{65B3D053-5368-4CE8-9486-92A643CA1481}" srcId="{8F389E58-2D4D-4DB1-ABDB-0DA0291DC54D}" destId="{90093BA1-11E3-4841-A9F5-D6B6B016C017}" srcOrd="3" destOrd="0" parTransId="{056235D8-33FA-42AA-94FB-FFBC0A115045}" sibTransId="{E65A04B3-5F47-4E04-B855-1630FCB94B6E}"/>
    <dgm:cxn modelId="{A0717A56-B858-4133-A5EF-94A9B3760C2E}" srcId="{8F389E58-2D4D-4DB1-ABDB-0DA0291DC54D}" destId="{2170E1B3-7B52-474B-AA4D-50E4A602DA17}" srcOrd="4" destOrd="0" parTransId="{1097FA09-8F93-406A-A62F-209BFE9A3E45}" sibTransId="{1B4DD4DA-1BEC-4EC7-80E9-459957A73D26}"/>
    <dgm:cxn modelId="{E932E47E-8B42-42D8-A947-5B47336AF421}" type="presOf" srcId="{55BA8007-B079-4F71-890F-E026DDE5868D}" destId="{38506DA9-02AB-4619-981D-05ED0956B86B}" srcOrd="0" destOrd="0" presId="urn:microsoft.com/office/officeart/2005/8/layout/radial6"/>
    <dgm:cxn modelId="{BDE5A97F-A50C-4F19-B8EC-FA4D06460C82}" type="presOf" srcId="{092691AF-865A-424F-BD93-228272BFB4AA}" destId="{820024F8-5B42-434D-8C8C-E9DEE3A66C90}" srcOrd="0" destOrd="0" presId="urn:microsoft.com/office/officeart/2005/8/layout/radial6"/>
    <dgm:cxn modelId="{E1A6EF9C-D99A-4E6C-9F6C-27C0BD933ED3}" srcId="{8F389E58-2D4D-4DB1-ABDB-0DA0291DC54D}" destId="{F824C780-23E8-4449-A805-D1EC2F3E7142}" srcOrd="0" destOrd="0" parTransId="{CCE10986-1D5F-4533-BB57-7FF6E6E8F45D}" sibTransId="{55BA8007-B079-4F71-890F-E026DDE5868D}"/>
    <dgm:cxn modelId="{06B10CA4-7744-4AC6-BF70-D700F47759BB}" srcId="{D8D8BFFD-A85B-4C2E-B34B-5DAF0D9434DC}" destId="{8F389E58-2D4D-4DB1-ABDB-0DA0291DC54D}" srcOrd="0" destOrd="0" parTransId="{B5ABC04A-6B87-4D99-8F49-516E255F1EAB}" sibTransId="{8D4EDFAE-2FFF-48F9-8B1A-44F2BA5DFC98}"/>
    <dgm:cxn modelId="{827E9FC0-F295-41BE-82B6-C100D6E46DFB}" type="presOf" srcId="{1B4DD4DA-1BEC-4EC7-80E9-459957A73D26}" destId="{72302A91-A4D2-44CA-BED8-B43F9A415D96}" srcOrd="0" destOrd="0" presId="urn:microsoft.com/office/officeart/2005/8/layout/radial6"/>
    <dgm:cxn modelId="{24D92DF7-339F-426A-8FE1-D9A77C8943BE}" type="presOf" srcId="{E498FACD-9FA9-4D1A-8F83-E33EC161CF30}" destId="{B4AD59A1-1736-4BAF-A482-497F375F63B4}" srcOrd="0" destOrd="0" presId="urn:microsoft.com/office/officeart/2005/8/layout/radial6"/>
    <dgm:cxn modelId="{4726254B-4933-42B2-9ADB-FA01AFEEC400}" type="presParOf" srcId="{D1885796-A5A6-4EEB-BAF4-DF01B31F6DA8}" destId="{9EC25CDA-40BB-4F4C-A036-6899384222BC}" srcOrd="0" destOrd="0" presId="urn:microsoft.com/office/officeart/2005/8/layout/radial6"/>
    <dgm:cxn modelId="{C5D6B121-5E6E-497B-B6B4-95454CD92E65}" type="presParOf" srcId="{D1885796-A5A6-4EEB-BAF4-DF01B31F6DA8}" destId="{08CFEABC-2D02-49F1-BF46-F05C8E339AEF}" srcOrd="1" destOrd="0" presId="urn:microsoft.com/office/officeart/2005/8/layout/radial6"/>
    <dgm:cxn modelId="{020FF6AB-C2B7-41AD-8FB2-23502DE4ED4B}" type="presParOf" srcId="{D1885796-A5A6-4EEB-BAF4-DF01B31F6DA8}" destId="{1F76E2A1-FCF9-4FC1-B45A-6C2852738E86}" srcOrd="2" destOrd="0" presId="urn:microsoft.com/office/officeart/2005/8/layout/radial6"/>
    <dgm:cxn modelId="{696722D2-62B4-40F5-8334-A4A6A6892599}" type="presParOf" srcId="{D1885796-A5A6-4EEB-BAF4-DF01B31F6DA8}" destId="{38506DA9-02AB-4619-981D-05ED0956B86B}" srcOrd="3" destOrd="0" presId="urn:microsoft.com/office/officeart/2005/8/layout/radial6"/>
    <dgm:cxn modelId="{06AC85A4-03CA-495B-B6B5-043EB80B20B4}" type="presParOf" srcId="{D1885796-A5A6-4EEB-BAF4-DF01B31F6DA8}" destId="{B4AD59A1-1736-4BAF-A482-497F375F63B4}" srcOrd="4" destOrd="0" presId="urn:microsoft.com/office/officeart/2005/8/layout/radial6"/>
    <dgm:cxn modelId="{CAC002B8-096E-479A-A79A-E680370AD30F}" type="presParOf" srcId="{D1885796-A5A6-4EEB-BAF4-DF01B31F6DA8}" destId="{95B5019E-3CC0-4A08-A4C8-65E7DD6593FF}" srcOrd="5" destOrd="0" presId="urn:microsoft.com/office/officeart/2005/8/layout/radial6"/>
    <dgm:cxn modelId="{D07B1B7C-7F33-45DF-B6AE-684449BDACDA}" type="presParOf" srcId="{D1885796-A5A6-4EEB-BAF4-DF01B31F6DA8}" destId="{820024F8-5B42-434D-8C8C-E9DEE3A66C90}" srcOrd="6" destOrd="0" presId="urn:microsoft.com/office/officeart/2005/8/layout/radial6"/>
    <dgm:cxn modelId="{58FD3AF2-63A3-4DF7-BD29-7496B560C5D0}" type="presParOf" srcId="{D1885796-A5A6-4EEB-BAF4-DF01B31F6DA8}" destId="{55258307-55F7-487E-A814-C63C48F0FDA2}" srcOrd="7" destOrd="0" presId="urn:microsoft.com/office/officeart/2005/8/layout/radial6"/>
    <dgm:cxn modelId="{7845B810-FD94-4D9A-A7C4-4D22F20C38B0}" type="presParOf" srcId="{D1885796-A5A6-4EEB-BAF4-DF01B31F6DA8}" destId="{88A7B2B6-63B6-45A3-BDAA-BBB8C4140E85}" srcOrd="8" destOrd="0" presId="urn:microsoft.com/office/officeart/2005/8/layout/radial6"/>
    <dgm:cxn modelId="{29B54003-5DC9-492C-8665-CAA86E8B466B}" type="presParOf" srcId="{D1885796-A5A6-4EEB-BAF4-DF01B31F6DA8}" destId="{57CD0422-177A-4E2D-B168-D1A478B1D7BB}" srcOrd="9" destOrd="0" presId="urn:microsoft.com/office/officeart/2005/8/layout/radial6"/>
    <dgm:cxn modelId="{D25AE63A-56C3-47F7-90AD-97E9E787B7A1}" type="presParOf" srcId="{D1885796-A5A6-4EEB-BAF4-DF01B31F6DA8}" destId="{5E1F7D32-1D54-4291-AEF4-8156E3413AFB}" srcOrd="10" destOrd="0" presId="urn:microsoft.com/office/officeart/2005/8/layout/radial6"/>
    <dgm:cxn modelId="{3294E577-6643-4548-BA03-954F88F60A9B}" type="presParOf" srcId="{D1885796-A5A6-4EEB-BAF4-DF01B31F6DA8}" destId="{0A467C73-2E91-4E77-9C8B-39B370F2D842}" srcOrd="11" destOrd="0" presId="urn:microsoft.com/office/officeart/2005/8/layout/radial6"/>
    <dgm:cxn modelId="{1AF1E983-4506-4401-B056-0F7DD10F62AE}" type="presParOf" srcId="{D1885796-A5A6-4EEB-BAF4-DF01B31F6DA8}" destId="{DCEF43FE-4C33-4979-A84D-ABC7251ECEF6}" srcOrd="12" destOrd="0" presId="urn:microsoft.com/office/officeart/2005/8/layout/radial6"/>
    <dgm:cxn modelId="{16561A33-EE71-4EC2-9454-58B59A9766FA}" type="presParOf" srcId="{D1885796-A5A6-4EEB-BAF4-DF01B31F6DA8}" destId="{28A1DE0E-2CA3-4A23-81D3-9DB505C2A6F9}" srcOrd="13" destOrd="0" presId="urn:microsoft.com/office/officeart/2005/8/layout/radial6"/>
    <dgm:cxn modelId="{E65E9C26-5EBA-4BA0-A8DF-CA15FF13F4EB}" type="presParOf" srcId="{D1885796-A5A6-4EEB-BAF4-DF01B31F6DA8}" destId="{4B01E30C-66E0-4749-B0D8-465B09521CDB}" srcOrd="14" destOrd="0" presId="urn:microsoft.com/office/officeart/2005/8/layout/radial6"/>
    <dgm:cxn modelId="{0A0544C6-E9F3-4A90-8237-5979A54D9297}" type="presParOf" srcId="{D1885796-A5A6-4EEB-BAF4-DF01B31F6DA8}" destId="{72302A91-A4D2-44CA-BED8-B43F9A415D96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302A91-A4D2-44CA-BED8-B43F9A415D96}">
      <dsp:nvSpPr>
        <dsp:cNvPr id="0" name=""/>
        <dsp:cNvSpPr/>
      </dsp:nvSpPr>
      <dsp:spPr>
        <a:xfrm>
          <a:off x="594468" y="382350"/>
          <a:ext cx="2545782" cy="2545782"/>
        </a:xfrm>
        <a:prstGeom prst="blockArc">
          <a:avLst>
            <a:gd name="adj1" fmla="val 11880000"/>
            <a:gd name="adj2" fmla="val 16200000"/>
            <a:gd name="adj3" fmla="val 4643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F43FE-4C33-4979-A84D-ABC7251ECEF6}">
      <dsp:nvSpPr>
        <dsp:cNvPr id="0" name=""/>
        <dsp:cNvSpPr/>
      </dsp:nvSpPr>
      <dsp:spPr>
        <a:xfrm>
          <a:off x="594468" y="382350"/>
          <a:ext cx="2545782" cy="2545782"/>
        </a:xfrm>
        <a:prstGeom prst="blockArc">
          <a:avLst>
            <a:gd name="adj1" fmla="val 7560000"/>
            <a:gd name="adj2" fmla="val 11880000"/>
            <a:gd name="adj3" fmla="val 4643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D0422-177A-4E2D-B168-D1A478B1D7BB}">
      <dsp:nvSpPr>
        <dsp:cNvPr id="0" name=""/>
        <dsp:cNvSpPr/>
      </dsp:nvSpPr>
      <dsp:spPr>
        <a:xfrm>
          <a:off x="594468" y="382350"/>
          <a:ext cx="2545782" cy="2545782"/>
        </a:xfrm>
        <a:prstGeom prst="blockArc">
          <a:avLst>
            <a:gd name="adj1" fmla="val 3240000"/>
            <a:gd name="adj2" fmla="val 7560000"/>
            <a:gd name="adj3" fmla="val 464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024F8-5B42-434D-8C8C-E9DEE3A66C90}">
      <dsp:nvSpPr>
        <dsp:cNvPr id="0" name=""/>
        <dsp:cNvSpPr/>
      </dsp:nvSpPr>
      <dsp:spPr>
        <a:xfrm>
          <a:off x="594468" y="382350"/>
          <a:ext cx="2545782" cy="2545782"/>
        </a:xfrm>
        <a:prstGeom prst="blockArc">
          <a:avLst>
            <a:gd name="adj1" fmla="val 20520000"/>
            <a:gd name="adj2" fmla="val 3240000"/>
            <a:gd name="adj3" fmla="val 4643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506DA9-02AB-4619-981D-05ED0956B86B}">
      <dsp:nvSpPr>
        <dsp:cNvPr id="0" name=""/>
        <dsp:cNvSpPr/>
      </dsp:nvSpPr>
      <dsp:spPr>
        <a:xfrm>
          <a:off x="594468" y="382350"/>
          <a:ext cx="2545782" cy="2545782"/>
        </a:xfrm>
        <a:prstGeom prst="blockArc">
          <a:avLst>
            <a:gd name="adj1" fmla="val 16200000"/>
            <a:gd name="adj2" fmla="val 20520000"/>
            <a:gd name="adj3" fmla="val 4643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25CDA-40BB-4F4C-A036-6899384222BC}">
      <dsp:nvSpPr>
        <dsp:cNvPr id="0" name=""/>
        <dsp:cNvSpPr/>
      </dsp:nvSpPr>
      <dsp:spPr>
        <a:xfrm>
          <a:off x="1281074" y="1068956"/>
          <a:ext cx="1172570" cy="1172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solidFill>
                <a:schemeClr val="bg1"/>
              </a:solidFill>
              <a:latin typeface="+mn-lt"/>
            </a:rPr>
            <a:t>Clinical applications</a:t>
          </a:r>
        </a:p>
      </dsp:txBody>
      <dsp:txXfrm>
        <a:off x="1452793" y="1240675"/>
        <a:ext cx="829132" cy="829132"/>
      </dsp:txXfrm>
    </dsp:sp>
    <dsp:sp modelId="{08CFEABC-2D02-49F1-BF46-F05C8E339AEF}">
      <dsp:nvSpPr>
        <dsp:cNvPr id="0" name=""/>
        <dsp:cNvSpPr/>
      </dsp:nvSpPr>
      <dsp:spPr>
        <a:xfrm>
          <a:off x="1456960" y="1499"/>
          <a:ext cx="820799" cy="82079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i="0" kern="1200">
              <a:solidFill>
                <a:schemeClr val="bg1"/>
              </a:solidFill>
              <a:latin typeface="+mn-lt"/>
            </a:rPr>
            <a:t>Drug Intelligence</a:t>
          </a:r>
          <a:endParaRPr lang="en-IN" sz="900" b="1" kern="1200" dirty="0">
            <a:solidFill>
              <a:schemeClr val="bg1"/>
            </a:solidFill>
            <a:latin typeface="+mn-lt"/>
          </a:endParaRPr>
        </a:p>
      </dsp:txBody>
      <dsp:txXfrm>
        <a:off x="1577163" y="121702"/>
        <a:ext cx="580393" cy="580393"/>
      </dsp:txXfrm>
    </dsp:sp>
    <dsp:sp modelId="{B4AD59A1-1736-4BAF-A482-497F375F63B4}">
      <dsp:nvSpPr>
        <dsp:cNvPr id="0" name=""/>
        <dsp:cNvSpPr/>
      </dsp:nvSpPr>
      <dsp:spPr>
        <a:xfrm>
          <a:off x="2639449" y="860628"/>
          <a:ext cx="820799" cy="82079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i="0" kern="1200">
              <a:solidFill>
                <a:schemeClr val="bg1"/>
              </a:solidFill>
              <a:latin typeface="+mn-lt"/>
            </a:rPr>
            <a:t>Disease Analytics</a:t>
          </a:r>
          <a:endParaRPr lang="en-IN" sz="900" b="1" kern="1200" dirty="0">
            <a:solidFill>
              <a:schemeClr val="bg1"/>
            </a:solidFill>
            <a:latin typeface="+mn-lt"/>
          </a:endParaRPr>
        </a:p>
      </dsp:txBody>
      <dsp:txXfrm>
        <a:off x="2759652" y="980831"/>
        <a:ext cx="580393" cy="580393"/>
      </dsp:txXfrm>
    </dsp:sp>
    <dsp:sp modelId="{55258307-55F7-487E-A814-C63C48F0FDA2}">
      <dsp:nvSpPr>
        <dsp:cNvPr id="0" name=""/>
        <dsp:cNvSpPr/>
      </dsp:nvSpPr>
      <dsp:spPr>
        <a:xfrm>
          <a:off x="2187778" y="2250727"/>
          <a:ext cx="820799" cy="82079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i="0" kern="1200">
              <a:solidFill>
                <a:schemeClr val="bg1"/>
              </a:solidFill>
              <a:latin typeface="+mn-lt"/>
            </a:rPr>
            <a:t>Sponsor Intelligence</a:t>
          </a:r>
          <a:endParaRPr lang="en-IN" sz="900" b="1" kern="1200" dirty="0">
            <a:solidFill>
              <a:schemeClr val="bg1"/>
            </a:solidFill>
            <a:latin typeface="+mn-lt"/>
          </a:endParaRPr>
        </a:p>
      </dsp:txBody>
      <dsp:txXfrm>
        <a:off x="2307981" y="2370930"/>
        <a:ext cx="580393" cy="580393"/>
      </dsp:txXfrm>
    </dsp:sp>
    <dsp:sp modelId="{5E1F7D32-1D54-4291-AEF4-8156E3413AFB}">
      <dsp:nvSpPr>
        <dsp:cNvPr id="0" name=""/>
        <dsp:cNvSpPr/>
      </dsp:nvSpPr>
      <dsp:spPr>
        <a:xfrm>
          <a:off x="726141" y="2250727"/>
          <a:ext cx="820799" cy="82079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i="0" kern="1200">
              <a:solidFill>
                <a:schemeClr val="bg1"/>
              </a:solidFill>
              <a:latin typeface="+mn-lt"/>
            </a:rPr>
            <a:t>Network &amp; Graph</a:t>
          </a:r>
          <a:endParaRPr lang="en-IN" sz="900" b="1" kern="1200" dirty="0">
            <a:solidFill>
              <a:schemeClr val="bg1"/>
            </a:solidFill>
            <a:latin typeface="+mn-lt"/>
          </a:endParaRPr>
        </a:p>
      </dsp:txBody>
      <dsp:txXfrm>
        <a:off x="846344" y="2370930"/>
        <a:ext cx="580393" cy="580393"/>
      </dsp:txXfrm>
    </dsp:sp>
    <dsp:sp modelId="{28A1DE0E-2CA3-4A23-81D3-9DB505C2A6F9}">
      <dsp:nvSpPr>
        <dsp:cNvPr id="0" name=""/>
        <dsp:cNvSpPr/>
      </dsp:nvSpPr>
      <dsp:spPr>
        <a:xfrm>
          <a:off x="274471" y="860628"/>
          <a:ext cx="820799" cy="82079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i="0" kern="1200" dirty="0">
              <a:solidFill>
                <a:schemeClr val="bg1"/>
              </a:solidFill>
              <a:latin typeface="+mn-lt"/>
            </a:rPr>
            <a:t>Geo &amp; Temporal</a:t>
          </a:r>
          <a:endParaRPr lang="en-IN" sz="900" b="1" kern="1200" dirty="0">
            <a:solidFill>
              <a:schemeClr val="bg1"/>
            </a:solidFill>
            <a:latin typeface="+mn-lt"/>
          </a:endParaRPr>
        </a:p>
      </dsp:txBody>
      <dsp:txXfrm>
        <a:off x="394674" y="980831"/>
        <a:ext cx="580393" cy="580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89320" y="91440"/>
            <a:ext cx="3108960" cy="530352"/>
          </a:xfrm>
          <a:prstGeom prst="rect">
            <a:avLst/>
          </a:prstGeom>
          <a:solidFill>
            <a:srgbClr val="00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89320" y="731520"/>
            <a:ext cx="2651760" cy="530352"/>
          </a:xfrm>
          <a:prstGeom prst="rect">
            <a:avLst/>
          </a:prstGeom>
          <a:solidFill>
            <a:srgbClr val="005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89320" y="1371600"/>
            <a:ext cx="2926080" cy="530352"/>
          </a:xfrm>
          <a:prstGeom prst="rect">
            <a:avLst/>
          </a:prstGeom>
          <a:solidFill>
            <a:srgbClr val="00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89320" y="2011680"/>
            <a:ext cx="2286000" cy="530352"/>
          </a:xfrm>
          <a:prstGeom prst="rect">
            <a:avLst/>
          </a:prstGeom>
          <a:solidFill>
            <a:srgbClr val="00A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89320" y="2651760"/>
            <a:ext cx="2743200" cy="530352"/>
          </a:xfrm>
          <a:prstGeom prst="rect">
            <a:avLst/>
          </a:prstGeom>
          <a:solidFill>
            <a:srgbClr val="024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89320" y="3291840"/>
            <a:ext cx="2011680" cy="530352"/>
          </a:xfrm>
          <a:prstGeom prst="rect">
            <a:avLst/>
          </a:prstGeom>
          <a:solidFill>
            <a:srgbClr val="38B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22631"/>
            <a:ext cx="54864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FFFFFF"/>
                </a:solidFill>
                <a:latin typeface="Georgia"/>
              </a:rPr>
              <a:t>Clinical Trials</a:t>
            </a:r>
            <a:r>
              <a:rPr lang="en-IN" sz="3800" b="1" i="0" dirty="0">
                <a:solidFill>
                  <a:srgbClr val="FFFFFF"/>
                </a:solidFill>
                <a:latin typeface="Georgia"/>
              </a:rPr>
              <a:t> -</a:t>
            </a:r>
            <a:endParaRPr sz="38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817575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FFFFFF"/>
                </a:solidFill>
                <a:latin typeface="Georgia"/>
              </a:rPr>
              <a:t>Knowledge Graph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463" y="1550929"/>
            <a:ext cx="4937760" cy="32004"/>
          </a:xfrm>
          <a:prstGeom prst="rect">
            <a:avLst/>
          </a:prstGeom>
          <a:solidFill>
            <a:srgbClr val="02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685590-B83C-7054-DC2A-A2E7EF55D01A}"/>
              </a:ext>
            </a:extLst>
          </p:cNvPr>
          <p:cNvSpPr/>
          <p:nvPr/>
        </p:nvSpPr>
        <p:spPr>
          <a:xfrm>
            <a:off x="5989320" y="3931920"/>
            <a:ext cx="2545080" cy="530352"/>
          </a:xfrm>
          <a:prstGeom prst="rect">
            <a:avLst/>
          </a:prstGeom>
          <a:solidFill>
            <a:srgbClr val="00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50D5A5-C280-509D-903C-5E0E0AB670E8}"/>
              </a:ext>
            </a:extLst>
          </p:cNvPr>
          <p:cNvSpPr/>
          <p:nvPr/>
        </p:nvSpPr>
        <p:spPr>
          <a:xfrm>
            <a:off x="5989320" y="4572000"/>
            <a:ext cx="2999232" cy="530352"/>
          </a:xfrm>
          <a:prstGeom prst="rect">
            <a:avLst/>
          </a:prstGeom>
          <a:solidFill>
            <a:srgbClr val="00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2DCE9F33-B4FF-122A-630A-B1BFA1DC2A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4289802"/>
              </p:ext>
            </p:extLst>
          </p:nvPr>
        </p:nvGraphicFramePr>
        <p:xfrm>
          <a:off x="868680" y="1745751"/>
          <a:ext cx="3734720" cy="309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Georgia"/>
              </a:rPr>
              <a:t>What </a:t>
            </a:r>
            <a:r>
              <a:rPr lang="en-IN" sz="2600" b="1" i="0" dirty="0">
                <a:solidFill>
                  <a:srgbClr val="FFFFFF"/>
                </a:solidFill>
                <a:latin typeface="Georgia"/>
              </a:rPr>
              <a:t>I</a:t>
            </a:r>
            <a:r>
              <a:rPr sz="2600" b="1" i="0" dirty="0">
                <a:solidFill>
                  <a:srgbClr val="FFFFFF"/>
                </a:solidFill>
                <a:latin typeface="Georgia"/>
              </a:rPr>
              <a:t>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54864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8229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1498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9966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0D1B3E"/>
                </a:solidFill>
                <a:latin typeface="Georgia"/>
              </a:rPr>
              <a:t>Drug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 dirty="0">
                <a:solidFill>
                  <a:srgbClr val="5A7084"/>
                </a:solidFill>
                <a:latin typeface="Calibri"/>
              </a:rPr>
              <a:t>Evidence · Competition · Geography</a:t>
            </a:r>
            <a:r>
              <a:rPr lang="en-IN" sz="1050" dirty="0">
                <a:solidFill>
                  <a:srgbClr val="5A7084"/>
                </a:solidFill>
              </a:rPr>
              <a:t> · Multi-hop paths</a:t>
            </a:r>
            <a:endParaRPr sz="1050" b="0" i="0" dirty="0">
              <a:solidFill>
                <a:srgbClr val="5A7084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0040" y="1764792"/>
            <a:ext cx="54864" cy="6217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764792"/>
            <a:ext cx="8229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81965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013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0D1B3E"/>
                </a:solidFill>
                <a:latin typeface="Georgia"/>
              </a:rPr>
              <a:t>Disease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084832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7084"/>
                </a:solidFill>
                <a:latin typeface="Calibri"/>
              </a:rPr>
              <a:t>Landscape · Design · Phase · Enrollment · Sponsor mix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569464"/>
            <a:ext cx="54864" cy="6217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569464"/>
            <a:ext cx="8229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6243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606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0D1B3E"/>
                </a:solidFill>
                <a:latin typeface="Georgia"/>
              </a:rPr>
              <a:t>Sponsor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889504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7084"/>
                </a:solidFill>
                <a:latin typeface="Calibri"/>
              </a:rPr>
              <a:t>Portfolio · Geo reach · Pipeline · Drugs · Collaborators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BA1B8A8-3A1A-0C82-F872-79C05CDEBA10}"/>
              </a:ext>
            </a:extLst>
          </p:cNvPr>
          <p:cNvGrpSpPr/>
          <p:nvPr/>
        </p:nvGrpSpPr>
        <p:grpSpPr>
          <a:xfrm>
            <a:off x="320040" y="4227576"/>
            <a:ext cx="8366760" cy="621792"/>
            <a:chOff x="320040" y="3374136"/>
            <a:chExt cx="8366760" cy="621792"/>
          </a:xfrm>
        </p:grpSpPr>
        <p:sp>
          <p:nvSpPr>
            <p:cNvPr id="19" name="Rectangle 18"/>
            <p:cNvSpPr/>
            <p:nvPr/>
          </p:nvSpPr>
          <p:spPr>
            <a:xfrm>
              <a:off x="320040" y="3374136"/>
              <a:ext cx="54864" cy="621792"/>
            </a:xfrm>
            <a:prstGeom prst="rect">
              <a:avLst/>
            </a:prstGeom>
            <a:solidFill>
              <a:srgbClr val="845EC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57200" y="3374136"/>
              <a:ext cx="8229600" cy="6217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48640" y="3429000"/>
              <a:ext cx="54864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 dirty="0">
                  <a:solidFill>
                    <a:srgbClr val="845EC2"/>
                  </a:solidFill>
                  <a:latin typeface="Calibri"/>
                </a:rPr>
                <a:t>0</a:t>
              </a:r>
              <a:r>
                <a:rPr lang="en-IN" sz="1100" b="1" i="0" dirty="0">
                  <a:solidFill>
                    <a:srgbClr val="845EC2"/>
                  </a:solidFill>
                  <a:latin typeface="Calibri"/>
                </a:rPr>
                <a:t>5</a:t>
              </a:r>
              <a:endParaRPr sz="1100" b="1" i="0" dirty="0">
                <a:solidFill>
                  <a:srgbClr val="845EC2"/>
                </a:solidFill>
                <a:latin typeface="Calibri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05840" y="3410712"/>
              <a:ext cx="41148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 i="0" dirty="0">
                  <a:solidFill>
                    <a:srgbClr val="0D1B3E"/>
                  </a:solidFill>
                  <a:latin typeface="Georgia"/>
                </a:rPr>
                <a:t>Network &amp; Graph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05840" y="3694176"/>
              <a:ext cx="713232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5A7084"/>
                  </a:solidFill>
                  <a:latin typeface="Calibri"/>
                </a:rPr>
                <a:t>Centrality · Communities · Repurposing signals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11DE933-0BD7-A515-5B60-5B66DC1F44B6}"/>
              </a:ext>
            </a:extLst>
          </p:cNvPr>
          <p:cNvGrpSpPr/>
          <p:nvPr/>
        </p:nvGrpSpPr>
        <p:grpSpPr>
          <a:xfrm>
            <a:off x="320040" y="3374136"/>
            <a:ext cx="8366760" cy="621792"/>
            <a:chOff x="320040" y="4178808"/>
            <a:chExt cx="8366760" cy="621792"/>
          </a:xfrm>
        </p:grpSpPr>
        <p:sp>
          <p:nvSpPr>
            <p:cNvPr id="24" name="Rectangle 23"/>
            <p:cNvSpPr/>
            <p:nvPr/>
          </p:nvSpPr>
          <p:spPr>
            <a:xfrm>
              <a:off x="320040" y="4178808"/>
              <a:ext cx="54864" cy="621792"/>
            </a:xfrm>
            <a:prstGeom prst="rect">
              <a:avLst/>
            </a:prstGeom>
            <a:solidFill>
              <a:srgbClr val="EF47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57200" y="4178808"/>
              <a:ext cx="8229600" cy="6217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8640" y="4233672"/>
              <a:ext cx="54864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 dirty="0">
                  <a:solidFill>
                    <a:srgbClr val="EF476F"/>
                  </a:solidFill>
                  <a:latin typeface="Calibri"/>
                </a:rPr>
                <a:t>0</a:t>
              </a:r>
              <a:r>
                <a:rPr lang="en-IN" sz="1100" b="1" i="0" dirty="0">
                  <a:solidFill>
                    <a:srgbClr val="EF476F"/>
                  </a:solidFill>
                  <a:latin typeface="Calibri"/>
                </a:rPr>
                <a:t>4</a:t>
              </a:r>
              <a:endParaRPr sz="1100" b="1" i="0" dirty="0">
                <a:solidFill>
                  <a:srgbClr val="EF476F"/>
                </a:solidFill>
                <a:latin typeface="Calibri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05840" y="4215384"/>
              <a:ext cx="41148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 i="0" dirty="0">
                  <a:solidFill>
                    <a:srgbClr val="0D1B3E"/>
                  </a:solidFill>
                  <a:latin typeface="Georgia"/>
                </a:rPr>
                <a:t>Geo &amp; Temporal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005840" y="4498848"/>
              <a:ext cx="713232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 dirty="0">
                  <a:solidFill>
                    <a:srgbClr val="5A7084"/>
                  </a:solidFill>
                  <a:latin typeface="Calibri"/>
                </a:rPr>
                <a:t>Global density · Timeline trends · Phase heatmap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8503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B4D8"/>
                </a:solidFill>
                <a:latin typeface="Calibri"/>
              </a:rPr>
              <a:t>01  /  DRUG INTELLIGENCE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78AB34B-9982-E576-BFB1-CBE087D72021}"/>
              </a:ext>
            </a:extLst>
          </p:cNvPr>
          <p:cNvGrpSpPr/>
          <p:nvPr/>
        </p:nvGrpSpPr>
        <p:grpSpPr>
          <a:xfrm>
            <a:off x="150876" y="1063876"/>
            <a:ext cx="4224528" cy="1490241"/>
            <a:chOff x="237744" y="1550832"/>
            <a:chExt cx="4224528" cy="1490241"/>
          </a:xfrm>
        </p:grpSpPr>
        <p:sp>
          <p:nvSpPr>
            <p:cNvPr id="5" name="Rectangle 4"/>
            <p:cNvSpPr/>
            <p:nvPr/>
          </p:nvSpPr>
          <p:spPr>
            <a:xfrm>
              <a:off x="237744" y="1552965"/>
              <a:ext cx="4224528" cy="14881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5"/>
            <p:cNvSpPr/>
            <p:nvPr/>
          </p:nvSpPr>
          <p:spPr>
            <a:xfrm>
              <a:off x="237744" y="1552965"/>
              <a:ext cx="50292" cy="1488108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88036" y="1550832"/>
              <a:ext cx="40873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 dirty="0">
                  <a:solidFill>
                    <a:srgbClr val="0D1B3E"/>
                  </a:solidFill>
                  <a:latin typeface="Calibri"/>
                </a:rPr>
                <a:t>Evidence Profile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8036" y="1907792"/>
              <a:ext cx="4087368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 dirty="0">
                  <a:solidFill>
                    <a:srgbClr val="8AA0B4"/>
                  </a:solidFill>
                  <a:latin typeface="Calibri"/>
                </a:rPr>
                <a:t>WHAT IT DOES</a:t>
              </a:r>
              <a:endParaRPr lang="en-IN" sz="1000" b="1" i="0" dirty="0">
                <a:solidFill>
                  <a:srgbClr val="8AA0B4"/>
                </a:solidFill>
                <a:latin typeface="Calibri"/>
              </a:endParaRPr>
            </a:p>
            <a:p>
              <a:r>
                <a:rPr lang="en-US" sz="800" dirty="0">
                  <a:solidFill>
                    <a:srgbClr val="2D3A4A"/>
                  </a:solidFill>
                </a:rPr>
                <a:t>Aggregates every trial ever run for a drug by phase, status, condition and geography in a single query. Replaces weeks of manual registry work.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88036" y="2429958"/>
              <a:ext cx="4087368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 dirty="0">
                  <a:solidFill>
                    <a:srgbClr val="8AA0B4"/>
                  </a:solidFill>
                  <a:latin typeface="Calibri"/>
                </a:rPr>
                <a:t>WHO USES IT</a:t>
              </a:r>
              <a:endParaRPr lang="en-IN" sz="1000" b="1" i="0" dirty="0">
                <a:solidFill>
                  <a:srgbClr val="8AA0B4"/>
                </a:solidFill>
                <a:latin typeface="Calibri"/>
              </a:endParaRPr>
            </a:p>
            <a:p>
              <a:r>
                <a:rPr lang="en-US" sz="800" dirty="0">
                  <a:solidFill>
                    <a:srgbClr val="2D3A4A"/>
                  </a:solidFill>
                </a:rPr>
                <a:t>Drug developers, BD teams assessing clinical maturity before in-licensing, and medical affairs preparing HCP evidence summaries.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C9DC3AD-2116-3890-9229-B0F6B5DC4DFE}"/>
              </a:ext>
            </a:extLst>
          </p:cNvPr>
          <p:cNvGrpSpPr/>
          <p:nvPr/>
        </p:nvGrpSpPr>
        <p:grpSpPr>
          <a:xfrm>
            <a:off x="150876" y="2960442"/>
            <a:ext cx="4224528" cy="1488108"/>
            <a:chOff x="150876" y="2960442"/>
            <a:chExt cx="4224528" cy="1488108"/>
          </a:xfrm>
        </p:grpSpPr>
        <p:sp>
          <p:nvSpPr>
            <p:cNvPr id="14" name="Rectangle 13"/>
            <p:cNvSpPr/>
            <p:nvPr/>
          </p:nvSpPr>
          <p:spPr>
            <a:xfrm>
              <a:off x="150876" y="2960442"/>
              <a:ext cx="4224528" cy="14881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50876" y="2960442"/>
              <a:ext cx="50292" cy="1488108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456" y="2960442"/>
              <a:ext cx="40873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 dirty="0">
                  <a:solidFill>
                    <a:srgbClr val="0D1B3E"/>
                  </a:solidFill>
                  <a:latin typeface="Calibri"/>
                </a:rPr>
                <a:t>Competitive Landscape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37744" y="3325851"/>
              <a:ext cx="4087368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 dirty="0">
                  <a:solidFill>
                    <a:srgbClr val="8AA0B4"/>
                  </a:solidFill>
                  <a:latin typeface="Calibri"/>
                </a:rPr>
                <a:t>WHAT IT DOES</a:t>
              </a:r>
              <a:endParaRPr lang="en-IN" sz="1000" b="1" i="0" dirty="0">
                <a:solidFill>
                  <a:srgbClr val="8AA0B4"/>
                </a:solidFill>
                <a:latin typeface="Calibri"/>
              </a:endParaRPr>
            </a:p>
            <a:p>
              <a:r>
                <a:rPr lang="en-US" sz="800" dirty="0">
                  <a:solidFill>
                    <a:srgbClr val="2D3A4A"/>
                  </a:solidFill>
                </a:rPr>
                <a:t>Finds every drug that shares a condition with the target compound, ranked by trial volume, also every sponsor investing in the drug.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01168" y="3875926"/>
              <a:ext cx="4087368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 dirty="0">
                  <a:solidFill>
                    <a:srgbClr val="8AA0B4"/>
                  </a:solidFill>
                  <a:latin typeface="Calibri"/>
                </a:rPr>
                <a:t>WHO USES IT</a:t>
              </a:r>
              <a:endParaRPr lang="en-IN" sz="1000" b="1" i="0" dirty="0">
                <a:solidFill>
                  <a:srgbClr val="8AA0B4"/>
                </a:solidFill>
                <a:latin typeface="Calibri"/>
              </a:endParaRPr>
            </a:p>
            <a:p>
              <a:r>
                <a:rPr lang="en-US" sz="800" dirty="0">
                  <a:solidFill>
                    <a:srgbClr val="2D3A4A"/>
                  </a:solidFill>
                </a:rPr>
                <a:t>Portfolio strategy and white space mapping; medical affairs competitive dossiers; licensing analysts sizing the field.</a:t>
              </a:r>
            </a:p>
          </p:txBody>
        </p:sp>
      </p:grpSp>
      <p:sp>
        <p:nvSpPr>
          <p:cNvPr id="23" name="Rectangle 22"/>
          <p:cNvSpPr/>
          <p:nvPr/>
        </p:nvSpPr>
        <p:spPr>
          <a:xfrm>
            <a:off x="4681728" y="1066008"/>
            <a:ext cx="4224528" cy="15057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81728" y="1066008"/>
            <a:ext cx="50292" cy="1505741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36592" y="1080092"/>
            <a:ext cx="4087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1B3E"/>
                </a:solidFill>
                <a:latin typeface="Calibri"/>
              </a:rPr>
              <a:t>Geographic Footprint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2020" y="1419506"/>
            <a:ext cx="408736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WHAT IT DOES</a:t>
            </a:r>
            <a:endParaRPr lang="en-IN" sz="10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Maps the countries actively conducting trials for a drug, exposing regional concentration risk and untapped recruitment markets.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1943001"/>
            <a:ext cx="408736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WHO USES IT</a:t>
            </a:r>
            <a:endParaRPr lang="en-IN" sz="10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Clinical operations optimizing site selection; market access teams forecasting country by country launch readiness.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81728" y="2962048"/>
            <a:ext cx="4224528" cy="14865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681728" y="2962048"/>
            <a:ext cx="50292" cy="1486501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32020" y="2962048"/>
            <a:ext cx="4087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1B3E"/>
                </a:solidFill>
                <a:latin typeface="Calibri"/>
              </a:rPr>
              <a:t>Multi-hop Paths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5454" y="3325850"/>
            <a:ext cx="408736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00" b="1" i="0" dirty="0">
                <a:solidFill>
                  <a:srgbClr val="8AA0B4"/>
                </a:solidFill>
                <a:latin typeface="Calibri"/>
              </a:rPr>
              <a:t>WHAT IT DOES</a:t>
            </a:r>
          </a:p>
          <a:p>
            <a:r>
              <a:rPr lang="en-US" sz="800" dirty="0">
                <a:solidFill>
                  <a:srgbClr val="2D3A4A"/>
                </a:solidFill>
              </a:rPr>
              <a:t>Constructs the Drug → Study → Condition → Sponsor subgraph, the structured context chunk fed to the LLM in the </a:t>
            </a:r>
            <a:r>
              <a:rPr lang="en-US" sz="800" dirty="0" err="1">
                <a:solidFill>
                  <a:srgbClr val="2D3A4A"/>
                </a:solidFill>
              </a:rPr>
              <a:t>GraphRAG</a:t>
            </a:r>
            <a:r>
              <a:rPr lang="en-US" sz="800" dirty="0">
                <a:solidFill>
                  <a:srgbClr val="2D3A4A"/>
                </a:solidFill>
              </a:rPr>
              <a:t> pipeline.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2020" y="3875926"/>
            <a:ext cx="408736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WHO USES IT</a:t>
            </a:r>
            <a:endParaRPr lang="en-IN" sz="10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AI/ML teams building grounded clinical Q&amp;A agents; regulatory writers who need citation ready evidence chains.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F5300-80DF-5CF8-76BB-81BF2F606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DF7719-C6AF-318A-BA40-C59195731062}"/>
              </a:ext>
            </a:extLst>
          </p:cNvPr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ABF89-F386-B9CE-0332-951643838273}"/>
              </a:ext>
            </a:extLst>
          </p:cNvPr>
          <p:cNvSpPr txBox="1"/>
          <p:nvPr/>
        </p:nvSpPr>
        <p:spPr>
          <a:xfrm>
            <a:off x="320040" y="54864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 dirty="0">
                <a:solidFill>
                  <a:srgbClr val="00B4D8"/>
                </a:solidFill>
                <a:latin typeface="Calibri"/>
              </a:rPr>
              <a:t>01  /  DRUG INTELLIGENCE</a:t>
            </a:r>
            <a:r>
              <a:rPr lang="en-IN" sz="1100" b="1" i="0" dirty="0">
                <a:solidFill>
                  <a:srgbClr val="00B4D8"/>
                </a:solidFill>
                <a:latin typeface="Calibri"/>
              </a:rPr>
              <a:t> - </a:t>
            </a:r>
            <a:r>
              <a:rPr lang="en-IN" sz="1100" b="1" i="0" dirty="0">
                <a:solidFill>
                  <a:srgbClr val="00B4D8"/>
                </a:solidFill>
                <a:latin typeface="+mj-lt"/>
              </a:rPr>
              <a:t>S</a:t>
            </a:r>
            <a:r>
              <a:rPr lang="en-IN" sz="1100" b="1" dirty="0">
                <a:solidFill>
                  <a:srgbClr val="00B4D8"/>
                </a:solidFill>
                <a:latin typeface="+mj-lt"/>
              </a:rPr>
              <a:t>emaglutide</a:t>
            </a:r>
            <a:endParaRPr sz="1100" b="1" i="0" dirty="0">
              <a:solidFill>
                <a:srgbClr val="00B4D8"/>
              </a:solidFill>
              <a:latin typeface="+mj-lt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B46BE57-7C43-9499-9C71-86EC849AC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705368"/>
              </p:ext>
            </p:extLst>
          </p:nvPr>
        </p:nvGraphicFramePr>
        <p:xfrm>
          <a:off x="5964759" y="786501"/>
          <a:ext cx="3104130" cy="17373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034710">
                  <a:extLst>
                    <a:ext uri="{9D8B030D-6E8A-4147-A177-3AD203B41FA5}">
                      <a16:colId xmlns:a16="http://schemas.microsoft.com/office/drawing/2014/main" val="2751907117"/>
                    </a:ext>
                  </a:extLst>
                </a:gridCol>
                <a:gridCol w="1034710">
                  <a:extLst>
                    <a:ext uri="{9D8B030D-6E8A-4147-A177-3AD203B41FA5}">
                      <a16:colId xmlns:a16="http://schemas.microsoft.com/office/drawing/2014/main" val="2868970464"/>
                    </a:ext>
                  </a:extLst>
                </a:gridCol>
                <a:gridCol w="1034710">
                  <a:extLst>
                    <a:ext uri="{9D8B030D-6E8A-4147-A177-3AD203B41FA5}">
                      <a16:colId xmlns:a16="http://schemas.microsoft.com/office/drawing/2014/main" val="2288764733"/>
                    </a:ext>
                  </a:extLst>
                </a:gridCol>
              </a:tblGrid>
              <a:tr h="180324">
                <a:tc gridSpan="3"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Top competitors to Semaglutide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756379"/>
                  </a:ext>
                </a:extLst>
              </a:tr>
              <a:tr h="15778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/>
                        <a:t>Metformin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Clopidogrel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Ritonavir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977454"/>
                  </a:ext>
                </a:extLst>
              </a:tr>
              <a:tr h="157784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Zidovudine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Pioglitazone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Rosuvastatin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798856"/>
                  </a:ext>
                </a:extLst>
              </a:tr>
              <a:tr h="157784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Sitagliptin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Aspirin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Atorvastatin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102718"/>
                  </a:ext>
                </a:extLst>
              </a:tr>
              <a:tr h="157784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Dapagliflozin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Insulin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Itraconazole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585187"/>
                  </a:ext>
                </a:extLst>
              </a:tr>
              <a:tr h="15778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/>
                        <a:t>Midazolam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Liraglutide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Lamivudine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16481"/>
                  </a:ext>
                </a:extLst>
              </a:tr>
              <a:tr h="15778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/>
                        <a:t>Propofol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/>
                        <a:t>Insulin aspart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Prednisone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649038"/>
                  </a:ext>
                </a:extLst>
              </a:tr>
              <a:tr h="15778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/>
                        <a:t>Insulin detemir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431210"/>
                  </a:ext>
                </a:extLst>
              </a:tr>
            </a:tbl>
          </a:graphicData>
        </a:graphic>
      </p:graphicFrame>
      <p:pic>
        <p:nvPicPr>
          <p:cNvPr id="1028" name="Picture 4">
            <a:extLst>
              <a:ext uri="{FF2B5EF4-FFF2-40B4-BE49-F238E27FC236}">
                <a16:creationId xmlns:a16="http://schemas.microsoft.com/office/drawing/2014/main" id="{993DBBD5-E50F-A0B6-39C0-AA43B7CC4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653" y="944052"/>
            <a:ext cx="2655517" cy="162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6E1EAEC-C2A9-68DE-CE32-20EE63E81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37" y="944052"/>
            <a:ext cx="3032845" cy="1627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D4A9A085-65B6-05F5-7975-97195BEE3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6583" y="2918158"/>
            <a:ext cx="2982306" cy="2119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>
            <a:extLst>
              <a:ext uri="{FF2B5EF4-FFF2-40B4-BE49-F238E27FC236}">
                <a16:creationId xmlns:a16="http://schemas.microsoft.com/office/drawing/2014/main" id="{F7F5A4AC-8F1A-7D79-1FB7-066786C91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653" y="2918158"/>
            <a:ext cx="2702690" cy="186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B7E8A21-DF35-0C25-3869-767144258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45" y="2918158"/>
            <a:ext cx="3032846" cy="1618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5504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A9085-2C2D-C0EC-8506-F857C41C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D575B0-AACD-2AC3-41E2-1833A3F9B3D3}"/>
              </a:ext>
            </a:extLst>
          </p:cNvPr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C63BF-9175-7435-0814-A9FD9D9B1DA4}"/>
              </a:ext>
            </a:extLst>
          </p:cNvPr>
          <p:cNvSpPr txBox="1"/>
          <p:nvPr/>
        </p:nvSpPr>
        <p:spPr>
          <a:xfrm>
            <a:off x="320040" y="54864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 dirty="0">
                <a:solidFill>
                  <a:srgbClr val="00B4D8"/>
                </a:solidFill>
                <a:latin typeface="Calibri"/>
              </a:rPr>
              <a:t>01  /  DRUG INTELLIGENCE</a:t>
            </a:r>
            <a:r>
              <a:rPr lang="en-IN" sz="1100" b="1" i="0" dirty="0">
                <a:solidFill>
                  <a:srgbClr val="00B4D8"/>
                </a:solidFill>
                <a:latin typeface="Calibri"/>
              </a:rPr>
              <a:t> - </a:t>
            </a:r>
            <a:r>
              <a:rPr lang="en-IN" sz="1100" b="1" dirty="0">
                <a:solidFill>
                  <a:srgbClr val="00B4D8"/>
                </a:solidFill>
                <a:latin typeface="+mj-lt"/>
              </a:rPr>
              <a:t>Donepezil</a:t>
            </a:r>
            <a:endParaRPr sz="1100" b="1" i="0" dirty="0">
              <a:solidFill>
                <a:srgbClr val="00B4D8"/>
              </a:solidFill>
              <a:latin typeface="+mj-lt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15D8F979-05D1-523A-D86D-D899674C8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619" y="2682983"/>
            <a:ext cx="3049089" cy="2414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F3A047F6-B5B5-47FA-C145-B001BB590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09" y="983185"/>
            <a:ext cx="2855221" cy="1532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2F750AF0-61E9-A60B-1809-775635271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088" y="985481"/>
            <a:ext cx="2688913" cy="162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380AF45-D7FB-11DA-8E07-843FEC783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342885"/>
              </p:ext>
            </p:extLst>
          </p:nvPr>
        </p:nvGraphicFramePr>
        <p:xfrm>
          <a:off x="5964759" y="985481"/>
          <a:ext cx="3104130" cy="14325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034710">
                  <a:extLst>
                    <a:ext uri="{9D8B030D-6E8A-4147-A177-3AD203B41FA5}">
                      <a16:colId xmlns:a16="http://schemas.microsoft.com/office/drawing/2014/main" val="2751907117"/>
                    </a:ext>
                  </a:extLst>
                </a:gridCol>
                <a:gridCol w="1034710">
                  <a:extLst>
                    <a:ext uri="{9D8B030D-6E8A-4147-A177-3AD203B41FA5}">
                      <a16:colId xmlns:a16="http://schemas.microsoft.com/office/drawing/2014/main" val="2868970464"/>
                    </a:ext>
                  </a:extLst>
                </a:gridCol>
                <a:gridCol w="1034710">
                  <a:extLst>
                    <a:ext uri="{9D8B030D-6E8A-4147-A177-3AD203B41FA5}">
                      <a16:colId xmlns:a16="http://schemas.microsoft.com/office/drawing/2014/main" val="2288764733"/>
                    </a:ext>
                  </a:extLst>
                </a:gridCol>
              </a:tblGrid>
              <a:tr h="186619">
                <a:tc gridSpan="3"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Top competitors to Donepezil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756379"/>
                  </a:ext>
                </a:extLst>
              </a:tr>
              <a:tr h="20407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/>
                        <a:t>Radiation 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Metformin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Paclitaxel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977454"/>
                  </a:ext>
                </a:extLst>
              </a:tr>
              <a:tr h="204075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Carboplatin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Cyclophosphamide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Trastuzumab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798856"/>
                  </a:ext>
                </a:extLst>
              </a:tr>
              <a:tr h="204075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Docetaxel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Methotrexate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Cisplatin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102718"/>
                  </a:ext>
                </a:extLst>
              </a:tr>
              <a:tr h="204075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Midazolam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Aripiprazole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Olanzapine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585187"/>
                  </a:ext>
                </a:extLst>
              </a:tr>
              <a:tr h="3206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/>
                        <a:t>Conventional surgery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Risperidone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Capecitabine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16481"/>
                  </a:ext>
                </a:extLst>
              </a:tr>
            </a:tbl>
          </a:graphicData>
        </a:graphic>
      </p:graphicFrame>
      <p:pic>
        <p:nvPicPr>
          <p:cNvPr id="1034" name="Picture 10">
            <a:extLst>
              <a:ext uri="{FF2B5EF4-FFF2-40B4-BE49-F238E27FC236}">
                <a16:creationId xmlns:a16="http://schemas.microsoft.com/office/drawing/2014/main" id="{E8E10B7A-6AE1-34BA-15C4-166338083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489" y="2716870"/>
            <a:ext cx="3104130" cy="2176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C6E943F9-AC3E-B282-811C-36C3FBB00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1" y="2774498"/>
            <a:ext cx="2837766" cy="1514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7987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D37AC72C-45F1-6819-E6F7-BB66C5AA3463}"/>
              </a:ext>
            </a:extLst>
          </p:cNvPr>
          <p:cNvGrpSpPr/>
          <p:nvPr/>
        </p:nvGrpSpPr>
        <p:grpSpPr>
          <a:xfrm>
            <a:off x="4741164" y="3112045"/>
            <a:ext cx="4178808" cy="1328301"/>
            <a:chOff x="4709160" y="960120"/>
            <a:chExt cx="4178808" cy="2036826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742B7A6-2717-126D-5C6A-3725858C3533}"/>
                </a:ext>
              </a:extLst>
            </p:cNvPr>
            <p:cNvSpPr/>
            <p:nvPr/>
          </p:nvSpPr>
          <p:spPr>
            <a:xfrm>
              <a:off x="4709160" y="960120"/>
              <a:ext cx="4178808" cy="20368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DF2EAF2-FBD4-7CB4-2032-5FAF883EC08D}"/>
                </a:ext>
              </a:extLst>
            </p:cNvPr>
            <p:cNvSpPr/>
            <p:nvPr/>
          </p:nvSpPr>
          <p:spPr>
            <a:xfrm>
              <a:off x="4709160" y="960120"/>
              <a:ext cx="50292" cy="2036826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8503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2C39A"/>
                </a:solidFill>
                <a:latin typeface="Calibri"/>
              </a:rPr>
              <a:t>02  /  DISEASE ANALYTICS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E61BF65-0EAD-E90D-57BE-4CF708F8865B}"/>
              </a:ext>
            </a:extLst>
          </p:cNvPr>
          <p:cNvGrpSpPr/>
          <p:nvPr/>
        </p:nvGrpSpPr>
        <p:grpSpPr>
          <a:xfrm>
            <a:off x="256032" y="621792"/>
            <a:ext cx="4251960" cy="1300734"/>
            <a:chOff x="256032" y="960120"/>
            <a:chExt cx="4251960" cy="1333500"/>
          </a:xfrm>
        </p:grpSpPr>
        <p:sp>
          <p:nvSpPr>
            <p:cNvPr id="5" name="Rectangle 4"/>
            <p:cNvSpPr/>
            <p:nvPr/>
          </p:nvSpPr>
          <p:spPr>
            <a:xfrm>
              <a:off x="256032" y="960120"/>
              <a:ext cx="4251960" cy="133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56032" y="960120"/>
              <a:ext cx="50292" cy="1333500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13182" y="621792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1B3E"/>
                </a:solidFill>
                <a:latin typeface="Calibri"/>
              </a:rPr>
              <a:t>Treatment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882729"/>
            <a:ext cx="4114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WHAT IT DOES</a:t>
            </a:r>
            <a:endParaRPr lang="en-IN" sz="10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Ranks every active drug by trial count for a condition, noise-filtered. Shows who dominates and who is an emerging challenger.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758" y="1353477"/>
            <a:ext cx="4114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WHO USES IT</a:t>
            </a:r>
            <a:endParaRPr lang="en-IN" sz="10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Competitive intelligence analysts; payers building formulary evidence; investors assessing therapeutic crowding.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5440322-3020-BF16-2F19-82F881B95136}"/>
              </a:ext>
            </a:extLst>
          </p:cNvPr>
          <p:cNvGrpSpPr/>
          <p:nvPr/>
        </p:nvGrpSpPr>
        <p:grpSpPr>
          <a:xfrm>
            <a:off x="256032" y="2138581"/>
            <a:ext cx="4251960" cy="1333500"/>
            <a:chOff x="256032" y="2348484"/>
            <a:chExt cx="4251960" cy="1333500"/>
          </a:xfrm>
        </p:grpSpPr>
        <p:sp>
          <p:nvSpPr>
            <p:cNvPr id="14" name="Rectangle 13"/>
            <p:cNvSpPr/>
            <p:nvPr/>
          </p:nvSpPr>
          <p:spPr>
            <a:xfrm>
              <a:off x="256032" y="2348484"/>
              <a:ext cx="4251960" cy="133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56032" y="2348484"/>
              <a:ext cx="50292" cy="1333500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324612" y="2156567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1B3E"/>
                </a:solidFill>
                <a:latin typeface="Calibri"/>
              </a:rPr>
              <a:t>Trial Design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2470755"/>
            <a:ext cx="4114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WHAT IT DOES</a:t>
            </a:r>
            <a:endParaRPr lang="en-IN" sz="10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Breaks down allocation, blinding and arm type across all trials in a disease — shows whether the field relies on RCTs or observational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2957576"/>
            <a:ext cx="4114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WHO USES IT</a:t>
            </a:r>
            <a:endParaRPr lang="en-IN" sz="10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Protocol designers benchmarking against field norms; HTA bodies assessing evidence quality; meta-analysts planning systematic reviews.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4729B5D-1A14-8A5F-5DB2-06FC725A40CD}"/>
              </a:ext>
            </a:extLst>
          </p:cNvPr>
          <p:cNvGrpSpPr/>
          <p:nvPr/>
        </p:nvGrpSpPr>
        <p:grpSpPr>
          <a:xfrm>
            <a:off x="244602" y="3695164"/>
            <a:ext cx="4251960" cy="1333500"/>
            <a:chOff x="256032" y="3736848"/>
            <a:chExt cx="4251960" cy="1333500"/>
          </a:xfrm>
        </p:grpSpPr>
        <p:sp>
          <p:nvSpPr>
            <p:cNvPr id="23" name="Rectangle 22"/>
            <p:cNvSpPr/>
            <p:nvPr/>
          </p:nvSpPr>
          <p:spPr>
            <a:xfrm>
              <a:off x="256032" y="3736848"/>
              <a:ext cx="4251960" cy="133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56032" y="3736848"/>
              <a:ext cx="50292" cy="1333500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363474" y="3693030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1B3E"/>
                </a:solidFill>
                <a:latin typeface="Calibri"/>
              </a:rPr>
              <a:t>Phase Progression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618" y="3947903"/>
            <a:ext cx="4114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WHAT IT DOES</a:t>
            </a:r>
            <a:endParaRPr lang="en-IN" sz="8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Plots trial counts by phase for the entire disease area. A healthy funnel shows I &gt;&gt; II &gt;&gt; III. Inversion signals high attrition.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398597"/>
            <a:ext cx="4114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WHO USES IT</a:t>
            </a:r>
            <a:endParaRPr lang="en-IN" sz="8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R&amp;D strategy leads </a:t>
            </a:r>
            <a:r>
              <a:rPr lang="en-US" sz="800" dirty="0" err="1">
                <a:solidFill>
                  <a:srgbClr val="2D3A4A"/>
                </a:solidFill>
              </a:rPr>
              <a:t>prioritising</a:t>
            </a:r>
            <a:r>
              <a:rPr lang="en-US" sz="800" dirty="0">
                <a:solidFill>
                  <a:srgbClr val="2D3A4A"/>
                </a:solidFill>
              </a:rPr>
              <a:t> areas; VCs screening categories; BD teams timing in-licensing to the pipeline cycle.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1AD9527-49CB-D7EA-8035-332CD30D2179}"/>
              </a:ext>
            </a:extLst>
          </p:cNvPr>
          <p:cNvGrpSpPr/>
          <p:nvPr/>
        </p:nvGrpSpPr>
        <p:grpSpPr>
          <a:xfrm>
            <a:off x="4741164" y="1168823"/>
            <a:ext cx="4178808" cy="1452312"/>
            <a:chOff x="4709160" y="960120"/>
            <a:chExt cx="4178808" cy="2036826"/>
          </a:xfrm>
        </p:grpSpPr>
        <p:sp>
          <p:nvSpPr>
            <p:cNvPr id="32" name="Rectangle 31"/>
            <p:cNvSpPr/>
            <p:nvPr/>
          </p:nvSpPr>
          <p:spPr>
            <a:xfrm>
              <a:off x="4709160" y="960120"/>
              <a:ext cx="4178808" cy="20368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709160" y="960120"/>
              <a:ext cx="50292" cy="2036826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809744" y="1186574"/>
            <a:ext cx="40416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1B3E"/>
                </a:solidFill>
                <a:latin typeface="Calibri"/>
              </a:rPr>
              <a:t>Enrollment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91456" y="1430083"/>
            <a:ext cx="40416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WHAT IT DOES</a:t>
            </a:r>
            <a:endParaRPr lang="en-IN" sz="8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Histogram + phase-stratified median chart in one view. Exposes underpowered trials and mega-trials that skew cost estimates.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91456" y="1971255"/>
            <a:ext cx="40416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WHO USES IT</a:t>
            </a:r>
            <a:endParaRPr lang="en-IN" sz="8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Biostatisticians planning sample sizes; regulatory reviewers; health economists modelling trial cost distributions.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77740" y="3098039"/>
            <a:ext cx="40416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1B3E"/>
                </a:solidFill>
                <a:latin typeface="Calibri"/>
              </a:rPr>
              <a:t>Sponsor Diversity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82312" y="3327275"/>
            <a:ext cx="40416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WHAT IT DOES</a:t>
            </a:r>
            <a:endParaRPr lang="en-IN" sz="8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Classifies sponsors as Industry, Academic or Government and maps trial volumes. High academic share signals exploratory science.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9452" y="3882720"/>
            <a:ext cx="40416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WHO USES IT</a:t>
            </a:r>
            <a:endParaRPr lang="en-IN" sz="8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Licensing managers identifying partners; grant-writers mapping funding; investors gauging commercial momentum in a disease area.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4BEB2-A1C2-12F8-52F9-FC650E89A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4116C8-5158-F0DE-4B99-F11219E80788}"/>
              </a:ext>
            </a:extLst>
          </p:cNvPr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4203FD-D0A6-3A09-CF55-6B536206CD0A}"/>
              </a:ext>
            </a:extLst>
          </p:cNvPr>
          <p:cNvSpPr txBox="1"/>
          <p:nvPr/>
        </p:nvSpPr>
        <p:spPr>
          <a:xfrm>
            <a:off x="320040" y="54864"/>
            <a:ext cx="8503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 dirty="0">
                <a:solidFill>
                  <a:srgbClr val="02C39A"/>
                </a:solidFill>
                <a:latin typeface="Calibri"/>
              </a:rPr>
              <a:t>02  /  DISEASE ANALYTICS</a:t>
            </a:r>
            <a:r>
              <a:rPr lang="en-IN" sz="1100" b="1" dirty="0">
                <a:solidFill>
                  <a:srgbClr val="02C39A"/>
                </a:solidFill>
              </a:rPr>
              <a:t> - Diabetes</a:t>
            </a:r>
            <a:endParaRPr sz="1100" b="1" i="0" dirty="0">
              <a:solidFill>
                <a:srgbClr val="02C39A"/>
              </a:solidFill>
              <a:latin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F96CEF-4E98-C473-B360-64B8E7F38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11" y="574789"/>
            <a:ext cx="4194494" cy="2251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1880537-4694-51CD-E9B6-8EF3FF2C7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919" y="1035461"/>
            <a:ext cx="3985963" cy="366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0BF2D14-2DF3-6AC7-F6A2-0B6D45BF1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11" y="2866269"/>
            <a:ext cx="4194494" cy="2222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231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C92B5-8249-080B-D486-E738AA787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76DFD4-51F3-AE08-9B0A-C1FBE368F23D}"/>
              </a:ext>
            </a:extLst>
          </p:cNvPr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436756-CBF8-6F49-CF29-348F26878EB3}"/>
              </a:ext>
            </a:extLst>
          </p:cNvPr>
          <p:cNvSpPr txBox="1"/>
          <p:nvPr/>
        </p:nvSpPr>
        <p:spPr>
          <a:xfrm>
            <a:off x="320040" y="54864"/>
            <a:ext cx="8503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>
                <a:solidFill>
                  <a:srgbClr val="02C39A"/>
                </a:solidFill>
              </a:rPr>
              <a:t>02  /  DISEASE ANALYTICS - Diabetes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17038E9-C459-4EE6-D3BB-FB3BF5C8C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390" y="747769"/>
            <a:ext cx="2963802" cy="1725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83CBA7D-92E9-D20B-9313-8CEFB8D1E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5370" y="3130750"/>
            <a:ext cx="3045949" cy="173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E6DE14EB-41F7-911E-2CBB-93522C0BB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2868917"/>
            <a:ext cx="3052100" cy="17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9073060-75FE-5702-502D-ADB69E23B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640464"/>
            <a:ext cx="3614737" cy="1939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288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68A46-E4A4-C895-1C02-75772FCF2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1AB055-9770-5D9E-F93B-E1A88FE8F94C}"/>
              </a:ext>
            </a:extLst>
          </p:cNvPr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7DB14-24B1-608F-6D45-D2ACA80371C9}"/>
              </a:ext>
            </a:extLst>
          </p:cNvPr>
          <p:cNvSpPr txBox="1"/>
          <p:nvPr/>
        </p:nvSpPr>
        <p:spPr>
          <a:xfrm>
            <a:off x="320040" y="54864"/>
            <a:ext cx="8503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 dirty="0">
                <a:solidFill>
                  <a:srgbClr val="02C39A"/>
                </a:solidFill>
                <a:latin typeface="Calibri"/>
              </a:rPr>
              <a:t>02  /  DISEASE ANALYTICS</a:t>
            </a:r>
            <a:r>
              <a:rPr lang="en-IN" sz="1100" b="1" dirty="0">
                <a:solidFill>
                  <a:srgbClr val="02C39A"/>
                </a:solidFill>
              </a:rPr>
              <a:t> - Alzheimer</a:t>
            </a:r>
            <a:endParaRPr sz="1100" b="1" i="0" dirty="0">
              <a:solidFill>
                <a:srgbClr val="02C39A"/>
              </a:solidFill>
              <a:latin typeface="Calibri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24AF9CC-3A87-A084-2D4E-39DE0E2C4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59" y="466345"/>
            <a:ext cx="3965885" cy="2462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B5E4C471-5F8F-64A9-69F8-B5ECCBCBA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66345"/>
            <a:ext cx="4392300" cy="338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60584133-E445-8AD6-2A74-998293101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2983990"/>
            <a:ext cx="3561378" cy="191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0099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C98E3-6CF0-0308-3398-154258DF5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48E75E-9EEC-572A-BE60-2C2D20418507}"/>
              </a:ext>
            </a:extLst>
          </p:cNvPr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01C86-1AF9-C3A0-5F61-7FFD63C2EA1C}"/>
              </a:ext>
            </a:extLst>
          </p:cNvPr>
          <p:cNvSpPr txBox="1"/>
          <p:nvPr/>
        </p:nvSpPr>
        <p:spPr>
          <a:xfrm>
            <a:off x="320040" y="54864"/>
            <a:ext cx="8503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>
                <a:solidFill>
                  <a:srgbClr val="02C39A"/>
                </a:solidFill>
              </a:rPr>
              <a:t>02  /  DISEASE ANALYTICS - Alzheimer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A971786-BF69-95A3-F2FE-3AC218043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5" y="466345"/>
            <a:ext cx="3934404" cy="2111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D03BD85-1B76-D661-478C-738A75FF6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6783" y="543429"/>
            <a:ext cx="4059621" cy="236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9D107218-83E1-F4E6-CC93-A01F8ED83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37" y="2906750"/>
            <a:ext cx="3333983" cy="189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BD539748-3301-14A2-833E-50BC4F8B3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112" y="3038699"/>
            <a:ext cx="3392292" cy="1913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626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8503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6B35"/>
                </a:solidFill>
                <a:latin typeface="Calibri"/>
              </a:rPr>
              <a:t>03  /  SPONSOR INTELLIGENCE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E862328-D580-5A17-C77C-E12F0D14AB1D}"/>
              </a:ext>
            </a:extLst>
          </p:cNvPr>
          <p:cNvGrpSpPr/>
          <p:nvPr/>
        </p:nvGrpSpPr>
        <p:grpSpPr>
          <a:xfrm>
            <a:off x="256032" y="648208"/>
            <a:ext cx="4251960" cy="1333500"/>
            <a:chOff x="256032" y="960120"/>
            <a:chExt cx="4251960" cy="1333500"/>
          </a:xfrm>
        </p:grpSpPr>
        <p:sp>
          <p:nvSpPr>
            <p:cNvPr id="5" name="Rectangle 4"/>
            <p:cNvSpPr/>
            <p:nvPr/>
          </p:nvSpPr>
          <p:spPr>
            <a:xfrm>
              <a:off x="256032" y="960120"/>
              <a:ext cx="4251960" cy="133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5"/>
            <p:cNvSpPr/>
            <p:nvPr/>
          </p:nvSpPr>
          <p:spPr>
            <a:xfrm>
              <a:off x="256032" y="960120"/>
              <a:ext cx="50292" cy="1333500"/>
            </a:xfrm>
            <a:prstGeom prst="rect">
              <a:avLst/>
            </a:prstGeom>
            <a:solidFill>
              <a:srgbClr val="FF6B3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" y="624367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1B3E"/>
                </a:solidFill>
                <a:latin typeface="Calibri"/>
              </a:rPr>
              <a:t>Condition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855594"/>
            <a:ext cx="4114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WHAT IT DOES</a:t>
            </a:r>
            <a:endParaRPr lang="en-IN" sz="10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Ranks every disease area a sponsor runs trials in, noise-filtered of healthy volunteer and PK studies. Reveals true therapeutic focus.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898" y="1354169"/>
            <a:ext cx="4114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WHO USES IT</a:t>
            </a:r>
            <a:endParaRPr lang="en-IN" sz="10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BD teams mapping a counterpart's priorities before a deal; investors stress-testing pipeline concentration risk.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8B606AC-9C34-3A87-597F-62D1624651AE}"/>
              </a:ext>
            </a:extLst>
          </p:cNvPr>
          <p:cNvGrpSpPr/>
          <p:nvPr/>
        </p:nvGrpSpPr>
        <p:grpSpPr>
          <a:xfrm>
            <a:off x="251460" y="2143124"/>
            <a:ext cx="4251960" cy="1333500"/>
            <a:chOff x="256032" y="2348484"/>
            <a:chExt cx="4251960" cy="1333500"/>
          </a:xfrm>
        </p:grpSpPr>
        <p:sp>
          <p:nvSpPr>
            <p:cNvPr id="14" name="Rectangle 13"/>
            <p:cNvSpPr/>
            <p:nvPr/>
          </p:nvSpPr>
          <p:spPr>
            <a:xfrm>
              <a:off x="256032" y="2348484"/>
              <a:ext cx="4251960" cy="133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56032" y="2348484"/>
              <a:ext cx="50292" cy="1333500"/>
            </a:xfrm>
            <a:prstGeom prst="rect">
              <a:avLst/>
            </a:prstGeom>
            <a:solidFill>
              <a:srgbClr val="FF6B3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320040" y="2155387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1B3E"/>
                </a:solidFill>
                <a:latin typeface="Calibri"/>
              </a:rPr>
              <a:t>Geographic 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2428940"/>
            <a:ext cx="4114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WHAT IT DOES</a:t>
            </a:r>
            <a:endParaRPr lang="en-IN" sz="10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Maps countries where a sponsor conducts trials. Reveals regional over-reliance, regulatory arbitrage strategies, and site network maturity.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610" y="2885473"/>
            <a:ext cx="4114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WHO USES IT</a:t>
            </a:r>
            <a:endParaRPr lang="en-IN" sz="10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Clinical operations choosing sites; market access teams predicting first-launch markets; regulators assessing data generalizability</a:t>
            </a:r>
            <a:endParaRPr sz="800" b="1" i="0" dirty="0">
              <a:solidFill>
                <a:srgbClr val="8AA0B4"/>
              </a:solidFill>
              <a:latin typeface="Calibri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6CC6802-D410-F273-E8E9-9D5B1CBB1559}"/>
              </a:ext>
            </a:extLst>
          </p:cNvPr>
          <p:cNvGrpSpPr/>
          <p:nvPr/>
        </p:nvGrpSpPr>
        <p:grpSpPr>
          <a:xfrm>
            <a:off x="258318" y="3651757"/>
            <a:ext cx="4251960" cy="1333500"/>
            <a:chOff x="256032" y="3736848"/>
            <a:chExt cx="4251960" cy="1333500"/>
          </a:xfrm>
        </p:grpSpPr>
        <p:sp>
          <p:nvSpPr>
            <p:cNvPr id="23" name="Rectangle 22"/>
            <p:cNvSpPr/>
            <p:nvPr/>
          </p:nvSpPr>
          <p:spPr>
            <a:xfrm>
              <a:off x="256032" y="3736848"/>
              <a:ext cx="4251960" cy="133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56032" y="3736848"/>
              <a:ext cx="50292" cy="1333500"/>
            </a:xfrm>
            <a:prstGeom prst="rect">
              <a:avLst/>
            </a:prstGeom>
            <a:solidFill>
              <a:srgbClr val="FF6B3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320040" y="3608551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Pipeline Mix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3887978"/>
            <a:ext cx="4114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WHAT IT DOES</a:t>
            </a:r>
            <a:endParaRPr lang="en-IN" sz="10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Cross-tabulates trial phase against status in a stacked bar. A mature sponsor shows many COMPLETED Phase III; an early-stage one shows RECRUITING Phase 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3627"/>
            <a:ext cx="4114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AA0B4"/>
                </a:solidFill>
                <a:latin typeface="Calibri"/>
              </a:rPr>
              <a:t>WHO USES IT</a:t>
            </a:r>
            <a:endParaRPr lang="en-IN" sz="1000" b="1" i="0" dirty="0">
              <a:solidFill>
                <a:srgbClr val="8AA0B4"/>
              </a:solidFill>
              <a:latin typeface="Calibri"/>
            </a:endParaRPr>
          </a:p>
          <a:p>
            <a:r>
              <a:rPr lang="en-US" sz="800" dirty="0">
                <a:solidFill>
                  <a:srgbClr val="2D3A4A"/>
                </a:solidFill>
              </a:rPr>
              <a:t>Analysts building competitive pipeline maps; investors calculating probability-of-success NPV; alliance managers timing partnership approaches.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320890E-22DA-084F-8226-0C1224D618FB}"/>
              </a:ext>
            </a:extLst>
          </p:cNvPr>
          <p:cNvGrpSpPr/>
          <p:nvPr/>
        </p:nvGrpSpPr>
        <p:grpSpPr>
          <a:xfrm>
            <a:off x="4709160" y="1328761"/>
            <a:ext cx="4178808" cy="1333500"/>
            <a:chOff x="4709160" y="960120"/>
            <a:chExt cx="4178808" cy="1333500"/>
          </a:xfrm>
        </p:grpSpPr>
        <p:sp>
          <p:nvSpPr>
            <p:cNvPr id="32" name="Rectangle 31"/>
            <p:cNvSpPr/>
            <p:nvPr/>
          </p:nvSpPr>
          <p:spPr>
            <a:xfrm>
              <a:off x="4709160" y="960120"/>
              <a:ext cx="4178808" cy="133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709160" y="960120"/>
              <a:ext cx="50292" cy="1333500"/>
            </a:xfrm>
            <a:prstGeom prst="rect">
              <a:avLst/>
            </a:prstGeom>
            <a:solidFill>
              <a:srgbClr val="FF6B3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782312" y="970467"/>
              <a:ext cx="404164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 dirty="0">
                  <a:solidFill>
                    <a:srgbClr val="0D1B3E"/>
                  </a:solidFill>
                  <a:latin typeface="Calibri"/>
                </a:rPr>
                <a:t>Drug Inventory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809744" y="1216152"/>
              <a:ext cx="4041648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 dirty="0">
                  <a:solidFill>
                    <a:srgbClr val="8AA0B4"/>
                  </a:solidFill>
                  <a:latin typeface="Calibri"/>
                </a:rPr>
                <a:t>WHAT IT DOES</a:t>
              </a:r>
              <a:endParaRPr lang="en-IN" sz="1000" b="1" i="0" dirty="0">
                <a:solidFill>
                  <a:srgbClr val="8AA0B4"/>
                </a:solidFill>
                <a:latin typeface="Calibri"/>
              </a:endParaRPr>
            </a:p>
            <a:p>
              <a:r>
                <a:rPr lang="en-US" sz="800" dirty="0">
                  <a:solidFill>
                    <a:srgbClr val="2D3A4A"/>
                  </a:solidFill>
                </a:rPr>
                <a:t>Lists every distinct intervention a sponsor trials, ranked by volume, placebo-filtered. Exposes flagship compounds vs. one-offs.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809744" y="1703773"/>
              <a:ext cx="4041648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 dirty="0">
                  <a:solidFill>
                    <a:srgbClr val="8AA0B4"/>
                  </a:solidFill>
                  <a:latin typeface="Calibri"/>
                </a:rPr>
                <a:t>WHO USES IT</a:t>
              </a:r>
              <a:endParaRPr lang="en-IN" sz="1000" b="1" i="0" dirty="0">
                <a:solidFill>
                  <a:srgbClr val="8AA0B4"/>
                </a:solidFill>
                <a:latin typeface="Calibri"/>
              </a:endParaRPr>
            </a:p>
            <a:p>
              <a:r>
                <a:rPr lang="en-US" sz="800" dirty="0">
                  <a:solidFill>
                    <a:srgbClr val="2D3A4A"/>
                  </a:solidFill>
                </a:rPr>
                <a:t>Portfolio strategists prioritizing investment; CMC teams forecasting manufacturing complexity; regulatory leads anticipating submission workload.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C9AE5CB-8161-0E5F-8434-37332EFDA131}"/>
              </a:ext>
            </a:extLst>
          </p:cNvPr>
          <p:cNvGrpSpPr/>
          <p:nvPr/>
        </p:nvGrpSpPr>
        <p:grpSpPr>
          <a:xfrm>
            <a:off x="4706874" y="3020911"/>
            <a:ext cx="4178808" cy="1305064"/>
            <a:chOff x="4709160" y="2913555"/>
            <a:chExt cx="4178808" cy="1305064"/>
          </a:xfrm>
        </p:grpSpPr>
        <p:sp>
          <p:nvSpPr>
            <p:cNvPr id="41" name="Rectangle 40"/>
            <p:cNvSpPr/>
            <p:nvPr/>
          </p:nvSpPr>
          <p:spPr>
            <a:xfrm>
              <a:off x="4709160" y="2913555"/>
              <a:ext cx="4178808" cy="13050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709160" y="2913555"/>
              <a:ext cx="50292" cy="1305064"/>
            </a:xfrm>
            <a:prstGeom prst="rect">
              <a:avLst/>
            </a:prstGeom>
            <a:solidFill>
              <a:srgbClr val="FF6B3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759452" y="2925056"/>
              <a:ext cx="404164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 dirty="0">
                  <a:solidFill>
                    <a:srgbClr val="0D1B3E"/>
                  </a:solidFill>
                  <a:latin typeface="Calibri"/>
                </a:rPr>
                <a:t>Collaborator Network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782312" y="3199329"/>
              <a:ext cx="4041648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 dirty="0">
                  <a:solidFill>
                    <a:srgbClr val="8AA0B4"/>
                  </a:solidFill>
                  <a:latin typeface="Calibri"/>
                </a:rPr>
                <a:t>WHAT IT DOES</a:t>
              </a:r>
              <a:endParaRPr lang="en-IN" sz="1000" b="1" i="0" dirty="0">
                <a:solidFill>
                  <a:srgbClr val="8AA0B4"/>
                </a:solidFill>
                <a:latin typeface="Calibri"/>
              </a:endParaRPr>
            </a:p>
            <a:p>
              <a:r>
                <a:rPr lang="en-US" sz="800" dirty="0">
                  <a:solidFill>
                    <a:srgbClr val="2D3A4A"/>
                  </a:solidFill>
                </a:rPr>
                <a:t>Identifies other sponsors appearing in the same trials — exposing co-development deals, consortia and academic partnerships not always announced.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759452" y="3651757"/>
              <a:ext cx="4041648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 dirty="0">
                  <a:solidFill>
                    <a:srgbClr val="8AA0B4"/>
                  </a:solidFill>
                  <a:latin typeface="Calibri"/>
                </a:rPr>
                <a:t>WHO USES IT</a:t>
              </a:r>
              <a:endParaRPr lang="en-IN" sz="1000" b="1" i="0" dirty="0">
                <a:solidFill>
                  <a:srgbClr val="8AA0B4"/>
                </a:solidFill>
                <a:latin typeface="Calibri"/>
              </a:endParaRPr>
            </a:p>
            <a:p>
              <a:r>
                <a:rPr lang="en-US" sz="800" dirty="0">
                  <a:solidFill>
                    <a:srgbClr val="2D3A4A"/>
                  </a:solidFill>
                </a:rPr>
                <a:t>BD analysts mapping partnership ecosystems; due-diligence teams verifying collaborations; academic institutions identifying industry partners.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A83C9-E561-4734-CB52-A0A7D6345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6F6770-8C6A-2A99-CEE7-AC0703D091E3}"/>
              </a:ext>
            </a:extLst>
          </p:cNvPr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3AF4BC-9AD3-08A5-9A63-86D4B6BC1C48}"/>
              </a:ext>
            </a:extLst>
          </p:cNvPr>
          <p:cNvSpPr txBox="1"/>
          <p:nvPr/>
        </p:nvSpPr>
        <p:spPr>
          <a:xfrm>
            <a:off x="320040" y="54864"/>
            <a:ext cx="8503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6B35"/>
                </a:solidFill>
                <a:latin typeface="Calibri"/>
              </a:rPr>
              <a:t>03  /  SPONSOR INTELLIGENCE</a:t>
            </a:r>
            <a:r>
              <a:rPr lang="en-IN" sz="1100" b="1" i="0" dirty="0">
                <a:solidFill>
                  <a:srgbClr val="FF6B35"/>
                </a:solidFill>
                <a:latin typeface="Calibri"/>
              </a:rPr>
              <a:t> - Pfizer</a:t>
            </a:r>
            <a:endParaRPr sz="1100" b="1" i="0" dirty="0">
              <a:solidFill>
                <a:srgbClr val="FF6B35"/>
              </a:solidFill>
              <a:latin typeface="Calibri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72729B6-3FA6-2453-C9D6-AABE7F094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09" y="466344"/>
            <a:ext cx="3934870" cy="2427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5DA42501-C531-1D5A-177C-B471F01E6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350" y="466344"/>
            <a:ext cx="4174041" cy="307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0292F725-BB71-AF21-6AB2-C72EF37DC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39" y="2687405"/>
            <a:ext cx="4868389" cy="2401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328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4045C-0E4B-C1E9-7C01-AF34F9A6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>
            <a:extLst>
              <a:ext uri="{FF2B5EF4-FFF2-40B4-BE49-F238E27FC236}">
                <a16:creationId xmlns:a16="http://schemas.microsoft.com/office/drawing/2014/main" id="{58F5FBB7-8A6E-9192-1E46-396637798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171" y="592724"/>
            <a:ext cx="4869649" cy="335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A81BA59-ABA5-0579-2D59-44096412EAD1}"/>
              </a:ext>
            </a:extLst>
          </p:cNvPr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F9E60-208A-0A82-6BC5-6B54DB6E1A1A}"/>
              </a:ext>
            </a:extLst>
          </p:cNvPr>
          <p:cNvSpPr txBox="1"/>
          <p:nvPr/>
        </p:nvSpPr>
        <p:spPr>
          <a:xfrm>
            <a:off x="320040" y="54864"/>
            <a:ext cx="8503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 dirty="0">
                <a:solidFill>
                  <a:srgbClr val="FF6B35"/>
                </a:solidFill>
                <a:latin typeface="Calibri"/>
              </a:rPr>
              <a:t>03  /  SPONSOR INTELLIGENCE</a:t>
            </a:r>
            <a:r>
              <a:rPr lang="en-IN" sz="1100" b="1" dirty="0">
                <a:solidFill>
                  <a:srgbClr val="FF6B35"/>
                </a:solidFill>
              </a:rPr>
              <a:t> - Pfizer</a:t>
            </a:r>
            <a:endParaRPr sz="1100" b="1" i="0" dirty="0">
              <a:solidFill>
                <a:srgbClr val="FF6B35"/>
              </a:solidFill>
              <a:latin typeface="Calibri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077D3DA-375D-B083-7156-E404B350F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47" y="466344"/>
            <a:ext cx="4453053" cy="2346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1401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148A8-36A9-F5AF-7CB1-7C2E93C3F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434220-9471-DB4D-ADE9-012EB8AEDC35}"/>
              </a:ext>
            </a:extLst>
          </p:cNvPr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CEBCC0-F746-94F4-1681-866A01CE6E92}"/>
              </a:ext>
            </a:extLst>
          </p:cNvPr>
          <p:cNvSpPr txBox="1"/>
          <p:nvPr/>
        </p:nvSpPr>
        <p:spPr>
          <a:xfrm>
            <a:off x="320040" y="54864"/>
            <a:ext cx="8503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 dirty="0">
                <a:solidFill>
                  <a:srgbClr val="FF6B35"/>
                </a:solidFill>
                <a:latin typeface="Calibri"/>
              </a:rPr>
              <a:t>03  /  SPONSOR INTELLIGENCE</a:t>
            </a:r>
            <a:r>
              <a:rPr lang="en-IN" sz="1100" b="1" dirty="0">
                <a:solidFill>
                  <a:srgbClr val="FF6B35"/>
                </a:solidFill>
              </a:rPr>
              <a:t> - Novo Nordisk</a:t>
            </a:r>
            <a:endParaRPr sz="1100" b="1" i="0" dirty="0">
              <a:solidFill>
                <a:srgbClr val="FF6B35"/>
              </a:solidFill>
              <a:latin typeface="Calibri"/>
            </a:endParaRP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8B9E8B99-F9B1-1EBE-D3FF-BED8A3557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39" y="550126"/>
            <a:ext cx="3980874" cy="280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4C1169D9-B93C-7BD4-50EB-5772607B0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001" y="550126"/>
            <a:ext cx="3889532" cy="2667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602E8D31-1408-6A8B-C31D-B9CA1B884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590" y="3171556"/>
            <a:ext cx="3889532" cy="1917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7878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016E8-B7FB-ACD1-FC0B-B41917EE3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78E31A-261E-3353-998F-5DA426B8827D}"/>
              </a:ext>
            </a:extLst>
          </p:cNvPr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A369E3-FD6A-6047-D97C-6B937DF0EBA5}"/>
              </a:ext>
            </a:extLst>
          </p:cNvPr>
          <p:cNvSpPr txBox="1"/>
          <p:nvPr/>
        </p:nvSpPr>
        <p:spPr>
          <a:xfrm>
            <a:off x="320040" y="54864"/>
            <a:ext cx="8503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 dirty="0">
                <a:solidFill>
                  <a:srgbClr val="FF6B35"/>
                </a:solidFill>
                <a:latin typeface="Calibri"/>
              </a:rPr>
              <a:t>03  /  SPONSOR INTELLIGENCE</a:t>
            </a:r>
            <a:r>
              <a:rPr lang="en-IN" sz="1100" b="1" dirty="0">
                <a:solidFill>
                  <a:srgbClr val="FF6B35"/>
                </a:solidFill>
              </a:rPr>
              <a:t> - Novo Nordisk</a:t>
            </a:r>
            <a:endParaRPr sz="1100" b="1" i="0" dirty="0">
              <a:solidFill>
                <a:srgbClr val="FF6B35"/>
              </a:solidFill>
              <a:latin typeface="Calibri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3C96E2E-DE3A-7058-F707-74B8789F2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031" y="993574"/>
            <a:ext cx="4258829" cy="373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63776BCB-A91F-B290-1EE0-A79D95757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40" y="575055"/>
            <a:ext cx="4285662" cy="2287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168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  <a:latin typeface="Calibri"/>
              </a:rPr>
              <a:t>05  /  GEO &amp; TEMPORAL — APPLICATION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502920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3E"/>
                </a:solidFill>
                <a:latin typeface="Georgia"/>
              </a:rPr>
              <a:t>Where research happens, when it started — and what that reveals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005840"/>
            <a:ext cx="4251960" cy="20139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50292" cy="2013966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6616" y="10515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Global Trial Density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" y="1261872"/>
            <a:ext cx="4114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4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" y="1380744"/>
            <a:ext cx="4114800" cy="433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A"/>
                </a:solidFill>
                <a:latin typeface="Calibri"/>
              </a:rPr>
              <a:t>Ranks every country by trial count, exposing the concentration of clinical infrastructure and the emerging role of Asia-Pacific, MENA and Latin America.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1841754"/>
            <a:ext cx="4114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4"/>
                </a:solidFill>
                <a:latin typeface="Calibri"/>
              </a:rPr>
              <a:t>WHO USES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" y="1960626"/>
            <a:ext cx="4114800" cy="433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A"/>
                </a:solidFill>
                <a:latin typeface="Calibri"/>
              </a:rPr>
              <a:t>Site selection and clinical operations teams; regulatory agencies assessing geographic representativeness; public health researchers mapping research equity.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" y="2421636"/>
            <a:ext cx="4114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4"/>
                </a:solidFill>
                <a:latin typeface="Calibri"/>
              </a:rPr>
              <a:t>KEY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2540508"/>
            <a:ext cx="4114800" cy="433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A"/>
                </a:solidFill>
                <a:latin typeface="Calibri"/>
              </a:rPr>
              <a:t>The US accounts for 179,625 trial records — 28 % of the global total — yet represents only 4 % of world population. China is 2nd at 44,714, driven by a decade of NMPA reform.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083814"/>
            <a:ext cx="4251960" cy="20139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3083814"/>
            <a:ext cx="50292" cy="2013966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" y="312953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Trial Timeline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3339846"/>
            <a:ext cx="4114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4"/>
                </a:solidFill>
                <a:latin typeface="Calibri"/>
              </a:rPr>
              <a:t>WHAT IT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3458718"/>
            <a:ext cx="4114800" cy="433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A"/>
                </a:solidFill>
                <a:latin typeface="Calibri"/>
              </a:rPr>
              <a:t>Aggregates trial start dates into a monthly time series, quantifying acceleration periods, slowdowns and structural shifts in research investment.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919727"/>
            <a:ext cx="4114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4"/>
                </a:solidFill>
                <a:latin typeface="Calibri"/>
              </a:rPr>
              <a:t>WHO USES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4038599"/>
            <a:ext cx="4114800" cy="433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A"/>
                </a:solidFill>
                <a:latin typeface="Calibri"/>
              </a:rPr>
              <a:t>Trend analysts forecasting trial volume; trial planning teams calibrating recruitment windows; investors timing sector exposure to research activity cycles.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4499610"/>
            <a:ext cx="4114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4"/>
                </a:solidFill>
                <a:latin typeface="Calibri"/>
              </a:rPr>
              <a:t>KEY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4618482"/>
            <a:ext cx="4114800" cy="433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A"/>
                </a:solidFill>
                <a:latin typeface="Calibri"/>
              </a:rPr>
              <a:t>Post-2022 monthly starts exceed all pre-pandemic peaks — driven by mRNA platform trials and oncology pipeline expansion following the COVID-19 recovery.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1005840"/>
            <a:ext cx="4178808" cy="40919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09160" y="1005840"/>
            <a:ext cx="50292" cy="40919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09744" y="1051560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Country × Phase Heatmap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9744" y="1261872"/>
            <a:ext cx="404164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4"/>
                </a:solidFill>
                <a:latin typeface="Calibri"/>
              </a:rPr>
              <a:t>WHAT IT DOES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9744" y="1380744"/>
            <a:ext cx="4041648" cy="1126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A"/>
                </a:solidFill>
                <a:latin typeface="Calibri"/>
              </a:rPr>
              <a:t>A pivot table of country vs. trial phase, colour-coded by intensity. Distinguishes pure Phase I recruitment markets from countries running pivotal Phase III confirmatory trials — a critical distinction for regulatory strategy and market access planning.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9744" y="2534412"/>
            <a:ext cx="404164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4"/>
                </a:solidFill>
                <a:latin typeface="Calibri"/>
              </a:rPr>
              <a:t>WHO USES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9744" y="2653284"/>
            <a:ext cx="4041648" cy="1126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A"/>
                </a:solidFill>
                <a:latin typeface="Calibri"/>
              </a:rPr>
              <a:t>Regulatory affairs teams choosing where to run pivotal trials; global health economists tracking where late-phase evidence is generated; site feasibility analysts comparing Phase III capacity across candidate markets.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9744" y="3806952"/>
            <a:ext cx="404164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4"/>
                </a:solidFill>
                <a:latin typeface="Calibri"/>
              </a:rPr>
              <a:t>KEY 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9744" y="3925824"/>
            <a:ext cx="4041648" cy="1126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A"/>
                </a:solidFill>
                <a:latin typeface="Calibri"/>
              </a:rPr>
              <a:t>The US dominates Phase III (28,828 records), but the UK leads Phase IV relative to size — reflecting NHS-integrated post-marketing infrastructure. Egypt's Phase IV count (992) is an emerging-market signal worth watching for future site selection.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  <a:latin typeface="Calibri"/>
              </a:rPr>
              <a:t>05  /  GEO &amp; TEMPORAL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1B3E"/>
                </a:solidFill>
                <a:latin typeface="Georgia"/>
              </a:rPr>
              <a:t>Geo &amp; Temporal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9611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084"/>
                </a:solidFill>
                <a:latin typeface="Calibri"/>
              </a:rPr>
              <a:t>643,597 trial–location records across 223 countries spanning decades of research</a:t>
            </a:r>
          </a:p>
        </p:txBody>
      </p:sp>
      <p:pic>
        <p:nvPicPr>
          <p:cNvPr id="6" name="Picture 5" descr="geo_phas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0"/>
            <a:ext cx="5120640" cy="2606040"/>
          </a:xfrm>
          <a:prstGeom prst="rect">
            <a:avLst/>
          </a:prstGeom>
        </p:spPr>
      </p:pic>
      <p:pic>
        <p:nvPicPr>
          <p:cNvPr id="7" name="Picture 6" descr="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3383280" cy="126187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0" y="2542032"/>
            <a:ext cx="3429000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0" y="2542032"/>
            <a:ext cx="54864" cy="78638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14416" y="259689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Global Trial Density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4416" y="2871215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7084"/>
                </a:solidFill>
                <a:latin typeface="Calibri"/>
              </a:rPr>
              <a:t>US leads at 179K trials.
223 countries captured.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3438144"/>
            <a:ext cx="3429000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0" y="3438144"/>
            <a:ext cx="54864" cy="78638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14416" y="34930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Trial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4416" y="3767328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7084"/>
                </a:solidFill>
                <a:latin typeface="Calibri"/>
              </a:rPr>
              <a:t>Monthly start-date trend
reveals research waves.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4334256"/>
            <a:ext cx="3429000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0" y="4334256"/>
            <a:ext cx="54864" cy="78638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14416" y="43891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Country × Phase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4416" y="466344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7084"/>
                </a:solidFill>
                <a:latin typeface="Calibri"/>
              </a:rPr>
              <a:t>Heatmap shows which
countries run Phase III.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45EC2"/>
                </a:solidFill>
                <a:latin typeface="Calibri"/>
              </a:rPr>
              <a:t>04  /  NETWORK &amp; GRAPH — APPLICATION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502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3E"/>
                </a:solidFill>
                <a:latin typeface="Georgia"/>
              </a:rPr>
              <a:t>Graph structure reveals what tabular data cannot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960120"/>
            <a:ext cx="4251960" cy="20368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960120"/>
            <a:ext cx="50292" cy="2036826"/>
          </a:xfrm>
          <a:prstGeom prst="rect">
            <a:avLst/>
          </a:prstGeom>
          <a:solidFill>
            <a:srgbClr val="84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6616" y="100584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Centrality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" y="1216152"/>
            <a:ext cx="4114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4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" y="1335024"/>
            <a:ext cx="4114800" cy="441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A"/>
                </a:solidFill>
                <a:latin typeface="Calibri"/>
              </a:rPr>
              <a:t>Computes degree centrality (unique connections) and betweenness centrality (bridge importance) across the drug–condition graph. High-degree nodes are therapeutically broad; high-betweenness nodes are structural bridges.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1803654"/>
            <a:ext cx="4114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4"/>
                </a:solidFill>
                <a:latin typeface="Calibri"/>
              </a:rPr>
              <a:t>WHO USES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" y="1922526"/>
            <a:ext cx="4114800" cy="441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A"/>
                </a:solidFill>
                <a:latin typeface="Calibri"/>
              </a:rPr>
              <a:t>Pipeline prioritisation teams; drug-repositioning researchers finding anchor conditions with maximum cross-indication reach.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" y="2391156"/>
            <a:ext cx="4114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4"/>
                </a:solidFill>
                <a:latin typeface="Calibri"/>
              </a:rPr>
              <a:t>KEY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2510028"/>
            <a:ext cx="4114800" cy="441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A"/>
                </a:solidFill>
                <a:latin typeface="Calibri"/>
              </a:rPr>
              <a:t>Obesity is the highest-degree condition — connected to more distinct drugs than any other disease, reflecting its role as a comorbidity driver across cardio, diabetes and oncology.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060954"/>
            <a:ext cx="4251960" cy="20368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3060954"/>
            <a:ext cx="50292" cy="2036826"/>
          </a:xfrm>
          <a:prstGeom prst="rect">
            <a:avLst/>
          </a:prstGeom>
          <a:solidFill>
            <a:srgbClr val="84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" y="310667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Community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3316986"/>
            <a:ext cx="4114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4"/>
                </a:solidFill>
                <a:latin typeface="Calibri"/>
              </a:rPr>
              <a:t>WHAT IT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3435858"/>
            <a:ext cx="4114800" cy="441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A"/>
                </a:solidFill>
                <a:latin typeface="Calibri"/>
              </a:rPr>
              <a:t>Applies the Louvain algorithm to partition the graph into dense clusters where drugs and diseases are tightly co-studied. Each community is a self-organised therapeutic area.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904488"/>
            <a:ext cx="4114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4"/>
                </a:solidFill>
                <a:latin typeface="Calibri"/>
              </a:rPr>
              <a:t>WHO USES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4023360"/>
            <a:ext cx="4114800" cy="441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A"/>
                </a:solidFill>
                <a:latin typeface="Calibri"/>
              </a:rPr>
              <a:t>GraphRAG pipeline builders feeding disease-cluster summaries to an LLM; biomedical ontologists validating disease taxonomy.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4491990"/>
            <a:ext cx="4114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4"/>
                </a:solidFill>
                <a:latin typeface="Calibri"/>
              </a:rPr>
              <a:t>KEY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4610862"/>
            <a:ext cx="4114800" cy="441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A"/>
                </a:solidFill>
                <a:latin typeface="Calibri"/>
              </a:rPr>
              <a:t>15,585 communities detected. The largest (59,883 nodes) is an oncology mega-cluster spanning solid tumours, haematology and targeted therapies — ideal for LLM synthesis.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960120"/>
            <a:ext cx="4178808" cy="4137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09160" y="960120"/>
            <a:ext cx="50292" cy="4137660"/>
          </a:xfrm>
          <a:prstGeom prst="rect">
            <a:avLst/>
          </a:prstGeom>
          <a:solidFill>
            <a:srgbClr val="84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09744" y="1005840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Drug Repurposing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9744" y="1216152"/>
            <a:ext cx="404164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4"/>
                </a:solidFill>
                <a:latin typeface="Calibri"/>
              </a:rPr>
              <a:t>WHAT IT DOES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9744" y="1335024"/>
            <a:ext cx="4041648" cy="1141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A"/>
                </a:solidFill>
                <a:latin typeface="Calibri"/>
              </a:rPr>
              <a:t>Identifies drugs studied across the greatest number of distinct conditions relative to trial volume. High condition-breadth at moderate trial count = a drug explored beyond its label — the core repurposing signal.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9744" y="2503932"/>
            <a:ext cx="404164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4"/>
                </a:solidFill>
                <a:latin typeface="Calibri"/>
              </a:rPr>
              <a:t>WHO USES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9744" y="2622804"/>
            <a:ext cx="4041648" cy="1141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A"/>
                </a:solidFill>
                <a:latin typeface="Calibri"/>
              </a:rPr>
              <a:t>Drug repositioning researchers; biotech startups seeking off-patent compounds; AI drug-discovery teams building training datasets; rare-disease researchers needing established safety profiles.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9744" y="3791712"/>
            <a:ext cx="404164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4"/>
                </a:solidFill>
                <a:latin typeface="Calibri"/>
              </a:rPr>
              <a:t>KEY 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9744" y="3910583"/>
            <a:ext cx="4041648" cy="1141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A"/>
                </a:solidFill>
                <a:latin typeface="Calibri"/>
              </a:rPr>
              <a:t>Cyclophosphamide spans 2,340 conditions across ~1,900 trials — a 70-year-old chemotherapy still actively studied in autoimmune, transplantation and rare conditions far beyond its original oncology label.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45EC2"/>
                </a:solidFill>
                <a:latin typeface="Calibri"/>
              </a:rPr>
              <a:t>04  /  NETWORK &amp; GRAPH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1B3E"/>
                </a:solidFill>
                <a:latin typeface="Georgia"/>
              </a:rPr>
              <a:t>Network &amp; Graph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9611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084"/>
                </a:solidFill>
                <a:latin typeface="Calibri"/>
              </a:rPr>
              <a:t>Structural analysis of the drug–condition bipartite graph</a:t>
            </a:r>
          </a:p>
        </p:txBody>
      </p:sp>
      <p:pic>
        <p:nvPicPr>
          <p:cNvPr id="6" name="Picture 5" descr="centr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0"/>
            <a:ext cx="8686800" cy="2194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8600" y="3493008"/>
            <a:ext cx="27432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3493008"/>
            <a:ext cx="2743200" cy="54864"/>
          </a:xfrm>
          <a:prstGeom prst="rect">
            <a:avLst/>
          </a:prstGeom>
          <a:solidFill>
            <a:srgbClr val="84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3602736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Centrality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3913632"/>
            <a:ext cx="25237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7084"/>
                </a:solidFill>
                <a:latin typeface="Calibri"/>
              </a:rPr>
              <a:t>Degree + betweenness centrality identify the most strategically important drugs and conditions. Obesity, Breast Cancer, Stroke dominate by degree.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3493008"/>
            <a:ext cx="27432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72968" y="3493008"/>
            <a:ext cx="2743200" cy="54864"/>
          </a:xfrm>
          <a:prstGeom prst="rect">
            <a:avLst/>
          </a:prstGeom>
          <a:solidFill>
            <a:srgbClr val="84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82696" y="3602736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Community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2696" y="3913632"/>
            <a:ext cx="25237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7084"/>
                </a:solidFill>
                <a:latin typeface="Calibri"/>
              </a:rPr>
              <a:t>Louvain algorithm partitions the graph into 15,585 communities — each is a disease cluster with its dominant treatments, ready for LLM summarization.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17336" y="3493008"/>
            <a:ext cx="27432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17336" y="3493008"/>
            <a:ext cx="2743200" cy="54864"/>
          </a:xfrm>
          <a:prstGeom prst="rect">
            <a:avLst/>
          </a:prstGeom>
          <a:solidFill>
            <a:srgbClr val="84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27064" y="3602736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Repurposing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3913632"/>
            <a:ext cx="25237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7084"/>
                </a:solidFill>
                <a:latin typeface="Calibri"/>
              </a:rPr>
              <a:t>Drugs studied across the broadest condition range are flagged as repurposing candidates. Cyclophosphamide spans 2,340 conditions — a strong cross-indication signal.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7432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Why it matters:
The GraphRAG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716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These 20 validated outputs become structured context for a language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847088"/>
            <a:ext cx="8503920" cy="530352"/>
          </a:xfrm>
          <a:prstGeom prst="rect">
            <a:avLst/>
          </a:prstGeom>
          <a:solidFill>
            <a:srgbClr val="0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01 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659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User asks a natural language question about a drug, disease, or sponsor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468880"/>
            <a:ext cx="8503920" cy="530352"/>
          </a:xfrm>
          <a:prstGeom prst="rect">
            <a:avLst/>
          </a:prstGeom>
          <a:solidFill>
            <a:srgbClr val="0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02  Retrieve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5877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Graph query fetches the relevant subgraph — validated, structured, 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090672"/>
            <a:ext cx="8503920" cy="530352"/>
          </a:xfrm>
          <a:prstGeom prst="rect">
            <a:avLst/>
          </a:prstGeom>
          <a:solidFill>
            <a:srgbClr val="0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" y="32095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03  Augment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20954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LLM receives the subgraph as grounded context with no hallucination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12464"/>
            <a:ext cx="8503920" cy="530352"/>
          </a:xfrm>
          <a:prstGeom prst="rect">
            <a:avLst/>
          </a:prstGeom>
          <a:solidFill>
            <a:srgbClr val="0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" y="38313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04  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83133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Model summarizes evidence, compares pipelines, surfaces repurposing leads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334256"/>
            <a:ext cx="8503920" cy="530352"/>
          </a:xfrm>
          <a:prstGeom prst="rect">
            <a:avLst/>
          </a:prstGeom>
          <a:solidFill>
            <a:srgbClr val="0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" y="44531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05  Hypothesize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45312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Cross-condition and cross-sponsor patterns suggest novel research directions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The stack behind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737360" cy="548640"/>
          </a:xfrm>
          <a:prstGeom prst="rect">
            <a:avLst/>
          </a:prstGeom>
          <a:solidFill>
            <a:srgbClr val="0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24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/>
              </a:rPr>
              <a:t>Data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1005840"/>
            <a:ext cx="6400800" cy="548640"/>
          </a:xfrm>
          <a:prstGeom prst="rect">
            <a:avLst/>
          </a:prstGeom>
          <a:solidFill>
            <a:srgbClr val="07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0" y="1133856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ClinicalTrials.gov — full registry, 640K+ trial records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737360" cy="548640"/>
          </a:xfrm>
          <a:prstGeom prst="rect">
            <a:avLst/>
          </a:prstGeom>
          <a:solidFill>
            <a:srgbClr val="0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/>
              </a:rPr>
              <a:t>Graph 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737360"/>
            <a:ext cx="6400800" cy="548640"/>
          </a:xfrm>
          <a:prstGeom prst="rect">
            <a:avLst/>
          </a:prstGeom>
          <a:solidFill>
            <a:srgbClr val="07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1865376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Neo4j — 6 node types, 5 relationship types, Cypher queries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1737360" cy="548640"/>
          </a:xfrm>
          <a:prstGeom prst="rect">
            <a:avLst/>
          </a:prstGeom>
          <a:solidFill>
            <a:srgbClr val="0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5877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/>
              </a:rPr>
              <a:t>Extraction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2468880"/>
            <a:ext cx="6400800" cy="548640"/>
          </a:xfrm>
          <a:prstGeom prst="rect">
            <a:avLst/>
          </a:prstGeom>
          <a:solidFill>
            <a:srgbClr val="07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68880" y="2596896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Python · pandas · networkx · python-louvain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1737360" cy="548640"/>
          </a:xfrm>
          <a:prstGeom prst="rect">
            <a:avLst/>
          </a:prstGeom>
          <a:solidFill>
            <a:srgbClr val="0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3192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/>
              </a:rPr>
              <a:t>Visualization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3200400"/>
            <a:ext cx="6400800" cy="548640"/>
          </a:xfrm>
          <a:prstGeom prst="rect">
            <a:avLst/>
          </a:prstGeom>
          <a:solidFill>
            <a:srgbClr val="07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8880" y="3328416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matplotlib · seaborn · plotly-ready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1737360" cy="548640"/>
          </a:xfrm>
          <a:prstGeom prst="rect">
            <a:avLst/>
          </a:prstGeom>
          <a:solidFill>
            <a:srgbClr val="0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050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/>
              </a:rPr>
              <a:t>Next stage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3931920"/>
            <a:ext cx="6400800" cy="548640"/>
          </a:xfrm>
          <a:prstGeom prst="rect">
            <a:avLst/>
          </a:prstGeom>
          <a:solidFill>
            <a:srgbClr val="07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4059936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GraphRAG pipeline → LLM summarization + hypothesis generation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822960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608576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Interested in applying this to your therapeutic area?  Let's connect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</TotalTime>
  <Words>1783</Words>
  <Application>Microsoft Office PowerPoint</Application>
  <PresentationFormat>On-screen Show (16:9)</PresentationFormat>
  <Paragraphs>231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Shasank Shekhar Padhi</cp:lastModifiedBy>
  <cp:revision>8</cp:revision>
  <dcterms:created xsi:type="dcterms:W3CDTF">2013-01-27T09:14:16Z</dcterms:created>
  <dcterms:modified xsi:type="dcterms:W3CDTF">2026-04-06T18:16:48Z</dcterms:modified>
  <cp:category/>
</cp:coreProperties>
</file>